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5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ADCF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CADCFC"/>
                </a:solidFill>
                <a:latin typeface="Arial"/>
              </a:rPr>
              <a:t>% Positive ASD Diagnosis Rate per Behavioral Archetype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Positive ASD Diagnosis</c:v>
                </c:pt>
              </c:strCache>
            </c:strRef>
          </c:tx>
          <c:spPr>
            <a:solidFill>
              <a:srgbClr val="E861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53-4CCA-9559-58ECAA2B2AEA}"/>
              </c:ext>
            </c:extLst>
          </c:dPt>
          <c:dPt>
            <c:idx val="1"/>
            <c:invertIfNegative val="0"/>
            <c:bubble3D val="0"/>
            <c:spPr>
              <a:solidFill>
                <a:srgbClr val="F5C8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53-4CCA-9559-58ECAA2B2AEA}"/>
              </c:ext>
            </c:extLst>
          </c:dPt>
          <c:dPt>
            <c:idx val="2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53-4CCA-9559-58ECAA2B2AEA}"/>
              </c:ext>
            </c:extLst>
          </c:dPt>
          <c:dPt>
            <c:idx val="3"/>
            <c:invertIfNegative val="0"/>
            <c:bubble3D val="0"/>
            <c:spPr>
              <a:solidFill>
                <a:srgbClr val="5EC4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53-4CCA-9559-58ECAA2B2AEA}"/>
              </c:ext>
            </c:extLst>
          </c:dPt>
          <c:dPt>
            <c:idx val="4"/>
            <c:invertIfNegative val="0"/>
            <c:bubble3D val="0"/>
            <c:spPr>
              <a:solidFill>
                <a:srgbClr val="3AA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53-4CCA-9559-58ECAA2B2A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Severe Global
Delay</c:v>
                </c:pt>
                <c:pt idx="1">
                  <c:v>Communication
Impaired</c:v>
                </c:pt>
                <c:pt idx="2">
                  <c:v>Socially
Withdrawn</c:v>
                </c:pt>
                <c:pt idx="3">
                  <c:v>Highly Atypical
Presentation</c:v>
                </c:pt>
                <c:pt idx="4">
                  <c:v>Mild / Typical
Presentation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82</c:v>
                </c:pt>
                <c:pt idx="2">
                  <c:v>65</c:v>
                </c:pt>
                <c:pt idx="3">
                  <c:v>54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53-4CCA-9559-58ECAA2B2A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5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A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2137"/>
                </a:solidFill>
                <a:latin typeface="Arial"/>
              </a:rPr>
              <a:t>Distribution of Total Atypical Trait Burden (0–10) by Diagnosis Status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ASD Diagnosed</c:v>
                </c:pt>
              </c:strCache>
            </c:strRef>
          </c:tx>
          <c:spPr>
            <a:solidFill>
              <a:srgbClr val="E8614C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  <c:pt idx="4">
                  <c:v>18</c:v>
                </c:pt>
                <c:pt idx="5">
                  <c:v>45</c:v>
                </c:pt>
                <c:pt idx="6">
                  <c:v>210</c:v>
                </c:pt>
                <c:pt idx="7">
                  <c:v>480</c:v>
                </c:pt>
                <c:pt idx="8">
                  <c:v>620</c:v>
                </c:pt>
                <c:pt idx="9">
                  <c:v>320</c:v>
                </c:pt>
                <c:pt idx="10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79-43C1-A5A5-8828623C7E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Diagnosed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380</c:v>
                </c:pt>
                <c:pt idx="1">
                  <c:v>520</c:v>
                </c:pt>
                <c:pt idx="2">
                  <c:v>690</c:v>
                </c:pt>
                <c:pt idx="3">
                  <c:v>810</c:v>
                </c:pt>
                <c:pt idx="4">
                  <c:v>720</c:v>
                </c:pt>
                <c:pt idx="5">
                  <c:v>540</c:v>
                </c:pt>
                <c:pt idx="6">
                  <c:v>310</c:v>
                </c:pt>
                <c:pt idx="7">
                  <c:v>148</c:v>
                </c:pt>
                <c:pt idx="8">
                  <c:v>62</c:v>
                </c:pt>
                <c:pt idx="9">
                  <c:v>18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79-43C1-A5A5-8828623C7E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0D21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CADCFC"/>
                </a:solidFill>
                <a:latin typeface="Arial"/>
              </a:rPr>
              <a:t>% Positive ASD Diagnosis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Diagnosis Rate (%)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A8-461D-B8A1-FA865F0D848F}"/>
              </c:ext>
            </c:extLst>
          </c:dPt>
          <c:dPt>
            <c:idx val="1"/>
            <c:invertIfNegative val="0"/>
            <c:bubble3D val="0"/>
            <c:spPr>
              <a:solidFill>
                <a:srgbClr val="E861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A8-461D-B8A1-FA865F0D84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28.2</c:v>
                </c:pt>
                <c:pt idx="1">
                  <c:v>31.7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A8-461D-B8A1-FA865F0D8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5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A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2137"/>
                </a:solidFill>
                <a:latin typeface="Arial"/>
              </a:rPr>
              <a:t>ASD Positive Diagnosis Rate by Medical Risk Category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Diagnosis Rate (%)</c:v>
                </c:pt>
              </c:strCache>
            </c:strRef>
          </c:tx>
          <c:spPr>
            <a:solidFill>
              <a:srgbClr val="4A61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D60-4C6A-AC1F-A72B0DF24353}"/>
              </c:ext>
            </c:extLst>
          </c:dPt>
          <c:dPt>
            <c:idx val="1"/>
            <c:invertIfNegative val="0"/>
            <c:bubble3D val="0"/>
            <c:spPr>
              <a:solidFill>
                <a:srgbClr val="F5C8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60-4C6A-AC1F-A72B0DF24353}"/>
              </c:ext>
            </c:extLst>
          </c:dPt>
          <c:dPt>
            <c:idx val="2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60-4C6A-AC1F-A72B0DF24353}"/>
              </c:ext>
            </c:extLst>
          </c:dPt>
          <c:dPt>
            <c:idx val="3"/>
            <c:invertIfNegative val="0"/>
            <c:bubble3D val="0"/>
            <c:spPr>
              <a:solidFill>
                <a:srgbClr val="E861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D60-4C6A-AC1F-A72B0DF2435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Neither</c:v>
                </c:pt>
                <c:pt idx="1">
                  <c:v>Jaundice Only</c:v>
                </c:pt>
                <c:pt idx="2">
                  <c:v>Family ASD Only</c:v>
                </c:pt>
                <c:pt idx="3">
                  <c:v>Both (High Risk)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60-4C6A-AC1F-A72B0DF243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1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0A7E8C">
              <a:alpha val="15000"/>
            </a:srgbClr>
          </a:solidFill>
          <a:ln w="12700">
            <a:solidFill>
              <a:srgbClr val="0A7E8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560320"/>
            <a:ext cx="2011680" cy="2011680"/>
          </a:xfrm>
          <a:prstGeom prst="ellipse">
            <a:avLst/>
          </a:prstGeom>
          <a:solidFill>
            <a:srgbClr val="5EC4C0">
              <a:alpha val="20000"/>
            </a:srgbClr>
          </a:solidFill>
          <a:ln w="12700">
            <a:solidFill>
              <a:srgbClr val="5EC4C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94360"/>
            <a:ext cx="237744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4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CSD301 · Descriptive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Diagnosis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5E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Demographic &amp; Behavioral</a:t>
            </a:r>
            <a:endParaRPr lang="en-US" sz="2200" dirty="0"/>
          </a:p>
          <a:p>
            <a:pPr marL="0" indent="0" algn="l">
              <a:buNone/>
            </a:pPr>
            <a:r>
              <a:rPr lang="en-US" sz="2200" i="1" dirty="0">
                <a:solidFill>
                  <a:srgbClr val="5E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of Autism Spectrum Traits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0"/>
          </a:xfrm>
          <a:prstGeom prst="line">
            <a:avLst/>
          </a:prstGeom>
          <a:noFill/>
          <a:ln w="12700">
            <a:solidFill>
              <a:srgbClr val="4A61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E9EF"/>
                </a:solidFill>
              </a:rPr>
              <a:t>Group: </a:t>
            </a:r>
            <a:r>
              <a:rPr lang="en-US" sz="1300" dirty="0">
                <a:solidFill>
                  <a:srgbClr val="DCE9EF"/>
                </a:solidFill>
              </a:rPr>
              <a:t>Insight Igniters  |  </a:t>
            </a:r>
            <a:r>
              <a:rPr lang="en-US" sz="1300" b="1" dirty="0">
                <a:solidFill>
                  <a:srgbClr val="DCE9EF"/>
                </a:solidFill>
              </a:rPr>
              <a:t>Members: </a:t>
            </a:r>
            <a:r>
              <a:rPr lang="en-US" sz="1300" dirty="0">
                <a:solidFill>
                  <a:srgbClr val="DCE9EF"/>
                </a:solidFill>
              </a:rPr>
              <a:t>Yagya Mahajan (12400421)  ·  Arnav Jain (12419975)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175"/>
                </a:solidFill>
              </a:rPr>
              <a:t>Course: CSD301  |  Descriptive Analytics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C4C0"/>
                </a:solidFill>
              </a:rPr>
              <a:t>The Challenge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383280" cy="0"/>
          </a:xfrm>
          <a:prstGeom prst="line">
            <a:avLst/>
          </a:prstGeom>
          <a:noFill/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Autism Spectrum Disorder (ASD) is characterized by challenges with social interaction, non-verbal communication, and atypical behavioral patterns. However, ASD manifests very differently across gender, age groups, and medical backgrounds.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Current screening approaches rely on binary yes/no classifications — missing the rich complexity of the spectrum.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1615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3212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Eye Contact Patterns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5910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5"/>
                </a:solidFill>
              </a:rPr>
              <a:t>Responsive vs spontaneous gaze behaviour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13055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Social Mimicry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25054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5"/>
                </a:solidFill>
              </a:rPr>
              <a:t>Gestural &amp; empathic communication abilities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04495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3212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Imaginative Engagement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4198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5"/>
                </a:solidFill>
              </a:rPr>
              <a:t>Pretend play &amp; cognitive flexibility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041648"/>
            <a:ext cx="4023360" cy="713232"/>
          </a:xfrm>
          <a:prstGeom prst="rect">
            <a:avLst/>
          </a:prstGeom>
          <a:solidFill>
            <a:srgbClr val="0A7E8C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Our Goal: Move beyond binary classification to reveal the true complexity of ASD.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6,075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Screening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143000"/>
            <a:ext cx="192024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15 → 26+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Features After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143000"/>
            <a:ext cx="1920240" cy="1417320"/>
          </a:xfrm>
          <a:prstGeom prst="rect">
            <a:avLst/>
          </a:prstGeom>
          <a:solidFill>
            <a:srgbClr val="3AAD8E"/>
          </a:solidFill>
          <a:ln w="127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Missing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143000"/>
            <a:ext cx="1920240" cy="1417320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29.7%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Positive ASD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Diagnosis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Gender Distribution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456432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13632" y="3246120"/>
            <a:ext cx="201168" cy="411480"/>
          </a:xfrm>
          <a:prstGeom prst="rect">
            <a:avLst/>
          </a:prstGeom>
          <a:solidFill>
            <a:srgbClr val="5EC4C0"/>
          </a:solidFill>
          <a:ln w="12700">
            <a:solidFill>
              <a:srgbClr val="5EC4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46120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Male 57.8%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175"/>
                </a:solidFill>
              </a:rPr>
              <a:t>Female 42.2%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175"/>
                </a:solidFill>
              </a:rPr>
              <a:t>3,508 Males  ·  2,567 Females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432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Medical Risk Factors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3291840"/>
            <a:ext cx="164592" cy="502920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Jaundice History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547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5"/>
                </a:solidFill>
              </a:rPr>
              <a:t>17.2%  ·  1,045 individuals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4023360"/>
            <a:ext cx="164592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Family ASD History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4279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5"/>
                </a:solidFill>
              </a:rPr>
              <a:t>18.5%  ·  1,122 individuals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Features  |  Composite Severity Scores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1783080"/>
          </a:xfrm>
          <a:prstGeom prst="rect">
            <a:avLst/>
          </a:prstGeom>
          <a:solidFill>
            <a:srgbClr val="112233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4206240" cy="347472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Atypical Trait Burden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1097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</a:rPr>
              <a:t>Scale: 0 –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996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14C"/>
                </a:solidFill>
              </a:rPr>
              <a:t>Purpose: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Shifts analysis from binary 'Autistic/Not Autistic' to a continuous spectrum model. Quantifies the overall density of atypical presentation.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C4C0"/>
                </a:solidFill>
              </a:rPr>
              <a:t>Visual: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CE9EF"/>
                </a:solidFill>
              </a:rPr>
              <a:t>Bimodal Histogram — Diagnosed patients cluster heavily above score 6; undiagnosed cluster below 4, creating a clean diagnostic threshold.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112233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420624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Social Interaction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1097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</a:rPr>
              <a:t>Scale: 0 –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4996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</a:rPr>
              <a:t>Purpose: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148132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Isolates a patient's foundational social capacity by grouping eye contact and gaze-following responses (A1, A2, A6). Higher = better.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C4C0"/>
                </a:solidFill>
              </a:rPr>
              <a:t>Visual: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99339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CE9EF"/>
                </a:solidFill>
              </a:rPr>
              <a:t>Grouped Bar Chart — Compares average social scores across age groups and gender, revealing where social engagement gaps are most pronounced.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4206240" cy="1783080"/>
          </a:xfrm>
          <a:prstGeom prst="rect">
            <a:avLst/>
          </a:prstGeom>
          <a:solidFill>
            <a:srgbClr val="112233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17520"/>
            <a:ext cx="4206240" cy="347472"/>
          </a:xfrm>
          <a:prstGeom prst="rect">
            <a:avLst/>
          </a:prstGeom>
          <a:solidFill>
            <a:srgbClr val="3AAD8E"/>
          </a:solidFill>
          <a:ln w="12700">
            <a:solidFill>
              <a:srgbClr val="3AA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Communication Deficit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0175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</a:rPr>
              <a:t>Scale: 0 –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4198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D8E"/>
                </a:solidFill>
              </a:rPr>
              <a:t>Purpose: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40156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Uses inverse coding to measure non-verbal communication failures — pointing and gesturing deficits (A3, A4, A9). Higher = greater deficit.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393192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C4C0"/>
                </a:solidFill>
              </a:rPr>
              <a:t>Visual: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91363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CE9EF"/>
                </a:solidFill>
              </a:rPr>
              <a:t>Box Plot — Reveals median deficit scores and outliers by diagnosis status, highlighting how communication gaps differ sharply.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112233"/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4206240" cy="3474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Behavioral Atypicality Score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30175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</a:rPr>
              <a:t>Scale: 0 –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4198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</a:rPr>
              <a:t>Purpose: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40156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Captures restricted, repetitive, or internally-focused behaviors by combining inverse-coded normative traits with direct atypical ones (A10).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393192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C4C0"/>
                </a:solidFill>
              </a:rPr>
              <a:t>Visual: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391363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CE9EF"/>
                </a:solidFill>
              </a:rPr>
              <a:t>Heatmap — Maps atypicality scores against diagnostic outcome by gender, revealing gender-based differences in behavioral expression.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Features  |  Clinical Profiles &amp; Archetypes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4206240" cy="347472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Social–Comm Imbalance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996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14C"/>
                </a:solidFill>
              </a:rPr>
              <a:t>Purpose: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Evaluates the gap between social motivation and actual communication tools. Identifies patients who want to interact but can't vs. those who can but won't.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9339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Stacked Bar Chart — Shows proportion of 'Socially Motivated but Comm Blocked' vs 'Capable but Withdrawn' profiles within each diagnosis group.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20624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09728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Eye Contact Discordance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996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</a:rPr>
              <a:t>Purpose: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48132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Flags contradictions between spontaneous and responsive eye contact, revealing context-dependent masking and forced social mimicry.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199339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Clustered Bar Chart — Compares 'Fully Typical', 'Global Deficit', and 'Discordant/Masked' proportions across male vs female diagnosed patients.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01752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017520"/>
            <a:ext cx="4206240" cy="347472"/>
          </a:xfrm>
          <a:prstGeom prst="rect">
            <a:avLst/>
          </a:prstGeom>
          <a:solidFill>
            <a:srgbClr val="3AAD8E"/>
          </a:solidFill>
          <a:ln w="12700">
            <a:solidFill>
              <a:srgbClr val="3AA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30175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Empathy–Imagination Profile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4198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D8E"/>
                </a:solidFill>
              </a:rPr>
              <a:t>Purpose: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40156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Contrasts emotional deficits (lack of empathy) with cognitive deficits (lack of imagination) to map specific internal processing impairments.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393192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91363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Grouped Column Chart — Visualizes Isolated Emotional Deficit vs Global Cognitive-Emotional Deficit across age groups.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4206240" cy="3474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0175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Behavioral Archetype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4198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</a:rPr>
              <a:t>Purpose: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3401568"/>
            <a:ext cx="33649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The master clustering feature — synthesizes the entire composite profile into one clinical phenotype for executive reporting and triage.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93192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3913632"/>
            <a:ext cx="3364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100% Stacked Bar — Shows the diagnosis rate within each archetype (Severe Global Delay, Communication Impaired, Socially Withdrawn, Mild/Typical).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Features  |  Healthcare Proxy Flags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CE9EF"/>
                </a:solidFill>
              </a:rPr>
              <a:t>Binary audit metrics designed to catch systemic failures, missed diagnoses, and masking behaviors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4206240" cy="1664208"/>
          </a:xfrm>
          <a:prstGeom prst="rect">
            <a:avLst/>
          </a:prstGeom>
          <a:solidFill>
            <a:srgbClr val="0A1A2A"/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5361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2"/>
                </a:solidFill>
              </a:rPr>
              <a:t>Late Diagnosis Flag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CE9EF"/>
                </a:solidFill>
              </a:rPr>
              <a:t>Triggers if: Age ≥ 18 AND Positive ASD Diagnosis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3977640" cy="0"/>
          </a:xfrm>
          <a:prstGeom prst="line">
            <a:avLst/>
          </a:prstGeom>
          <a:noFill/>
          <a:ln w="635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67712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Identifies adults who navigated childhood entirely without detection — a signal of systemic pediatric screening failure.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7157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EC4C0"/>
                </a:solidFill>
              </a:rPr>
              <a:t>📊 Bar chart comparing late-diagnosed vs early-diagnosed rates by gender — reveals which demographic is most often missed in childhood.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4206240" cy="1664208"/>
          </a:xfrm>
          <a:prstGeom prst="rect">
            <a:avLst/>
          </a:prstGeom>
          <a:solidFill>
            <a:srgbClr val="0A1A2A"/>
          </a:solidFill>
          <a:ln w="25400">
            <a:solidFill>
              <a:srgbClr val="5EC4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5361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153619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C4C0"/>
                </a:solidFill>
              </a:rPr>
              <a:t>Masking Proxy Flag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CE9EF"/>
                </a:solidFill>
              </a:rPr>
              <a:t>Triggers if: Diagnosed ASD AND self-reports 'Typical' communication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212848"/>
            <a:ext cx="3977640" cy="0"/>
          </a:xfrm>
          <a:prstGeom prst="line">
            <a:avLst/>
          </a:prstGeom>
          <a:noFill/>
          <a:ln w="6350">
            <a:solidFill>
              <a:srgbClr val="5EC4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267712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Uncovers individuals who may be entirely unaware of their deficits or are actively camouflaging them to appear neurotypical.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157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EC4C0"/>
                </a:solidFill>
              </a:rPr>
              <a:t>📊 Pie chart showing what proportion of diagnosed patients still self-report typical communication — quantifying the masking phenomenon.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246120"/>
            <a:ext cx="4206240" cy="1664208"/>
          </a:xfrm>
          <a:prstGeom prst="rect">
            <a:avLst/>
          </a:prstGeom>
          <a:solidFill>
            <a:srgbClr val="0A1A2A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" y="33192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4C"/>
                </a:solidFill>
              </a:rPr>
              <a:t>Sub-Clinical Missed Flag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721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CE9EF"/>
                </a:solidFill>
              </a:rPr>
              <a:t>Triggers if: Trait Burden ≥ 7 AND Negative Diagnosis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995928"/>
            <a:ext cx="3977640" cy="0"/>
          </a:xfrm>
          <a:prstGeom prst="line">
            <a:avLst/>
          </a:prstGeom>
          <a:noFill/>
          <a:ln w="6350">
            <a:solidFill>
              <a:srgbClr val="E861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50792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 critical audit metric to identify false negatives — patients with severe behavioral load who somehow received a clean bill of health.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49884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EC4C0"/>
                </a:solidFill>
              </a:rPr>
              <a:t>📊 Scatter plot of trait burden scores, highlighting flagged cases as outliers above the severity threshold in the negative-diagnosis population.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4206240" cy="1664208"/>
          </a:xfrm>
          <a:prstGeom prst="rect">
            <a:avLst/>
          </a:prstGeom>
          <a:solidFill>
            <a:srgbClr val="0A1A2A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33192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D8E"/>
                </a:solidFill>
              </a:rPr>
              <a:t>Compensatory Masking Flag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721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CE9EF"/>
                </a:solidFill>
              </a:rPr>
              <a:t>Triggers if: Age ≥ 13 AND Trait Burden ≥ 5 AND Perfect Social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995928"/>
            <a:ext cx="3977640" cy="0"/>
          </a:xfrm>
          <a:prstGeom prst="line">
            <a:avLst/>
          </a:prstGeom>
          <a:noFill/>
          <a:ln w="6350">
            <a:solidFill>
              <a:srgbClr val="3AA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050792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Isolates patients who have learned to force neurotypical social behaviours — a major driver of underdiagnosis in adult females.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49884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EC4C0"/>
                </a:solidFill>
              </a:rPr>
              <a:t>📊 Grouped chart comparing flagged rates by gender and age group — often reveals a striking female-skewed distribution.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Features  |  Risk, Genetics &amp; Diagnostic Proximity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Genetic Severity Matrix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93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</a:rPr>
              <a:t>Purpose: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2416" y="159105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Fuses family ASD history with actual trait burden. Explores whether high-severity cases are genetically driven or spontaneous.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1031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Heatmap — Maps genetic penetrance level (High/Intermediate/Low) against trait burden score, showing the compounding role of heredity.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063240"/>
            <a:ext cx="4114800" cy="365760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Diagnostic Proximity Band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48386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14C"/>
                </a:solidFill>
              </a:rPr>
              <a:t>Purpose: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46557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Critical for preventative care — isolates 'Borderline/Monitor' patients sitting dangerously close to the clinical threshold (score 4–5).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9959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3977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Donut Chart — Illustrates the proportion of Clear Negative, Borderline/Monitor, and Clinical Range patients across the dataset.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solidFill>
            <a:srgbClr val="3AAD8E"/>
          </a:solidFill>
          <a:ln w="12700">
            <a:solidFill>
              <a:srgbClr val="3AA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Overlap Profile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6093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D8E"/>
                </a:solidFill>
              </a:rPr>
              <a:t>Purpose: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2976" y="159105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Explicitly groups patients by combination of medical background (Jaundice only, Family ASD only, Both, Neither). Highlights cumulative risk.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1214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22976" y="21031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Grouped Bar Chart — Diagnosis rate within each risk overlap category, showing that 'Both' risk factors yields the highest diagnostic probability.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63240"/>
            <a:ext cx="4114800" cy="3657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Generational Cohort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48386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</a:rPr>
              <a:t>Purpose: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22976" y="346557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Maps patient age to societal generations (Gen Alpha, Gen Z, Millennial, Gen X, Boomer) to control for historical ASD screening bias.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9959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175"/>
                </a:solidFill>
              </a:rPr>
              <a:t>Visual: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2976" y="3977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Stacked Bar — Positive diagnosis proportion per cohort, revealing generational patterns linked to evolving ASD awareness and diagnostic criteria.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EC4C0"/>
          </a:solidFill>
          <a:ln w="12700">
            <a:solidFill>
              <a:srgbClr val="5EC4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— Key Visual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2788920" cy="1737360"/>
          </a:xfrm>
          <a:prstGeom prst="rect">
            <a:avLst/>
          </a:prstGeom>
          <a:solidFill>
            <a:srgbClr val="0B1E30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247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14C"/>
                </a:solidFill>
              </a:rPr>
              <a:t>Fig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990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 Risk Prevalence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37944"/>
            <a:ext cx="2606040" cy="0"/>
          </a:xfrm>
          <a:prstGeom prst="line">
            <a:avLst/>
          </a:prstGeom>
          <a:noFill/>
          <a:ln w="6350">
            <a:solidFill>
              <a:srgbClr val="E861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11096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9EF"/>
                </a:solidFill>
              </a:rPr>
              <a:t>17.2% carry jaundice history; 18.5% carry family ASD history. Medical risk is already embedded in 1 in 5 patients screened.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051560"/>
            <a:ext cx="2788920" cy="1737360"/>
          </a:xfrm>
          <a:prstGeom prst="rect">
            <a:avLst/>
          </a:prstGeom>
          <a:solidFill>
            <a:srgbClr val="0B1E30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55264" y="11247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</a:rPr>
              <a:t>Fig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5264" y="13990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Gender Presentation Gap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55264" y="1837944"/>
            <a:ext cx="2606040" cy="0"/>
          </a:xfrm>
          <a:prstGeom prst="line">
            <a:avLst/>
          </a:prstGeom>
          <a:noFill/>
          <a:ln w="635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911096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9EF"/>
                </a:solidFill>
              </a:rPr>
              <a:t>Males constitute a disproportionately larger share of positive diagnoses. Females show a distinct but under-detected presentation pattern.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051560"/>
            <a:ext cx="2788920" cy="1737360"/>
          </a:xfrm>
          <a:prstGeom prst="rect">
            <a:avLst/>
          </a:prstGeom>
          <a:solidFill>
            <a:srgbClr val="0B1E30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11247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D8E"/>
                </a:solidFill>
              </a:rPr>
              <a:t>Fig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6208" y="13990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Diagnostic Density by 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6208" y="1837944"/>
            <a:ext cx="2606040" cy="0"/>
          </a:xfrm>
          <a:prstGeom prst="line">
            <a:avLst/>
          </a:prstGeom>
          <a:noFill/>
          <a:ln w="6350">
            <a:solidFill>
              <a:srgbClr val="3AA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911096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9EF"/>
                </a:solidFill>
              </a:rPr>
              <a:t>A bimodal pattern: a childhood spike in positive diagnoses and a second adult curve — evidence of a 'late-diagnosed' demographic from missed pediatric screening.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" y="2953512"/>
            <a:ext cx="2788920" cy="1737360"/>
          </a:xfrm>
          <a:prstGeom prst="rect">
            <a:avLst/>
          </a:prstGeom>
          <a:solidFill>
            <a:srgbClr val="0B1E30"/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0266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</a:rPr>
              <a:t>Fig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30098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Compounding Demographic Risk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739896"/>
            <a:ext cx="2606040" cy="0"/>
          </a:xfrm>
          <a:prstGeom prst="line">
            <a:avLst/>
          </a:prstGeom>
          <a:noFill/>
          <a:ln w="635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1304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9EF"/>
                </a:solidFill>
              </a:rPr>
              <a:t>Males with family ASD history represent the highest-risk cohort. Intersectional demographics compound diagnostic probability multiplicatively.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82112" y="2967642"/>
            <a:ext cx="2788920" cy="1737360"/>
          </a:xfrm>
          <a:prstGeom prst="rect">
            <a:avLst/>
          </a:prstGeom>
          <a:solidFill>
            <a:srgbClr val="0B1E30"/>
          </a:solidFill>
          <a:ln w="25400">
            <a:solidFill>
              <a:srgbClr val="5EC4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55264" y="304079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C4C0"/>
                </a:solidFill>
              </a:rPr>
              <a:t>Fig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55264" y="331511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Trait Burden Validation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68980" y="3739896"/>
            <a:ext cx="2606040" cy="0"/>
          </a:xfrm>
          <a:prstGeom prst="line">
            <a:avLst/>
          </a:prstGeom>
          <a:noFill/>
          <a:ln w="6350">
            <a:solidFill>
              <a:srgbClr val="5EC4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5264" y="382717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9EF"/>
                </a:solidFill>
              </a:rPr>
              <a:t>The bimodal histogram confirms: diagnosed patients cluster above score 6, undiagnosed below 4. A clinically validated threshold emerges naturally from the data.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53912" y="2967642"/>
            <a:ext cx="2788920" cy="1737360"/>
          </a:xfrm>
          <a:prstGeom prst="rect">
            <a:avLst/>
          </a:prstGeom>
          <a:solidFill>
            <a:srgbClr val="0B1E30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27064" y="304079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14C"/>
                </a:solidFill>
              </a:rPr>
              <a:t>Fig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064" y="331511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Clinical Archetype Efficacy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27064" y="3754026"/>
            <a:ext cx="2606040" cy="0"/>
          </a:xfrm>
          <a:prstGeom prst="line">
            <a:avLst/>
          </a:prstGeom>
          <a:noFill/>
          <a:ln w="6350">
            <a:solidFill>
              <a:srgbClr val="E861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3827178"/>
            <a:ext cx="26334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CE9EF"/>
                </a:solidFill>
              </a:rPr>
              <a:t>'Severe Global Delay' archetype yields near 100% positive diagnosis rate. 'Mild/Typical' is overwhelmingly negative — proving our clustering logic works.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Testing — Confirming the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868680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594360" cy="11704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1978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37"/>
                </a:solidFill>
              </a:rPr>
              <a:t>Chi-Square Test of Independence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5453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H₀: Gender and ASD Diagnosis are independent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76479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5"/>
                </a:solidFill>
              </a:rPr>
              <a:t>Methodology: Contingency table of Gender × Class; Chi-Square applied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13716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34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p-value &lt; 0.05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13716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91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1216152"/>
            <a:ext cx="1234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3547"/>
                </a:solidFill>
              </a:rPr>
              <a:t>The observed gender gap in ASD diagnosis is a true systemic trend — statistically confirmed, not a sampling artefact. The data proves ASD manifests or is diagnosed differently by gender.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423160"/>
            <a:ext cx="868680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23160"/>
            <a:ext cx="594360" cy="1170432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423160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24780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37"/>
                </a:solidFill>
              </a:rPr>
              <a:t>Mann-Whitney U Test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282549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H₀: Median trait burden is equal across diagnosed and undiagnosed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0449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5"/>
                </a:solidFill>
              </a:rPr>
              <a:t>Methodology: Non-parametric test chosen for bounded 0–10 score; avoids normality assumption of T-Test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1371600" cy="384048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5146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p-value &lt; 0.05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971800"/>
            <a:ext cx="13716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971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496312"/>
            <a:ext cx="1234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3547"/>
                </a:solidFill>
              </a:rPr>
              <a:t>Diagnosed patients carry significantly higher atypical trait burdens. This rigorously validates our composite scoring system — proving the engineered features are statistically tied to real diagnostic outcomes.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703320"/>
            <a:ext cx="868680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703320"/>
            <a:ext cx="594360" cy="1170432"/>
          </a:xfrm>
          <a:prstGeom prst="rect">
            <a:avLst/>
          </a:prstGeom>
          <a:solidFill>
            <a:srgbClr val="3AAD8E"/>
          </a:solidFill>
          <a:ln w="12700">
            <a:solidFill>
              <a:srgbClr val="3AA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703320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37581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37"/>
                </a:solidFill>
              </a:rPr>
              <a:t>Odds Ratio Calculation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410565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175"/>
                </a:solidFill>
              </a:rPr>
              <a:t>H₀: Family ASD history does not elevate diagnostic probability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43251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5"/>
                </a:solidFill>
              </a:rPr>
              <a:t>Methodology: Cross-tabulation of Family_ASD × Class; odds ratio derived mathematically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794760"/>
            <a:ext cx="1371600" cy="384048"/>
          </a:xfrm>
          <a:prstGeom prst="rect">
            <a:avLst/>
          </a:prstGeom>
          <a:solidFill>
            <a:srgbClr val="3AAD8E"/>
          </a:solidFill>
          <a:ln w="12700">
            <a:solidFill>
              <a:srgbClr val="3AAD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7947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 &gt; 1 (statistically significant)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251960"/>
            <a:ext cx="13716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4251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3776472"/>
            <a:ext cx="1234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3547"/>
                </a:solidFill>
              </a:rPr>
              <a:t>Family genetics function as a concrete diagnostic risk multiplier. The odds ratio translates hereditary risk into an actionable clinical metric for targeted early screening.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Archetypes — The Spectrum in Practice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8412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 Burden — The Diagnostic Threshold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4622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Key Insight: A natural diagnostic threshold emerges at score 6. Below 4 → predominantly undiagnosed. Above 6 → predominantly diagnosed. This validates our composite scoring as a clinically reliable separator.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614C"/>
          </a:solidFill>
          <a:ln w="12700">
            <a:solidFill>
              <a:srgbClr val="E861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Gender Presentation Gap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188720"/>
            <a:ext cx="3200400" cy="960120"/>
          </a:xfrm>
          <a:prstGeom prst="rect">
            <a:avLst/>
          </a:prstGeom>
          <a:solidFill>
            <a:srgbClr val="0A1A2A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2344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7E8C"/>
                </a:solidFill>
              </a:rPr>
              <a:t>28.2%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23560" y="16642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Male Diagnosis 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23560" y="18836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EF"/>
                </a:solidFill>
              </a:rPr>
              <a:t>of 3,508 males screened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286000"/>
            <a:ext cx="3200400" cy="960120"/>
          </a:xfrm>
          <a:prstGeom prst="rect">
            <a:avLst/>
          </a:prstGeom>
          <a:solidFill>
            <a:srgbClr val="0A1A2A"/>
          </a:solidFill>
          <a:ln w="25400">
            <a:solidFill>
              <a:srgbClr val="E861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23560" y="23317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14C"/>
                </a:solidFill>
              </a:rPr>
              <a:t>31.7%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62356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Female Diagnosis Rate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23560" y="298094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EF"/>
                </a:solidFill>
              </a:rPr>
              <a:t>of 2,567 females screened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3383280"/>
            <a:ext cx="3200400" cy="960120"/>
          </a:xfrm>
          <a:prstGeom prst="rect">
            <a:avLst/>
          </a:prstGeom>
          <a:solidFill>
            <a:srgbClr val="0A1A2A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23560" y="34290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AD8E"/>
                </a:solidFill>
              </a:rPr>
              <a:t>p &lt; 0.05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623560" y="38587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Statistical Test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23560" y="40782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9EF"/>
                </a:solidFill>
              </a:rPr>
              <a:t>Chi-Square confirms significance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526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CE9EF"/>
                </a:solidFill>
              </a:rPr>
              <a:t>The gender gap reflects a systemic diagnostic inequity — not a biological prevalence difference — requiring gender-sensitive screening tools.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Risk Overlap — Compounding Probability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8412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62272"/>
            <a:ext cx="8412480" cy="5669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4805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Key Finding: Patients with BOTH jaundice history and family ASD history show ~2× the diagnostic probability of those with neither factor.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AD8E"/>
          </a:solidFill>
          <a:ln w="12700">
            <a:solidFill>
              <a:srgbClr val="3AA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743200" cy="1874520"/>
          </a:xfrm>
          <a:prstGeom prst="rect">
            <a:avLst/>
          </a:prstGeom>
          <a:solidFill>
            <a:srgbClr val="0A1A2A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AD8E"/>
                </a:solidFill>
              </a:rPr>
              <a:t>Behavioral Patterns Confirmed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21031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Males show higher positive diagnosis counts; family ASD history and jaundice both independently elevate risk — with a compounding effect when combined.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874520"/>
          </a:xfrm>
          <a:prstGeom prst="rect">
            <a:avLst/>
          </a:prstGeom>
          <a:solidFill>
            <a:srgbClr val="0A1A2A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AD8E"/>
                </a:solidFill>
              </a:rPr>
              <a:t>Composite Scores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The engineered Total Atypical Trait Burden (0–10) perfectly aligns with real diagnoses, validated by the Mann-Whitney U test (p &lt; 0.05). A reliable, spectrum-based metric.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097280"/>
            <a:ext cx="2743200" cy="1874520"/>
          </a:xfrm>
          <a:prstGeom prst="rect">
            <a:avLst/>
          </a:prstGeom>
          <a:solidFill>
            <a:srgbClr val="0A1A2A"/>
          </a:solidFill>
          <a:ln w="25400">
            <a:solidFill>
              <a:srgbClr val="3AA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36208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AD8E"/>
                </a:solidFill>
              </a:rPr>
              <a:t>Masking Is Real &amp; Measurable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21031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A significant portion of diagnosed patients still self-report typical communication, and older patients with high burden maintain perfect social scores — masking is quantifiable.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090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C4C0"/>
                </a:solidFill>
              </a:rPr>
              <a:t>Who Benefits?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6032" y="3456432"/>
            <a:ext cx="2743200" cy="1463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" y="350215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 Experts &amp; Clinicians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" y="3858768"/>
            <a:ext cx="25968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Behavioral archetype profiling, masking flags, and proximity bands enable faster, more nuanced triage and case identification.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456432"/>
            <a:ext cx="2743200" cy="1463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73552" y="350215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73552" y="3858768"/>
            <a:ext cx="25968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Statistically validated composite scores provide a reproducible, non-binary framework for future ASD studies and longitudinal tracking.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3456432"/>
            <a:ext cx="2743200" cy="1463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350215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General Public &amp; Policymakers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858768"/>
            <a:ext cx="25968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Clear demographic risk maps enable targeted screening campaigns, earlier interventions, and optimized resource allocation.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27889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15568"/>
            <a:ext cx="278892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115568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R1  Strengthen Early Screening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" y="1499616"/>
            <a:ext cx="26426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Integrate ASD screening into pediatric care and schools for children under 12.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91256" y="1115568"/>
            <a:ext cx="27889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91256" y="1115568"/>
            <a:ext cx="278892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115568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R2  Identify Hidden Cases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64408" y="1499616"/>
            <a:ext cx="26426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Train clinicians to recognize masked presentations — especially adult females.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2" y="1115568"/>
            <a:ext cx="27889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53912" y="1115568"/>
            <a:ext cx="278892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115568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R3  Integrate Medical Risk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27064" y="1499616"/>
            <a:ext cx="26426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Build jaundice history and family ASD into risk-prioritization frameworks.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505456"/>
            <a:ext cx="27889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505456"/>
            <a:ext cx="278892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505456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R4  Spectrum-Based Scoring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1752" y="2889504"/>
            <a:ext cx="26426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Move beyond binary checklists. Use Communication Deficit and Behavioral Atypicality scores.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91256" y="2505456"/>
            <a:ext cx="27889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91256" y="2505456"/>
            <a:ext cx="278892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505456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R5  Data-Driven Support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64408" y="2889504"/>
            <a:ext cx="26426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3547"/>
                </a:solidFill>
              </a:rPr>
              <a:t>Deploy analytical dashboards and interpretable behavioral analytics for clinicians.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8600" y="400507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Future Roadmap 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4315968"/>
            <a:ext cx="1353312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5176" y="43159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🤖  ML Models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91640" y="4315968"/>
            <a:ext cx="1353312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28216" y="43159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⚡  Real-Time Decision Support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4315968"/>
            <a:ext cx="1353312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91256" y="43159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🔵  Clustering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4315968"/>
            <a:ext cx="1353312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54296" y="43159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💡  Explainable AI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4315968"/>
            <a:ext cx="1353312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17336" y="43159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📈  Longitudinal Tracking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43800" y="4315968"/>
            <a:ext cx="1353312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0376" y="43159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📊 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A7E8C">
              <a:alpha val="12000"/>
            </a:srgbClr>
          </a:solidFill>
          <a:ln w="12700">
            <a:solidFill>
              <a:srgbClr val="0A7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E8614C">
              <a:alpha val="12000"/>
            </a:srgbClr>
          </a:solidFill>
          <a:ln w="12700">
            <a:solidFill>
              <a:srgbClr val="E8614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EC4C0"/>
                </a:solidFill>
              </a:rPr>
              <a:t>Beyond the Diagnosis: A Demographic &amp; Behavioral Profiling of Autism Spectrum Traits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880360"/>
            <a:ext cx="6400800" cy="0"/>
          </a:xfrm>
          <a:prstGeom prst="line">
            <a:avLst/>
          </a:prstGeom>
          <a:noFill/>
          <a:ln w="12700">
            <a:solidFill>
              <a:srgbClr val="4A61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9EF"/>
                </a:solidFill>
              </a:rPr>
              <a:t>Insight Igniters  |  CSD301 — Descriptive Analytics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9EF"/>
                </a:solidFill>
              </a:rPr>
              <a:t>Yagya Mahajan (12400421)  ·  Arnav Jain (12419975)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4069080"/>
            <a:ext cx="3657600" cy="640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4069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for 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1970</Words>
  <Application>Microsoft Office PowerPoint</Application>
  <PresentationFormat>On-screen Show (16:9)</PresentationFormat>
  <Paragraphs>249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Diagnosis: ASD Data Analytics</dc:title>
  <dc:subject>PptxGenJS Presentation</dc:subject>
  <dc:creator>PptxGenJS</dc:creator>
  <cp:lastModifiedBy>Arnav Jain</cp:lastModifiedBy>
  <cp:revision>2</cp:revision>
  <dcterms:created xsi:type="dcterms:W3CDTF">2026-05-15T18:08:21Z</dcterms:created>
  <dcterms:modified xsi:type="dcterms:W3CDTF">2026-05-15T18:19:32Z</dcterms:modified>
</cp:coreProperties>
</file>