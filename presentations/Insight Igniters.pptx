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10" autoAdjust="0"/>
    <p:restoredTop sz="94610"/>
  </p:normalViewPr>
  <p:slideViewPr>
    <p:cSldViewPr snapToGrid="0" snapToObjects="1">
      <p:cViewPr varScale="1">
        <p:scale>
          <a:sx n="128" d="100"/>
          <a:sy n="128" d="100"/>
        </p:scale>
        <p:origin x="115" y="2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8844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7722"/>
          </a:solidFill>
          <a:ln/>
        </p:spPr>
        <p:txBody>
          <a:bodyPr/>
          <a:lstStyle/>
          <a:p>
            <a:endParaRPr lang="en-IN"/>
          </a:p>
        </p:txBody>
      </p:sp>
      <p:sp>
        <p:nvSpPr>
          <p:cNvPr id="3" name="Shape 1"/>
          <p:cNvSpPr/>
          <p:nvPr/>
        </p:nvSpPr>
        <p:spPr>
          <a:xfrm>
            <a:off x="0" y="4389120"/>
            <a:ext cx="9144000" cy="754380"/>
          </a:xfrm>
          <a:prstGeom prst="rect">
            <a:avLst/>
          </a:prstGeom>
          <a:solidFill>
            <a:srgbClr val="0D7C8C"/>
          </a:solidFill>
          <a:ln/>
        </p:spPr>
        <p:txBody>
          <a:bodyPr/>
          <a:lstStyle/>
          <a:p>
            <a:endParaRPr lang="en-IN"/>
          </a:p>
        </p:txBody>
      </p:sp>
      <p:sp>
        <p:nvSpPr>
          <p:cNvPr id="4" name="Text 2"/>
          <p:cNvSpPr/>
          <p:nvPr/>
        </p:nvSpPr>
        <p:spPr>
          <a:xfrm>
            <a:off x="365760" y="731520"/>
            <a:ext cx="8412480" cy="100584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Beyond the Diagnosis</a:t>
            </a:r>
            <a:endParaRPr lang="en-US" sz="4400" dirty="0"/>
          </a:p>
        </p:txBody>
      </p:sp>
      <p:sp>
        <p:nvSpPr>
          <p:cNvPr id="5" name="Text 3"/>
          <p:cNvSpPr/>
          <p:nvPr/>
        </p:nvSpPr>
        <p:spPr>
          <a:xfrm>
            <a:off x="365760" y="1783080"/>
            <a:ext cx="8412480" cy="640080"/>
          </a:xfrm>
          <a:prstGeom prst="rect">
            <a:avLst/>
          </a:prstGeom>
          <a:noFill/>
          <a:ln/>
        </p:spPr>
        <p:txBody>
          <a:bodyPr wrap="square" lIns="0" tIns="0" rIns="0" bIns="0" rtlCol="0" anchor="ctr"/>
          <a:lstStyle/>
          <a:p>
            <a:pPr marL="0" indent="0">
              <a:buNone/>
            </a:pPr>
            <a:r>
              <a:rPr lang="en-US" sz="2000" i="1" dirty="0">
                <a:solidFill>
                  <a:srgbClr val="B0C4D8"/>
                </a:solidFill>
                <a:latin typeface="Calibri" pitchFamily="34" charset="0"/>
                <a:ea typeface="Calibri" pitchFamily="34" charset="-122"/>
                <a:cs typeface="Calibri" pitchFamily="34" charset="-120"/>
              </a:rPr>
              <a:t>A Demographic &amp; Behavioral Profiling of Autism Spectrum Traits</a:t>
            </a:r>
            <a:endParaRPr lang="en-US" sz="2000" dirty="0"/>
          </a:p>
        </p:txBody>
      </p:sp>
      <p:sp>
        <p:nvSpPr>
          <p:cNvPr id="6" name="Text 4"/>
          <p:cNvSpPr/>
          <p:nvPr/>
        </p:nvSpPr>
        <p:spPr>
          <a:xfrm>
            <a:off x="365760" y="2606040"/>
            <a:ext cx="8412480" cy="640080"/>
          </a:xfrm>
          <a:prstGeom prst="rect">
            <a:avLst/>
          </a:prstGeom>
          <a:noFill/>
          <a:ln/>
        </p:spPr>
        <p:txBody>
          <a:bodyPr wrap="square" lIns="0" tIns="0" rIns="0" bIns="0" rtlCol="0" anchor="ctr"/>
          <a:lstStyle/>
          <a:p>
            <a:pPr marL="0" indent="0">
              <a:buNone/>
            </a:pPr>
            <a:r>
              <a:rPr lang="en-US" sz="1400" dirty="0">
                <a:solidFill>
                  <a:srgbClr val="B0C4D8"/>
                </a:solidFill>
                <a:latin typeface="Calibri" pitchFamily="34" charset="0"/>
                <a:ea typeface="Calibri" pitchFamily="34" charset="-122"/>
                <a:cs typeface="Calibri" pitchFamily="34" charset="-120"/>
              </a:rPr>
              <a:t>Course: CSD301  |  Descriptive Analytics Project</a:t>
            </a:r>
            <a:endParaRPr lang="en-US" sz="1400" dirty="0"/>
          </a:p>
          <a:p>
            <a:pPr marL="0" indent="0">
              <a:buNone/>
            </a:pPr>
            <a:r>
              <a:rPr lang="en-US" sz="1400" dirty="0">
                <a:solidFill>
                  <a:srgbClr val="B0C4D8"/>
                </a:solidFill>
                <a:latin typeface="Calibri" pitchFamily="34" charset="0"/>
                <a:ea typeface="Calibri" pitchFamily="34" charset="-122"/>
                <a:cs typeface="Calibri" pitchFamily="34" charset="-120"/>
              </a:rPr>
              <a:t>Group: Insight Igniters  |  Yagya Mahajan &amp; Arnav Jain</a:t>
            </a:r>
            <a:endParaRPr lang="en-US" sz="1400" dirty="0"/>
          </a:p>
        </p:txBody>
      </p:sp>
      <p:sp>
        <p:nvSpPr>
          <p:cNvPr id="7" name="Text 5"/>
          <p:cNvSpPr/>
          <p:nvPr/>
        </p:nvSpPr>
        <p:spPr>
          <a:xfrm>
            <a:off x="365760" y="4480560"/>
            <a:ext cx="841248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CA2 — EDA &amp; Visualizations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Problem Statement</a:t>
            </a:r>
            <a:endParaRPr lang="en-US" sz="1800" dirty="0"/>
          </a:p>
        </p:txBody>
      </p:sp>
      <p:sp>
        <p:nvSpPr>
          <p:cNvPr id="4" name="Shape 2"/>
          <p:cNvSpPr/>
          <p:nvPr/>
        </p:nvSpPr>
        <p:spPr>
          <a:xfrm>
            <a:off x="182880" y="731520"/>
            <a:ext cx="28346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Shape 3"/>
          <p:cNvSpPr/>
          <p:nvPr/>
        </p:nvSpPr>
        <p:spPr>
          <a:xfrm>
            <a:off x="182880" y="731520"/>
            <a:ext cx="2834640" cy="54864"/>
          </a:xfrm>
          <a:prstGeom prst="rect">
            <a:avLst/>
          </a:prstGeom>
          <a:solidFill>
            <a:srgbClr val="E87722"/>
          </a:solidFill>
          <a:ln/>
        </p:spPr>
        <p:txBody>
          <a:bodyPr/>
          <a:lstStyle/>
          <a:p>
            <a:endParaRPr lang="en-IN"/>
          </a:p>
        </p:txBody>
      </p:sp>
      <p:sp>
        <p:nvSpPr>
          <p:cNvPr id="6" name="Text 4"/>
          <p:cNvSpPr/>
          <p:nvPr/>
        </p:nvSpPr>
        <p:spPr>
          <a:xfrm>
            <a:off x="274320" y="868680"/>
            <a:ext cx="2651760" cy="411480"/>
          </a:xfrm>
          <a:prstGeom prst="rect">
            <a:avLst/>
          </a:prstGeom>
          <a:noFill/>
          <a:ln/>
        </p:spPr>
        <p:txBody>
          <a:bodyPr wrap="square" lIns="0" tIns="0" rIns="0" bIns="0" rtlCol="0" anchor="ctr"/>
          <a:lstStyle/>
          <a:p>
            <a:pPr marL="0" indent="0">
              <a:buNone/>
            </a:pPr>
            <a:r>
              <a:rPr lang="en-US" sz="1300" b="1" dirty="0">
                <a:solidFill>
                  <a:srgbClr val="1C2B4A"/>
                </a:solidFill>
                <a:latin typeface="Calibri" pitchFamily="34" charset="0"/>
                <a:ea typeface="Calibri" pitchFamily="34" charset="-122"/>
                <a:cs typeface="Calibri" pitchFamily="34" charset="-120"/>
              </a:rPr>
              <a:t>⚠  The Challenge</a:t>
            </a:r>
            <a:endParaRPr lang="en-US" sz="1300" dirty="0"/>
          </a:p>
        </p:txBody>
      </p:sp>
      <p:sp>
        <p:nvSpPr>
          <p:cNvPr id="7" name="Text 5"/>
          <p:cNvSpPr/>
          <p:nvPr/>
        </p:nvSpPr>
        <p:spPr>
          <a:xfrm>
            <a:off x="274320" y="1371600"/>
            <a:ext cx="2651760" cy="3383280"/>
          </a:xfrm>
          <a:prstGeom prst="rect">
            <a:avLst/>
          </a:prstGeom>
          <a:noFill/>
          <a:ln/>
        </p:spPr>
        <p:txBody>
          <a:bodyPr wrap="square" lIns="0" tIns="0" rIns="0" bIns="0" rtlCol="0" anchor="t"/>
          <a:lstStyle/>
          <a:p>
            <a:pPr marL="0" indent="0">
              <a:buNone/>
            </a:pPr>
            <a:r>
              <a:rPr lang="en-US" sz="1200" dirty="0">
                <a:solidFill>
                  <a:srgbClr val="1C2B4A"/>
                </a:solidFill>
                <a:latin typeface="Calibri" pitchFamily="34" charset="0"/>
                <a:ea typeface="Calibri" pitchFamily="34" charset="-122"/>
                <a:cs typeface="Calibri" pitchFamily="34" charset="-120"/>
              </a:rPr>
              <a:t>ASD presents diverse manifestations across demographics. The challenge: how do behavioral traits like eye contact, social mimicry, and gestural communication vary across gender, age groups, and medical history?</a:t>
            </a:r>
            <a:endParaRPr lang="en-US" sz="1200" dirty="0"/>
          </a:p>
        </p:txBody>
      </p:sp>
      <p:sp>
        <p:nvSpPr>
          <p:cNvPr id="8" name="Shape 6"/>
          <p:cNvSpPr/>
          <p:nvPr/>
        </p:nvSpPr>
        <p:spPr>
          <a:xfrm>
            <a:off x="3172968" y="731520"/>
            <a:ext cx="28346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9" name="Shape 7"/>
          <p:cNvSpPr/>
          <p:nvPr/>
        </p:nvSpPr>
        <p:spPr>
          <a:xfrm>
            <a:off x="3172968" y="731520"/>
            <a:ext cx="2834640" cy="54864"/>
          </a:xfrm>
          <a:prstGeom prst="rect">
            <a:avLst/>
          </a:prstGeom>
          <a:solidFill>
            <a:srgbClr val="E87722"/>
          </a:solidFill>
          <a:ln/>
        </p:spPr>
        <p:txBody>
          <a:bodyPr/>
          <a:lstStyle/>
          <a:p>
            <a:endParaRPr lang="en-IN"/>
          </a:p>
        </p:txBody>
      </p:sp>
      <p:sp>
        <p:nvSpPr>
          <p:cNvPr id="10" name="Text 8"/>
          <p:cNvSpPr/>
          <p:nvPr/>
        </p:nvSpPr>
        <p:spPr>
          <a:xfrm>
            <a:off x="3264408" y="868680"/>
            <a:ext cx="2651760" cy="411480"/>
          </a:xfrm>
          <a:prstGeom prst="rect">
            <a:avLst/>
          </a:prstGeom>
          <a:noFill/>
          <a:ln/>
        </p:spPr>
        <p:txBody>
          <a:bodyPr wrap="square" lIns="0" tIns="0" rIns="0" bIns="0" rtlCol="0" anchor="ctr"/>
          <a:lstStyle/>
          <a:p>
            <a:pPr marL="0" indent="0">
              <a:buNone/>
            </a:pPr>
            <a:r>
              <a:rPr lang="en-US" sz="1300" b="1" dirty="0">
                <a:solidFill>
                  <a:srgbClr val="1C2B4A"/>
                </a:solidFill>
                <a:latin typeface="Calibri" pitchFamily="34" charset="0"/>
                <a:ea typeface="Calibri" pitchFamily="34" charset="-122"/>
                <a:cs typeface="Calibri" pitchFamily="34" charset="-120"/>
              </a:rPr>
              <a:t>🔬  Our Approach</a:t>
            </a:r>
            <a:endParaRPr lang="en-US" sz="1300" dirty="0"/>
          </a:p>
        </p:txBody>
      </p:sp>
      <p:sp>
        <p:nvSpPr>
          <p:cNvPr id="11" name="Text 9"/>
          <p:cNvSpPr/>
          <p:nvPr/>
        </p:nvSpPr>
        <p:spPr>
          <a:xfrm>
            <a:off x="3264408" y="1371600"/>
            <a:ext cx="2651760" cy="3383280"/>
          </a:xfrm>
          <a:prstGeom prst="rect">
            <a:avLst/>
          </a:prstGeom>
          <a:noFill/>
          <a:ln/>
        </p:spPr>
        <p:txBody>
          <a:bodyPr wrap="square" lIns="0" tIns="0" rIns="0" bIns="0" rtlCol="0" anchor="t"/>
          <a:lstStyle/>
          <a:p>
            <a:pPr marL="0" indent="0">
              <a:buNone/>
            </a:pPr>
            <a:r>
              <a:rPr lang="en-US" sz="1200" dirty="0">
                <a:solidFill>
                  <a:srgbClr val="1C2B4A"/>
                </a:solidFill>
                <a:latin typeface="Calibri" pitchFamily="34" charset="0"/>
                <a:ea typeface="Calibri" pitchFamily="34" charset="-122"/>
                <a:cs typeface="Calibri" pitchFamily="34" charset="-120"/>
              </a:rPr>
              <a:t>Systematically analyzing 6,075 screening records to uncover hidden demographic disparities, identify behavioral clusters, and map how autism spectrum traits manifest across diverse populations.</a:t>
            </a:r>
            <a:endParaRPr lang="en-US" sz="1200" dirty="0"/>
          </a:p>
        </p:txBody>
      </p:sp>
      <p:sp>
        <p:nvSpPr>
          <p:cNvPr id="12" name="Shape 10"/>
          <p:cNvSpPr/>
          <p:nvPr/>
        </p:nvSpPr>
        <p:spPr>
          <a:xfrm>
            <a:off x="6163056" y="731520"/>
            <a:ext cx="28346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13" name="Shape 11"/>
          <p:cNvSpPr/>
          <p:nvPr/>
        </p:nvSpPr>
        <p:spPr>
          <a:xfrm>
            <a:off x="6163056" y="731520"/>
            <a:ext cx="2834640" cy="54864"/>
          </a:xfrm>
          <a:prstGeom prst="rect">
            <a:avLst/>
          </a:prstGeom>
          <a:solidFill>
            <a:srgbClr val="E87722"/>
          </a:solidFill>
          <a:ln/>
        </p:spPr>
        <p:txBody>
          <a:bodyPr/>
          <a:lstStyle/>
          <a:p>
            <a:endParaRPr lang="en-IN"/>
          </a:p>
        </p:txBody>
      </p:sp>
      <p:sp>
        <p:nvSpPr>
          <p:cNvPr id="14" name="Text 12"/>
          <p:cNvSpPr/>
          <p:nvPr/>
        </p:nvSpPr>
        <p:spPr>
          <a:xfrm>
            <a:off x="6254496" y="868680"/>
            <a:ext cx="2651760" cy="411480"/>
          </a:xfrm>
          <a:prstGeom prst="rect">
            <a:avLst/>
          </a:prstGeom>
          <a:noFill/>
          <a:ln/>
        </p:spPr>
        <p:txBody>
          <a:bodyPr wrap="square" lIns="0" tIns="0" rIns="0" bIns="0" rtlCol="0" anchor="ctr"/>
          <a:lstStyle/>
          <a:p>
            <a:pPr marL="0" indent="0">
              <a:buNone/>
            </a:pPr>
            <a:r>
              <a:rPr lang="en-US" sz="1300" b="1" dirty="0">
                <a:solidFill>
                  <a:srgbClr val="1C2B4A"/>
                </a:solidFill>
                <a:latin typeface="Calibri" pitchFamily="34" charset="0"/>
                <a:ea typeface="Calibri" pitchFamily="34" charset="-122"/>
                <a:cs typeface="Calibri" pitchFamily="34" charset="-120"/>
              </a:rPr>
              <a:t>🎯  Beyond Binary</a:t>
            </a:r>
            <a:endParaRPr lang="en-US" sz="1300" dirty="0"/>
          </a:p>
        </p:txBody>
      </p:sp>
      <p:sp>
        <p:nvSpPr>
          <p:cNvPr id="15" name="Text 13"/>
          <p:cNvSpPr/>
          <p:nvPr/>
        </p:nvSpPr>
        <p:spPr>
          <a:xfrm>
            <a:off x="6254496" y="1371600"/>
            <a:ext cx="2651760" cy="3383280"/>
          </a:xfrm>
          <a:prstGeom prst="rect">
            <a:avLst/>
          </a:prstGeom>
          <a:noFill/>
          <a:ln/>
        </p:spPr>
        <p:txBody>
          <a:bodyPr wrap="square" lIns="0" tIns="0" rIns="0" bIns="0" rtlCol="0" anchor="t"/>
          <a:lstStyle/>
          <a:p>
            <a:pPr marL="0" indent="0">
              <a:buNone/>
            </a:pPr>
            <a:r>
              <a:rPr lang="en-US" sz="1200" dirty="0">
                <a:solidFill>
                  <a:srgbClr val="1C2B4A"/>
                </a:solidFill>
                <a:latin typeface="Calibri" pitchFamily="34" charset="0"/>
                <a:ea typeface="Calibri" pitchFamily="34" charset="-122"/>
                <a:cs typeface="Calibri" pitchFamily="34" charset="-120"/>
              </a:rPr>
              <a:t>Moving beyond a simple Yes/No diagnosis to reveal the spectrum's complexity — through composite scores, behavioral archetypes, and intersectional risk analysis.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Project Objectives</a:t>
            </a:r>
            <a:endParaRPr lang="en-US" sz="1800" dirty="0"/>
          </a:p>
        </p:txBody>
      </p:sp>
      <p:sp>
        <p:nvSpPr>
          <p:cNvPr id="4" name="Shape 2"/>
          <p:cNvSpPr/>
          <p:nvPr/>
        </p:nvSpPr>
        <p:spPr>
          <a:xfrm>
            <a:off x="182880" y="822960"/>
            <a:ext cx="384048" cy="475488"/>
          </a:xfrm>
          <a:prstGeom prst="rect">
            <a:avLst/>
          </a:prstGeom>
          <a:solidFill>
            <a:srgbClr val="E87722"/>
          </a:solidFill>
          <a:ln/>
        </p:spPr>
        <p:txBody>
          <a:bodyPr/>
          <a:lstStyle/>
          <a:p>
            <a:endParaRPr lang="en-IN"/>
          </a:p>
        </p:txBody>
      </p:sp>
      <p:sp>
        <p:nvSpPr>
          <p:cNvPr id="5" name="Text 3"/>
          <p:cNvSpPr/>
          <p:nvPr/>
        </p:nvSpPr>
        <p:spPr>
          <a:xfrm>
            <a:off x="182880" y="822960"/>
            <a:ext cx="38404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Shape 4"/>
          <p:cNvSpPr/>
          <p:nvPr/>
        </p:nvSpPr>
        <p:spPr>
          <a:xfrm>
            <a:off x="685800" y="822960"/>
            <a:ext cx="8138160" cy="475488"/>
          </a:xfrm>
          <a:prstGeom prst="rect">
            <a:avLst/>
          </a:prstGeom>
          <a:solidFill>
            <a:srgbClr val="FFFFFF"/>
          </a:solidFill>
          <a:ln/>
          <a:effectLst>
            <a:outerShdw blurRad="50800" dist="12700" dir="8100000" algn="bl" rotWithShape="0">
              <a:srgbClr val="000000">
                <a:alpha val="7000"/>
              </a:srgbClr>
            </a:outerShdw>
          </a:effectLst>
        </p:spPr>
        <p:txBody>
          <a:bodyPr/>
          <a:lstStyle/>
          <a:p>
            <a:endParaRPr lang="en-IN"/>
          </a:p>
        </p:txBody>
      </p:sp>
      <p:sp>
        <p:nvSpPr>
          <p:cNvPr id="7" name="Text 5"/>
          <p:cNvSpPr/>
          <p:nvPr/>
        </p:nvSpPr>
        <p:spPr>
          <a:xfrm>
            <a:off x="822960" y="859536"/>
            <a:ext cx="2194560" cy="201168"/>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Identify Demographic Patterns</a:t>
            </a:r>
            <a:endParaRPr lang="en-US" sz="1200" dirty="0"/>
          </a:p>
        </p:txBody>
      </p:sp>
      <p:sp>
        <p:nvSpPr>
          <p:cNvPr id="8" name="Text 6"/>
          <p:cNvSpPr/>
          <p:nvPr/>
        </p:nvSpPr>
        <p:spPr>
          <a:xfrm>
            <a:off x="822960" y="1042416"/>
            <a:ext cx="777240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Analyze how ASD traits vary across gender, age groups, and medical risk factors.</a:t>
            </a:r>
            <a:endParaRPr lang="en-US" sz="1100" dirty="0"/>
          </a:p>
        </p:txBody>
      </p:sp>
      <p:sp>
        <p:nvSpPr>
          <p:cNvPr id="9" name="Shape 7"/>
          <p:cNvSpPr/>
          <p:nvPr/>
        </p:nvSpPr>
        <p:spPr>
          <a:xfrm>
            <a:off x="182880" y="1627632"/>
            <a:ext cx="384048" cy="475488"/>
          </a:xfrm>
          <a:prstGeom prst="rect">
            <a:avLst/>
          </a:prstGeom>
          <a:solidFill>
            <a:srgbClr val="E87722"/>
          </a:solidFill>
          <a:ln/>
        </p:spPr>
        <p:txBody>
          <a:bodyPr/>
          <a:lstStyle/>
          <a:p>
            <a:endParaRPr lang="en-IN"/>
          </a:p>
        </p:txBody>
      </p:sp>
      <p:sp>
        <p:nvSpPr>
          <p:cNvPr id="10" name="Text 8"/>
          <p:cNvSpPr/>
          <p:nvPr/>
        </p:nvSpPr>
        <p:spPr>
          <a:xfrm>
            <a:off x="182880" y="1627632"/>
            <a:ext cx="38404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Shape 9"/>
          <p:cNvSpPr/>
          <p:nvPr/>
        </p:nvSpPr>
        <p:spPr>
          <a:xfrm>
            <a:off x="685800" y="1627632"/>
            <a:ext cx="8138160" cy="475488"/>
          </a:xfrm>
          <a:prstGeom prst="rect">
            <a:avLst/>
          </a:prstGeom>
          <a:solidFill>
            <a:srgbClr val="FFFFFF"/>
          </a:solidFill>
          <a:ln/>
          <a:effectLst>
            <a:outerShdw blurRad="50800" dist="12700" dir="8100000" algn="bl" rotWithShape="0">
              <a:srgbClr val="000000">
                <a:alpha val="7000"/>
              </a:srgbClr>
            </a:outerShdw>
          </a:effectLst>
        </p:spPr>
        <p:txBody>
          <a:bodyPr/>
          <a:lstStyle/>
          <a:p>
            <a:endParaRPr lang="en-IN"/>
          </a:p>
        </p:txBody>
      </p:sp>
      <p:sp>
        <p:nvSpPr>
          <p:cNvPr id="12" name="Text 10"/>
          <p:cNvSpPr/>
          <p:nvPr/>
        </p:nvSpPr>
        <p:spPr>
          <a:xfrm>
            <a:off x="822960" y="1664208"/>
            <a:ext cx="2194560" cy="201168"/>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Uncover Behavioral Clusters</a:t>
            </a:r>
            <a:endParaRPr lang="en-US" sz="1200" dirty="0"/>
          </a:p>
        </p:txBody>
      </p:sp>
      <p:sp>
        <p:nvSpPr>
          <p:cNvPr id="13" name="Text 11"/>
          <p:cNvSpPr/>
          <p:nvPr/>
        </p:nvSpPr>
        <p:spPr>
          <a:xfrm>
            <a:off x="822960" y="1847088"/>
            <a:ext cx="777240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Discover correlations between specific observable behaviors and ASD diagnosis.</a:t>
            </a:r>
            <a:endParaRPr lang="en-US" sz="1100" dirty="0"/>
          </a:p>
        </p:txBody>
      </p:sp>
      <p:sp>
        <p:nvSpPr>
          <p:cNvPr id="14" name="Shape 12"/>
          <p:cNvSpPr/>
          <p:nvPr/>
        </p:nvSpPr>
        <p:spPr>
          <a:xfrm>
            <a:off x="182880" y="2432304"/>
            <a:ext cx="384048" cy="475488"/>
          </a:xfrm>
          <a:prstGeom prst="rect">
            <a:avLst/>
          </a:prstGeom>
          <a:solidFill>
            <a:srgbClr val="E87722"/>
          </a:solidFill>
          <a:ln/>
        </p:spPr>
        <p:txBody>
          <a:bodyPr/>
          <a:lstStyle/>
          <a:p>
            <a:endParaRPr lang="en-IN"/>
          </a:p>
        </p:txBody>
      </p:sp>
      <p:sp>
        <p:nvSpPr>
          <p:cNvPr id="15" name="Text 13"/>
          <p:cNvSpPr/>
          <p:nvPr/>
        </p:nvSpPr>
        <p:spPr>
          <a:xfrm>
            <a:off x="182880" y="2432304"/>
            <a:ext cx="38404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Shape 14"/>
          <p:cNvSpPr/>
          <p:nvPr/>
        </p:nvSpPr>
        <p:spPr>
          <a:xfrm>
            <a:off x="685800" y="2432304"/>
            <a:ext cx="8138160" cy="475488"/>
          </a:xfrm>
          <a:prstGeom prst="rect">
            <a:avLst/>
          </a:prstGeom>
          <a:solidFill>
            <a:srgbClr val="FFFFFF"/>
          </a:solidFill>
          <a:ln/>
          <a:effectLst>
            <a:outerShdw blurRad="50800" dist="12700" dir="8100000" algn="bl" rotWithShape="0">
              <a:srgbClr val="000000">
                <a:alpha val="7000"/>
              </a:srgbClr>
            </a:outerShdw>
          </a:effectLst>
        </p:spPr>
        <p:txBody>
          <a:bodyPr/>
          <a:lstStyle/>
          <a:p>
            <a:endParaRPr lang="en-IN"/>
          </a:p>
        </p:txBody>
      </p:sp>
      <p:sp>
        <p:nvSpPr>
          <p:cNvPr id="17" name="Text 15"/>
          <p:cNvSpPr/>
          <p:nvPr/>
        </p:nvSpPr>
        <p:spPr>
          <a:xfrm>
            <a:off x="822960" y="2468880"/>
            <a:ext cx="2194560" cy="201168"/>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Assess Risk Factors</a:t>
            </a:r>
            <a:endParaRPr lang="en-US" sz="1200" dirty="0"/>
          </a:p>
        </p:txBody>
      </p:sp>
      <p:sp>
        <p:nvSpPr>
          <p:cNvPr id="18" name="Text 16"/>
          <p:cNvSpPr/>
          <p:nvPr/>
        </p:nvSpPr>
        <p:spPr>
          <a:xfrm>
            <a:off x="822960" y="2651760"/>
            <a:ext cx="777240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Evaluate cumulative and isolated impact of jaundice history and family genetics on ASD.</a:t>
            </a:r>
            <a:endParaRPr lang="en-US" sz="1100" dirty="0"/>
          </a:p>
        </p:txBody>
      </p:sp>
      <p:sp>
        <p:nvSpPr>
          <p:cNvPr id="19" name="Shape 17"/>
          <p:cNvSpPr/>
          <p:nvPr/>
        </p:nvSpPr>
        <p:spPr>
          <a:xfrm>
            <a:off x="182880" y="3236976"/>
            <a:ext cx="384048" cy="475488"/>
          </a:xfrm>
          <a:prstGeom prst="rect">
            <a:avLst/>
          </a:prstGeom>
          <a:solidFill>
            <a:srgbClr val="E87722"/>
          </a:solidFill>
          <a:ln/>
        </p:spPr>
        <p:txBody>
          <a:bodyPr/>
          <a:lstStyle/>
          <a:p>
            <a:endParaRPr lang="en-IN"/>
          </a:p>
        </p:txBody>
      </p:sp>
      <p:sp>
        <p:nvSpPr>
          <p:cNvPr id="20" name="Text 18"/>
          <p:cNvSpPr/>
          <p:nvPr/>
        </p:nvSpPr>
        <p:spPr>
          <a:xfrm>
            <a:off x="182880" y="3236976"/>
            <a:ext cx="38404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1" name="Shape 19"/>
          <p:cNvSpPr/>
          <p:nvPr/>
        </p:nvSpPr>
        <p:spPr>
          <a:xfrm>
            <a:off x="685800" y="3236976"/>
            <a:ext cx="8138160" cy="475488"/>
          </a:xfrm>
          <a:prstGeom prst="rect">
            <a:avLst/>
          </a:prstGeom>
          <a:solidFill>
            <a:srgbClr val="FFFFFF"/>
          </a:solidFill>
          <a:ln/>
          <a:effectLst>
            <a:outerShdw blurRad="50800" dist="12700" dir="8100000" algn="bl" rotWithShape="0">
              <a:srgbClr val="000000">
                <a:alpha val="7000"/>
              </a:srgbClr>
            </a:outerShdw>
          </a:effectLst>
        </p:spPr>
        <p:txBody>
          <a:bodyPr/>
          <a:lstStyle/>
          <a:p>
            <a:endParaRPr lang="en-IN"/>
          </a:p>
        </p:txBody>
      </p:sp>
      <p:sp>
        <p:nvSpPr>
          <p:cNvPr id="22" name="Text 20"/>
          <p:cNvSpPr/>
          <p:nvPr/>
        </p:nvSpPr>
        <p:spPr>
          <a:xfrm>
            <a:off x="822960" y="3273552"/>
            <a:ext cx="2194560" cy="201168"/>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Generate Actionable Insights</a:t>
            </a:r>
            <a:endParaRPr lang="en-US" sz="1200" dirty="0"/>
          </a:p>
        </p:txBody>
      </p:sp>
      <p:sp>
        <p:nvSpPr>
          <p:cNvPr id="23" name="Text 21"/>
          <p:cNvSpPr/>
          <p:nvPr/>
        </p:nvSpPr>
        <p:spPr>
          <a:xfrm>
            <a:off x="822960" y="3456432"/>
            <a:ext cx="777240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Move beyond binary diagnostic categories to create comprehensive spectrum profiling.</a:t>
            </a:r>
            <a:endParaRPr lang="en-US" sz="1100" dirty="0"/>
          </a:p>
        </p:txBody>
      </p:sp>
      <p:sp>
        <p:nvSpPr>
          <p:cNvPr id="24" name="Shape 22"/>
          <p:cNvSpPr/>
          <p:nvPr/>
        </p:nvSpPr>
        <p:spPr>
          <a:xfrm>
            <a:off x="182880" y="4041648"/>
            <a:ext cx="384048" cy="475488"/>
          </a:xfrm>
          <a:prstGeom prst="rect">
            <a:avLst/>
          </a:prstGeom>
          <a:solidFill>
            <a:srgbClr val="E87722"/>
          </a:solidFill>
          <a:ln/>
        </p:spPr>
        <p:txBody>
          <a:bodyPr/>
          <a:lstStyle/>
          <a:p>
            <a:endParaRPr lang="en-IN"/>
          </a:p>
        </p:txBody>
      </p:sp>
      <p:sp>
        <p:nvSpPr>
          <p:cNvPr id="25" name="Text 23"/>
          <p:cNvSpPr/>
          <p:nvPr/>
        </p:nvSpPr>
        <p:spPr>
          <a:xfrm>
            <a:off x="182880" y="4041648"/>
            <a:ext cx="38404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6" name="Shape 24"/>
          <p:cNvSpPr/>
          <p:nvPr/>
        </p:nvSpPr>
        <p:spPr>
          <a:xfrm>
            <a:off x="685800" y="4041648"/>
            <a:ext cx="8138160" cy="475488"/>
          </a:xfrm>
          <a:prstGeom prst="rect">
            <a:avLst/>
          </a:prstGeom>
          <a:solidFill>
            <a:srgbClr val="FFFFFF"/>
          </a:solidFill>
          <a:ln/>
          <a:effectLst>
            <a:outerShdw blurRad="50800" dist="12700" dir="8100000" algn="bl" rotWithShape="0">
              <a:srgbClr val="000000">
                <a:alpha val="7000"/>
              </a:srgbClr>
            </a:outerShdw>
          </a:effectLst>
        </p:spPr>
        <p:txBody>
          <a:bodyPr/>
          <a:lstStyle/>
          <a:p>
            <a:endParaRPr lang="en-IN"/>
          </a:p>
        </p:txBody>
      </p:sp>
      <p:sp>
        <p:nvSpPr>
          <p:cNvPr id="27" name="Text 25"/>
          <p:cNvSpPr/>
          <p:nvPr/>
        </p:nvSpPr>
        <p:spPr>
          <a:xfrm>
            <a:off x="822960" y="4078224"/>
            <a:ext cx="2194560" cy="201168"/>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Build Composite Scoring Systems</a:t>
            </a:r>
            <a:endParaRPr lang="en-US" sz="1200" dirty="0"/>
          </a:p>
        </p:txBody>
      </p:sp>
      <p:sp>
        <p:nvSpPr>
          <p:cNvPr id="28" name="Text 26"/>
          <p:cNvSpPr/>
          <p:nvPr/>
        </p:nvSpPr>
        <p:spPr>
          <a:xfrm>
            <a:off x="822960" y="4261104"/>
            <a:ext cx="7772400" cy="22860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Develop aggregated metrics — Social Interaction, Communication Deficit, and Behavioral Atypicality scores.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Dataset Overview</a:t>
            </a:r>
            <a:endParaRPr lang="en-US" sz="1800" dirty="0"/>
          </a:p>
        </p:txBody>
      </p:sp>
      <p:sp>
        <p:nvSpPr>
          <p:cNvPr id="4" name="Shape 2"/>
          <p:cNvSpPr/>
          <p:nvPr/>
        </p:nvSpPr>
        <p:spPr>
          <a:xfrm>
            <a:off x="182880" y="777240"/>
            <a:ext cx="425196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IN"/>
          </a:p>
        </p:txBody>
      </p:sp>
      <p:sp>
        <p:nvSpPr>
          <p:cNvPr id="5" name="Shape 3"/>
          <p:cNvSpPr/>
          <p:nvPr/>
        </p:nvSpPr>
        <p:spPr>
          <a:xfrm>
            <a:off x="182880" y="777240"/>
            <a:ext cx="64008" cy="1188720"/>
          </a:xfrm>
          <a:prstGeom prst="rect">
            <a:avLst/>
          </a:prstGeom>
          <a:solidFill>
            <a:srgbClr val="0D7C8C"/>
          </a:solidFill>
          <a:ln/>
        </p:spPr>
        <p:txBody>
          <a:bodyPr/>
          <a:lstStyle/>
          <a:p>
            <a:endParaRPr lang="en-IN"/>
          </a:p>
        </p:txBody>
      </p:sp>
      <p:sp>
        <p:nvSpPr>
          <p:cNvPr id="6" name="Text 4"/>
          <p:cNvSpPr/>
          <p:nvPr/>
        </p:nvSpPr>
        <p:spPr>
          <a:xfrm>
            <a:off x="347472" y="923544"/>
            <a:ext cx="3931920" cy="502920"/>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6,075</a:t>
            </a:r>
            <a:endParaRPr lang="en-US" sz="2400" dirty="0"/>
          </a:p>
        </p:txBody>
      </p:sp>
      <p:sp>
        <p:nvSpPr>
          <p:cNvPr id="7" name="Text 5"/>
          <p:cNvSpPr/>
          <p:nvPr/>
        </p:nvSpPr>
        <p:spPr>
          <a:xfrm>
            <a:off x="347472" y="1435608"/>
            <a:ext cx="393192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Total Records</a:t>
            </a:r>
            <a:endParaRPr lang="en-US" sz="1100" dirty="0"/>
          </a:p>
        </p:txBody>
      </p:sp>
      <p:sp>
        <p:nvSpPr>
          <p:cNvPr id="8" name="Shape 6"/>
          <p:cNvSpPr/>
          <p:nvPr/>
        </p:nvSpPr>
        <p:spPr>
          <a:xfrm>
            <a:off x="4663440" y="777240"/>
            <a:ext cx="425196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IN"/>
          </a:p>
        </p:txBody>
      </p:sp>
      <p:sp>
        <p:nvSpPr>
          <p:cNvPr id="9" name="Shape 7"/>
          <p:cNvSpPr/>
          <p:nvPr/>
        </p:nvSpPr>
        <p:spPr>
          <a:xfrm>
            <a:off x="4663440" y="777240"/>
            <a:ext cx="64008" cy="1188720"/>
          </a:xfrm>
          <a:prstGeom prst="rect">
            <a:avLst/>
          </a:prstGeom>
          <a:solidFill>
            <a:srgbClr val="0D7C8C"/>
          </a:solidFill>
          <a:ln/>
        </p:spPr>
        <p:txBody>
          <a:bodyPr/>
          <a:lstStyle/>
          <a:p>
            <a:endParaRPr lang="en-IN"/>
          </a:p>
        </p:txBody>
      </p:sp>
      <p:sp>
        <p:nvSpPr>
          <p:cNvPr id="10" name="Text 8"/>
          <p:cNvSpPr/>
          <p:nvPr/>
        </p:nvSpPr>
        <p:spPr>
          <a:xfrm>
            <a:off x="4828032" y="923544"/>
            <a:ext cx="3931920" cy="502920"/>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15 → 26+</a:t>
            </a:r>
            <a:endParaRPr lang="en-US" sz="2400" dirty="0"/>
          </a:p>
        </p:txBody>
      </p:sp>
      <p:sp>
        <p:nvSpPr>
          <p:cNvPr id="11" name="Text 9"/>
          <p:cNvSpPr/>
          <p:nvPr/>
        </p:nvSpPr>
        <p:spPr>
          <a:xfrm>
            <a:off x="4828032" y="1435608"/>
            <a:ext cx="393192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Features (Raw → Engineered)</a:t>
            </a:r>
            <a:endParaRPr lang="en-US" sz="1100" dirty="0"/>
          </a:p>
        </p:txBody>
      </p:sp>
      <p:sp>
        <p:nvSpPr>
          <p:cNvPr id="12" name="Shape 10"/>
          <p:cNvSpPr/>
          <p:nvPr/>
        </p:nvSpPr>
        <p:spPr>
          <a:xfrm>
            <a:off x="182880" y="2194560"/>
            <a:ext cx="425196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IN"/>
          </a:p>
        </p:txBody>
      </p:sp>
      <p:sp>
        <p:nvSpPr>
          <p:cNvPr id="13" name="Shape 11"/>
          <p:cNvSpPr/>
          <p:nvPr/>
        </p:nvSpPr>
        <p:spPr>
          <a:xfrm>
            <a:off x="182880" y="2194560"/>
            <a:ext cx="64008" cy="1188720"/>
          </a:xfrm>
          <a:prstGeom prst="rect">
            <a:avLst/>
          </a:prstGeom>
          <a:solidFill>
            <a:srgbClr val="0D7C8C"/>
          </a:solidFill>
          <a:ln/>
        </p:spPr>
        <p:txBody>
          <a:bodyPr/>
          <a:lstStyle/>
          <a:p>
            <a:endParaRPr lang="en-IN"/>
          </a:p>
        </p:txBody>
      </p:sp>
      <p:sp>
        <p:nvSpPr>
          <p:cNvPr id="14" name="Text 12"/>
          <p:cNvSpPr/>
          <p:nvPr/>
        </p:nvSpPr>
        <p:spPr>
          <a:xfrm>
            <a:off x="347472" y="2340864"/>
            <a:ext cx="3931920" cy="502920"/>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0</a:t>
            </a:r>
            <a:endParaRPr lang="en-US" sz="2400" dirty="0"/>
          </a:p>
        </p:txBody>
      </p:sp>
      <p:sp>
        <p:nvSpPr>
          <p:cNvPr id="15" name="Text 13"/>
          <p:cNvSpPr/>
          <p:nvPr/>
        </p:nvSpPr>
        <p:spPr>
          <a:xfrm>
            <a:off x="347472" y="2852928"/>
            <a:ext cx="393192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Missing Values</a:t>
            </a:r>
            <a:endParaRPr lang="en-US" sz="1100" dirty="0"/>
          </a:p>
        </p:txBody>
      </p:sp>
      <p:sp>
        <p:nvSpPr>
          <p:cNvPr id="16" name="Shape 14"/>
          <p:cNvSpPr/>
          <p:nvPr/>
        </p:nvSpPr>
        <p:spPr>
          <a:xfrm>
            <a:off x="4663440" y="2194560"/>
            <a:ext cx="425196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IN"/>
          </a:p>
        </p:txBody>
      </p:sp>
      <p:sp>
        <p:nvSpPr>
          <p:cNvPr id="17" name="Shape 15"/>
          <p:cNvSpPr/>
          <p:nvPr/>
        </p:nvSpPr>
        <p:spPr>
          <a:xfrm>
            <a:off x="4663440" y="2194560"/>
            <a:ext cx="64008" cy="1188720"/>
          </a:xfrm>
          <a:prstGeom prst="rect">
            <a:avLst/>
          </a:prstGeom>
          <a:solidFill>
            <a:srgbClr val="0D7C8C"/>
          </a:solidFill>
          <a:ln/>
        </p:spPr>
        <p:txBody>
          <a:bodyPr/>
          <a:lstStyle/>
          <a:p>
            <a:endParaRPr lang="en-IN"/>
          </a:p>
        </p:txBody>
      </p:sp>
      <p:sp>
        <p:nvSpPr>
          <p:cNvPr id="18" name="Text 16"/>
          <p:cNvSpPr/>
          <p:nvPr/>
        </p:nvSpPr>
        <p:spPr>
          <a:xfrm>
            <a:off x="4828032" y="2340864"/>
            <a:ext cx="3931920" cy="502920"/>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70.3% / 29.7%</a:t>
            </a:r>
            <a:endParaRPr lang="en-US" sz="2400" dirty="0"/>
          </a:p>
        </p:txBody>
      </p:sp>
      <p:sp>
        <p:nvSpPr>
          <p:cNvPr id="19" name="Text 17"/>
          <p:cNvSpPr/>
          <p:nvPr/>
        </p:nvSpPr>
        <p:spPr>
          <a:xfrm>
            <a:off x="4828032" y="2852928"/>
            <a:ext cx="393192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ASD Negative / Positive</a:t>
            </a:r>
            <a:endParaRPr lang="en-US" sz="1100" dirty="0"/>
          </a:p>
        </p:txBody>
      </p:sp>
      <p:sp>
        <p:nvSpPr>
          <p:cNvPr id="20" name="Shape 18"/>
          <p:cNvSpPr/>
          <p:nvPr/>
        </p:nvSpPr>
        <p:spPr>
          <a:xfrm>
            <a:off x="182880" y="3611880"/>
            <a:ext cx="425196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IN"/>
          </a:p>
        </p:txBody>
      </p:sp>
      <p:sp>
        <p:nvSpPr>
          <p:cNvPr id="21" name="Shape 19"/>
          <p:cNvSpPr/>
          <p:nvPr/>
        </p:nvSpPr>
        <p:spPr>
          <a:xfrm>
            <a:off x="182880" y="3611880"/>
            <a:ext cx="64008" cy="1188720"/>
          </a:xfrm>
          <a:prstGeom prst="rect">
            <a:avLst/>
          </a:prstGeom>
          <a:solidFill>
            <a:srgbClr val="0D7C8C"/>
          </a:solidFill>
          <a:ln/>
        </p:spPr>
        <p:txBody>
          <a:bodyPr/>
          <a:lstStyle/>
          <a:p>
            <a:endParaRPr lang="en-IN"/>
          </a:p>
        </p:txBody>
      </p:sp>
      <p:sp>
        <p:nvSpPr>
          <p:cNvPr id="22" name="Text 20"/>
          <p:cNvSpPr/>
          <p:nvPr/>
        </p:nvSpPr>
        <p:spPr>
          <a:xfrm>
            <a:off x="347472" y="3758184"/>
            <a:ext cx="3931920" cy="502920"/>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57.8%</a:t>
            </a:r>
            <a:endParaRPr lang="en-US" sz="2400" dirty="0"/>
          </a:p>
        </p:txBody>
      </p:sp>
      <p:sp>
        <p:nvSpPr>
          <p:cNvPr id="23" name="Text 21"/>
          <p:cNvSpPr/>
          <p:nvPr/>
        </p:nvSpPr>
        <p:spPr>
          <a:xfrm>
            <a:off x="347472" y="4270248"/>
            <a:ext cx="393192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Male  |  42.2% Female</a:t>
            </a:r>
            <a:endParaRPr lang="en-US" sz="1100" dirty="0"/>
          </a:p>
        </p:txBody>
      </p:sp>
      <p:sp>
        <p:nvSpPr>
          <p:cNvPr id="24" name="Shape 22"/>
          <p:cNvSpPr/>
          <p:nvPr/>
        </p:nvSpPr>
        <p:spPr>
          <a:xfrm>
            <a:off x="4663440" y="3611880"/>
            <a:ext cx="4251960" cy="1188720"/>
          </a:xfrm>
          <a:prstGeom prst="rect">
            <a:avLst/>
          </a:prstGeom>
          <a:solidFill>
            <a:srgbClr val="FFFFFF"/>
          </a:solidFill>
          <a:ln/>
          <a:effectLst>
            <a:outerShdw blurRad="76200" dist="25400" dir="8100000" algn="bl" rotWithShape="0">
              <a:srgbClr val="000000">
                <a:alpha val="8000"/>
              </a:srgbClr>
            </a:outerShdw>
          </a:effectLst>
        </p:spPr>
        <p:txBody>
          <a:bodyPr/>
          <a:lstStyle/>
          <a:p>
            <a:endParaRPr lang="en-IN"/>
          </a:p>
        </p:txBody>
      </p:sp>
      <p:sp>
        <p:nvSpPr>
          <p:cNvPr id="25" name="Shape 23"/>
          <p:cNvSpPr/>
          <p:nvPr/>
        </p:nvSpPr>
        <p:spPr>
          <a:xfrm>
            <a:off x="4663440" y="3611880"/>
            <a:ext cx="64008" cy="1188720"/>
          </a:xfrm>
          <a:prstGeom prst="rect">
            <a:avLst/>
          </a:prstGeom>
          <a:solidFill>
            <a:srgbClr val="0D7C8C"/>
          </a:solidFill>
          <a:ln/>
        </p:spPr>
        <p:txBody>
          <a:bodyPr/>
          <a:lstStyle/>
          <a:p>
            <a:endParaRPr lang="en-IN"/>
          </a:p>
        </p:txBody>
      </p:sp>
      <p:sp>
        <p:nvSpPr>
          <p:cNvPr id="26" name="Text 24"/>
          <p:cNvSpPr/>
          <p:nvPr/>
        </p:nvSpPr>
        <p:spPr>
          <a:xfrm>
            <a:off x="4828032" y="3758184"/>
            <a:ext cx="3931920" cy="502920"/>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50.9%</a:t>
            </a:r>
            <a:endParaRPr lang="en-US" sz="2400" dirty="0"/>
          </a:p>
        </p:txBody>
      </p:sp>
      <p:sp>
        <p:nvSpPr>
          <p:cNvPr id="27" name="Text 25"/>
          <p:cNvSpPr/>
          <p:nvPr/>
        </p:nvSpPr>
        <p:spPr>
          <a:xfrm>
            <a:off x="4828032" y="4270248"/>
            <a:ext cx="3931920" cy="384048"/>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Adults  |  37.9% Children  |  11.2% Adolescents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Behavioral Assessment Questions: A1–A10</a:t>
            </a:r>
            <a:endParaRPr lang="en-US" sz="1800" dirty="0"/>
          </a:p>
        </p:txBody>
      </p:sp>
      <p:sp>
        <p:nvSpPr>
          <p:cNvPr id="4" name="Text 2"/>
          <p:cNvSpPr/>
          <p:nvPr/>
        </p:nvSpPr>
        <p:spPr>
          <a:xfrm>
            <a:off x="228600" y="658368"/>
            <a:ext cx="8686800" cy="32004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Ten binary (0/1) questions assessing foundational autism spectrum traits. Score 1 = trait present, 0 = absent (exception: A10 scores 1 for atypical behavior).</a:t>
            </a:r>
            <a:endParaRPr lang="en-US" sz="1100" dirty="0"/>
          </a:p>
        </p:txBody>
      </p:sp>
      <p:sp>
        <p:nvSpPr>
          <p:cNvPr id="5" name="Shape 3"/>
          <p:cNvSpPr/>
          <p:nvPr/>
        </p:nvSpPr>
        <p:spPr>
          <a:xfrm>
            <a:off x="182880" y="1024128"/>
            <a:ext cx="8778240" cy="301752"/>
          </a:xfrm>
          <a:prstGeom prst="rect">
            <a:avLst/>
          </a:prstGeom>
          <a:solidFill>
            <a:srgbClr val="1C2B4A"/>
          </a:solidFill>
          <a:ln/>
        </p:spPr>
        <p:txBody>
          <a:bodyPr/>
          <a:lstStyle/>
          <a:p>
            <a:endParaRPr lang="en-IN"/>
          </a:p>
        </p:txBody>
      </p:sp>
      <p:sp>
        <p:nvSpPr>
          <p:cNvPr id="6" name="Text 4"/>
          <p:cNvSpPr/>
          <p:nvPr/>
        </p:nvSpPr>
        <p:spPr>
          <a:xfrm>
            <a:off x="228600" y="1051560"/>
            <a:ext cx="54864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Col</a:t>
            </a:r>
            <a:endParaRPr lang="en-US" sz="1100" dirty="0"/>
          </a:p>
        </p:txBody>
      </p:sp>
      <p:sp>
        <p:nvSpPr>
          <p:cNvPr id="7" name="Text 5"/>
          <p:cNvSpPr/>
          <p:nvPr/>
        </p:nvSpPr>
        <p:spPr>
          <a:xfrm>
            <a:off x="822960" y="105156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Question</a:t>
            </a:r>
            <a:endParaRPr lang="en-US" sz="1100" dirty="0"/>
          </a:p>
        </p:txBody>
      </p:sp>
      <p:sp>
        <p:nvSpPr>
          <p:cNvPr id="8" name="Text 6"/>
          <p:cNvSpPr/>
          <p:nvPr/>
        </p:nvSpPr>
        <p:spPr>
          <a:xfrm>
            <a:off x="4892040" y="1051560"/>
            <a:ext cx="4023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it Measures</a:t>
            </a:r>
            <a:endParaRPr lang="en-US" sz="1100" dirty="0"/>
          </a:p>
        </p:txBody>
      </p:sp>
      <p:sp>
        <p:nvSpPr>
          <p:cNvPr id="9" name="Shape 7"/>
          <p:cNvSpPr/>
          <p:nvPr/>
        </p:nvSpPr>
        <p:spPr>
          <a:xfrm>
            <a:off x="182880" y="1344168"/>
            <a:ext cx="8778240" cy="329184"/>
          </a:xfrm>
          <a:prstGeom prst="rect">
            <a:avLst/>
          </a:prstGeom>
          <a:solidFill>
            <a:srgbClr val="FFFFFF"/>
          </a:solidFill>
          <a:ln/>
        </p:spPr>
        <p:txBody>
          <a:bodyPr/>
          <a:lstStyle/>
          <a:p>
            <a:endParaRPr lang="en-IN"/>
          </a:p>
        </p:txBody>
      </p:sp>
      <p:sp>
        <p:nvSpPr>
          <p:cNvPr id="10" name="Shape 8"/>
          <p:cNvSpPr/>
          <p:nvPr/>
        </p:nvSpPr>
        <p:spPr>
          <a:xfrm>
            <a:off x="228600" y="1389888"/>
            <a:ext cx="411480" cy="228600"/>
          </a:xfrm>
          <a:prstGeom prst="rect">
            <a:avLst/>
          </a:prstGeom>
          <a:solidFill>
            <a:srgbClr val="E87722"/>
          </a:solidFill>
          <a:ln/>
        </p:spPr>
        <p:txBody>
          <a:bodyPr/>
          <a:lstStyle/>
          <a:p>
            <a:endParaRPr lang="en-IN"/>
          </a:p>
        </p:txBody>
      </p:sp>
      <p:sp>
        <p:nvSpPr>
          <p:cNvPr id="11" name="Text 9"/>
          <p:cNvSpPr/>
          <p:nvPr/>
        </p:nvSpPr>
        <p:spPr>
          <a:xfrm>
            <a:off x="228600" y="1389888"/>
            <a:ext cx="41148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A1</a:t>
            </a:r>
            <a:endParaRPr lang="en-US" sz="1000" dirty="0"/>
          </a:p>
        </p:txBody>
      </p:sp>
      <p:sp>
        <p:nvSpPr>
          <p:cNvPr id="12" name="Text 10"/>
          <p:cNvSpPr/>
          <p:nvPr/>
        </p:nvSpPr>
        <p:spPr>
          <a:xfrm>
            <a:off x="749808" y="1399032"/>
            <a:ext cx="4023360" cy="237744"/>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Eye contact when called</a:t>
            </a:r>
            <a:endParaRPr lang="en-US" sz="1100" dirty="0"/>
          </a:p>
        </p:txBody>
      </p:sp>
      <p:sp>
        <p:nvSpPr>
          <p:cNvPr id="13" name="Text 11"/>
          <p:cNvSpPr/>
          <p:nvPr/>
        </p:nvSpPr>
        <p:spPr>
          <a:xfrm>
            <a:off x="4864608" y="1399032"/>
            <a:ext cx="402336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Responsive attention orienting</a:t>
            </a:r>
            <a:endParaRPr lang="en-US" sz="1100" dirty="0"/>
          </a:p>
        </p:txBody>
      </p:sp>
      <p:sp>
        <p:nvSpPr>
          <p:cNvPr id="14" name="Shape 12"/>
          <p:cNvSpPr/>
          <p:nvPr/>
        </p:nvSpPr>
        <p:spPr>
          <a:xfrm>
            <a:off x="182880" y="1691640"/>
            <a:ext cx="8778240" cy="329184"/>
          </a:xfrm>
          <a:prstGeom prst="rect">
            <a:avLst/>
          </a:prstGeom>
          <a:solidFill>
            <a:srgbClr val="EEF3F7"/>
          </a:solidFill>
          <a:ln/>
        </p:spPr>
        <p:txBody>
          <a:bodyPr/>
          <a:lstStyle/>
          <a:p>
            <a:endParaRPr lang="en-IN"/>
          </a:p>
        </p:txBody>
      </p:sp>
      <p:sp>
        <p:nvSpPr>
          <p:cNvPr id="15" name="Shape 13"/>
          <p:cNvSpPr/>
          <p:nvPr/>
        </p:nvSpPr>
        <p:spPr>
          <a:xfrm>
            <a:off x="228600" y="1737360"/>
            <a:ext cx="411480" cy="228600"/>
          </a:xfrm>
          <a:prstGeom prst="rect">
            <a:avLst/>
          </a:prstGeom>
          <a:solidFill>
            <a:srgbClr val="E87722"/>
          </a:solidFill>
          <a:ln/>
        </p:spPr>
        <p:txBody>
          <a:bodyPr/>
          <a:lstStyle/>
          <a:p>
            <a:endParaRPr lang="en-IN"/>
          </a:p>
        </p:txBody>
      </p:sp>
      <p:sp>
        <p:nvSpPr>
          <p:cNvPr id="16" name="Text 14"/>
          <p:cNvSpPr/>
          <p:nvPr/>
        </p:nvSpPr>
        <p:spPr>
          <a:xfrm>
            <a:off x="228600" y="1737360"/>
            <a:ext cx="41148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A2</a:t>
            </a:r>
            <a:endParaRPr lang="en-US" sz="1000" dirty="0"/>
          </a:p>
        </p:txBody>
      </p:sp>
      <p:sp>
        <p:nvSpPr>
          <p:cNvPr id="17" name="Text 15"/>
          <p:cNvSpPr/>
          <p:nvPr/>
        </p:nvSpPr>
        <p:spPr>
          <a:xfrm>
            <a:off x="749808" y="1746504"/>
            <a:ext cx="4023360" cy="237744"/>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Easy for others to get eye contact</a:t>
            </a:r>
            <a:endParaRPr lang="en-US" sz="1100" dirty="0"/>
          </a:p>
        </p:txBody>
      </p:sp>
      <p:sp>
        <p:nvSpPr>
          <p:cNvPr id="18" name="Text 16"/>
          <p:cNvSpPr/>
          <p:nvPr/>
        </p:nvSpPr>
        <p:spPr>
          <a:xfrm>
            <a:off x="4864608" y="1746504"/>
            <a:ext cx="402336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Spontaneous eye contact ability</a:t>
            </a:r>
            <a:endParaRPr lang="en-US" sz="1100" dirty="0"/>
          </a:p>
        </p:txBody>
      </p:sp>
      <p:sp>
        <p:nvSpPr>
          <p:cNvPr id="19" name="Shape 17"/>
          <p:cNvSpPr/>
          <p:nvPr/>
        </p:nvSpPr>
        <p:spPr>
          <a:xfrm>
            <a:off x="182880" y="2039112"/>
            <a:ext cx="8778240" cy="329184"/>
          </a:xfrm>
          <a:prstGeom prst="rect">
            <a:avLst/>
          </a:prstGeom>
          <a:solidFill>
            <a:srgbClr val="FFFFFF"/>
          </a:solidFill>
          <a:ln/>
        </p:spPr>
        <p:txBody>
          <a:bodyPr/>
          <a:lstStyle/>
          <a:p>
            <a:endParaRPr lang="en-IN"/>
          </a:p>
        </p:txBody>
      </p:sp>
      <p:sp>
        <p:nvSpPr>
          <p:cNvPr id="20" name="Shape 18"/>
          <p:cNvSpPr/>
          <p:nvPr/>
        </p:nvSpPr>
        <p:spPr>
          <a:xfrm>
            <a:off x="228600" y="2084832"/>
            <a:ext cx="411480" cy="228600"/>
          </a:xfrm>
          <a:prstGeom prst="rect">
            <a:avLst/>
          </a:prstGeom>
          <a:solidFill>
            <a:srgbClr val="E87722"/>
          </a:solidFill>
          <a:ln/>
        </p:spPr>
        <p:txBody>
          <a:bodyPr/>
          <a:lstStyle/>
          <a:p>
            <a:endParaRPr lang="en-IN"/>
          </a:p>
        </p:txBody>
      </p:sp>
      <p:sp>
        <p:nvSpPr>
          <p:cNvPr id="21" name="Text 19"/>
          <p:cNvSpPr/>
          <p:nvPr/>
        </p:nvSpPr>
        <p:spPr>
          <a:xfrm>
            <a:off x="228600" y="2084832"/>
            <a:ext cx="41148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A3</a:t>
            </a:r>
            <a:endParaRPr lang="en-US" sz="1000" dirty="0"/>
          </a:p>
        </p:txBody>
      </p:sp>
      <p:sp>
        <p:nvSpPr>
          <p:cNvPr id="22" name="Text 20"/>
          <p:cNvSpPr/>
          <p:nvPr/>
        </p:nvSpPr>
        <p:spPr>
          <a:xfrm>
            <a:off x="749808" y="2093976"/>
            <a:ext cx="4023360" cy="237744"/>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Point to request something</a:t>
            </a:r>
            <a:endParaRPr lang="en-US" sz="1100" dirty="0"/>
          </a:p>
        </p:txBody>
      </p:sp>
      <p:sp>
        <p:nvSpPr>
          <p:cNvPr id="23" name="Text 21"/>
          <p:cNvSpPr/>
          <p:nvPr/>
        </p:nvSpPr>
        <p:spPr>
          <a:xfrm>
            <a:off x="4864608" y="2093976"/>
            <a:ext cx="402336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Imperative pointing (request-based)</a:t>
            </a:r>
            <a:endParaRPr lang="en-US" sz="1100" dirty="0"/>
          </a:p>
        </p:txBody>
      </p:sp>
      <p:sp>
        <p:nvSpPr>
          <p:cNvPr id="24" name="Shape 22"/>
          <p:cNvSpPr/>
          <p:nvPr/>
        </p:nvSpPr>
        <p:spPr>
          <a:xfrm>
            <a:off x="182880" y="2386584"/>
            <a:ext cx="8778240" cy="329184"/>
          </a:xfrm>
          <a:prstGeom prst="rect">
            <a:avLst/>
          </a:prstGeom>
          <a:solidFill>
            <a:srgbClr val="EEF3F7"/>
          </a:solidFill>
          <a:ln/>
        </p:spPr>
        <p:txBody>
          <a:bodyPr/>
          <a:lstStyle/>
          <a:p>
            <a:endParaRPr lang="en-IN"/>
          </a:p>
        </p:txBody>
      </p:sp>
      <p:sp>
        <p:nvSpPr>
          <p:cNvPr id="25" name="Shape 23"/>
          <p:cNvSpPr/>
          <p:nvPr/>
        </p:nvSpPr>
        <p:spPr>
          <a:xfrm>
            <a:off x="228600" y="2432304"/>
            <a:ext cx="411480" cy="228600"/>
          </a:xfrm>
          <a:prstGeom prst="rect">
            <a:avLst/>
          </a:prstGeom>
          <a:solidFill>
            <a:srgbClr val="E87722"/>
          </a:solidFill>
          <a:ln/>
        </p:spPr>
        <p:txBody>
          <a:bodyPr/>
          <a:lstStyle/>
          <a:p>
            <a:endParaRPr lang="en-IN"/>
          </a:p>
        </p:txBody>
      </p:sp>
      <p:sp>
        <p:nvSpPr>
          <p:cNvPr id="26" name="Text 24"/>
          <p:cNvSpPr/>
          <p:nvPr/>
        </p:nvSpPr>
        <p:spPr>
          <a:xfrm>
            <a:off x="228600" y="2432304"/>
            <a:ext cx="41148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A4</a:t>
            </a:r>
            <a:endParaRPr lang="en-US" sz="1000" dirty="0"/>
          </a:p>
        </p:txBody>
      </p:sp>
      <p:sp>
        <p:nvSpPr>
          <p:cNvPr id="27" name="Text 25"/>
          <p:cNvSpPr/>
          <p:nvPr/>
        </p:nvSpPr>
        <p:spPr>
          <a:xfrm>
            <a:off x="749808" y="2441448"/>
            <a:ext cx="4023360" cy="237744"/>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Point to share something interesting</a:t>
            </a:r>
            <a:endParaRPr lang="en-US" sz="1100" dirty="0"/>
          </a:p>
        </p:txBody>
      </p:sp>
      <p:sp>
        <p:nvSpPr>
          <p:cNvPr id="28" name="Text 26"/>
          <p:cNvSpPr/>
          <p:nvPr/>
        </p:nvSpPr>
        <p:spPr>
          <a:xfrm>
            <a:off x="4864608" y="2441448"/>
            <a:ext cx="402336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Declarative pointing (social sharing)</a:t>
            </a:r>
            <a:endParaRPr lang="en-US" sz="1100" dirty="0"/>
          </a:p>
        </p:txBody>
      </p:sp>
      <p:sp>
        <p:nvSpPr>
          <p:cNvPr id="29" name="Shape 27"/>
          <p:cNvSpPr/>
          <p:nvPr/>
        </p:nvSpPr>
        <p:spPr>
          <a:xfrm>
            <a:off x="182880" y="2734056"/>
            <a:ext cx="8778240" cy="329184"/>
          </a:xfrm>
          <a:prstGeom prst="rect">
            <a:avLst/>
          </a:prstGeom>
          <a:solidFill>
            <a:srgbClr val="FFFFFF"/>
          </a:solidFill>
          <a:ln/>
        </p:spPr>
        <p:txBody>
          <a:bodyPr/>
          <a:lstStyle/>
          <a:p>
            <a:endParaRPr lang="en-IN"/>
          </a:p>
        </p:txBody>
      </p:sp>
      <p:sp>
        <p:nvSpPr>
          <p:cNvPr id="30" name="Shape 28"/>
          <p:cNvSpPr/>
          <p:nvPr/>
        </p:nvSpPr>
        <p:spPr>
          <a:xfrm>
            <a:off x="228600" y="2779776"/>
            <a:ext cx="411480" cy="228600"/>
          </a:xfrm>
          <a:prstGeom prst="rect">
            <a:avLst/>
          </a:prstGeom>
          <a:solidFill>
            <a:srgbClr val="E87722"/>
          </a:solidFill>
          <a:ln/>
        </p:spPr>
        <p:txBody>
          <a:bodyPr/>
          <a:lstStyle/>
          <a:p>
            <a:endParaRPr lang="en-IN"/>
          </a:p>
        </p:txBody>
      </p:sp>
      <p:sp>
        <p:nvSpPr>
          <p:cNvPr id="31" name="Text 29"/>
          <p:cNvSpPr/>
          <p:nvPr/>
        </p:nvSpPr>
        <p:spPr>
          <a:xfrm>
            <a:off x="228600" y="2779776"/>
            <a:ext cx="41148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A5</a:t>
            </a:r>
            <a:endParaRPr lang="en-US" sz="1000" dirty="0"/>
          </a:p>
        </p:txBody>
      </p:sp>
      <p:sp>
        <p:nvSpPr>
          <p:cNvPr id="32" name="Text 30"/>
          <p:cNvSpPr/>
          <p:nvPr/>
        </p:nvSpPr>
        <p:spPr>
          <a:xfrm>
            <a:off x="749808" y="2788920"/>
            <a:ext cx="4023360" cy="237744"/>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Engage in imaginative / role-play</a:t>
            </a:r>
            <a:endParaRPr lang="en-US" sz="1100" dirty="0"/>
          </a:p>
        </p:txBody>
      </p:sp>
      <p:sp>
        <p:nvSpPr>
          <p:cNvPr id="33" name="Text 31"/>
          <p:cNvSpPr/>
          <p:nvPr/>
        </p:nvSpPr>
        <p:spPr>
          <a:xfrm>
            <a:off x="4864608" y="2788920"/>
            <a:ext cx="402336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Imaginative play capacity</a:t>
            </a:r>
            <a:endParaRPr lang="en-US" sz="1100" dirty="0"/>
          </a:p>
        </p:txBody>
      </p:sp>
      <p:sp>
        <p:nvSpPr>
          <p:cNvPr id="34" name="Shape 32"/>
          <p:cNvSpPr/>
          <p:nvPr/>
        </p:nvSpPr>
        <p:spPr>
          <a:xfrm>
            <a:off x="182880" y="3081528"/>
            <a:ext cx="8778240" cy="329184"/>
          </a:xfrm>
          <a:prstGeom prst="rect">
            <a:avLst/>
          </a:prstGeom>
          <a:solidFill>
            <a:srgbClr val="EEF3F7"/>
          </a:solidFill>
          <a:ln/>
        </p:spPr>
        <p:txBody>
          <a:bodyPr/>
          <a:lstStyle/>
          <a:p>
            <a:endParaRPr lang="en-IN"/>
          </a:p>
        </p:txBody>
      </p:sp>
      <p:sp>
        <p:nvSpPr>
          <p:cNvPr id="35" name="Shape 33"/>
          <p:cNvSpPr/>
          <p:nvPr/>
        </p:nvSpPr>
        <p:spPr>
          <a:xfrm>
            <a:off x="228600" y="3127248"/>
            <a:ext cx="411480" cy="228600"/>
          </a:xfrm>
          <a:prstGeom prst="rect">
            <a:avLst/>
          </a:prstGeom>
          <a:solidFill>
            <a:srgbClr val="E87722"/>
          </a:solidFill>
          <a:ln/>
        </p:spPr>
        <p:txBody>
          <a:bodyPr/>
          <a:lstStyle/>
          <a:p>
            <a:endParaRPr lang="en-IN"/>
          </a:p>
        </p:txBody>
      </p:sp>
      <p:sp>
        <p:nvSpPr>
          <p:cNvPr id="36" name="Text 34"/>
          <p:cNvSpPr/>
          <p:nvPr/>
        </p:nvSpPr>
        <p:spPr>
          <a:xfrm>
            <a:off x="228600" y="3127248"/>
            <a:ext cx="41148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A6</a:t>
            </a:r>
            <a:endParaRPr lang="en-US" sz="1000" dirty="0"/>
          </a:p>
        </p:txBody>
      </p:sp>
      <p:sp>
        <p:nvSpPr>
          <p:cNvPr id="37" name="Text 35"/>
          <p:cNvSpPr/>
          <p:nvPr/>
        </p:nvSpPr>
        <p:spPr>
          <a:xfrm>
            <a:off x="749808" y="3136392"/>
            <a:ext cx="4023360" cy="237744"/>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Follow others' gaze</a:t>
            </a:r>
            <a:endParaRPr lang="en-US" sz="1100" dirty="0"/>
          </a:p>
        </p:txBody>
      </p:sp>
      <p:sp>
        <p:nvSpPr>
          <p:cNvPr id="38" name="Text 36"/>
          <p:cNvSpPr/>
          <p:nvPr/>
        </p:nvSpPr>
        <p:spPr>
          <a:xfrm>
            <a:off x="4864608" y="3136392"/>
            <a:ext cx="402336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Joint attention &amp; gaze-following</a:t>
            </a:r>
            <a:endParaRPr lang="en-US" sz="1100" dirty="0"/>
          </a:p>
        </p:txBody>
      </p:sp>
      <p:sp>
        <p:nvSpPr>
          <p:cNvPr id="39" name="Shape 37"/>
          <p:cNvSpPr/>
          <p:nvPr/>
        </p:nvSpPr>
        <p:spPr>
          <a:xfrm>
            <a:off x="182880" y="3429000"/>
            <a:ext cx="8778240" cy="329184"/>
          </a:xfrm>
          <a:prstGeom prst="rect">
            <a:avLst/>
          </a:prstGeom>
          <a:solidFill>
            <a:srgbClr val="FFFFFF"/>
          </a:solidFill>
          <a:ln/>
        </p:spPr>
        <p:txBody>
          <a:bodyPr/>
          <a:lstStyle/>
          <a:p>
            <a:endParaRPr lang="en-IN"/>
          </a:p>
        </p:txBody>
      </p:sp>
      <p:sp>
        <p:nvSpPr>
          <p:cNvPr id="40" name="Shape 38"/>
          <p:cNvSpPr/>
          <p:nvPr/>
        </p:nvSpPr>
        <p:spPr>
          <a:xfrm>
            <a:off x="228600" y="3474720"/>
            <a:ext cx="411480" cy="228600"/>
          </a:xfrm>
          <a:prstGeom prst="rect">
            <a:avLst/>
          </a:prstGeom>
          <a:solidFill>
            <a:srgbClr val="E87722"/>
          </a:solidFill>
          <a:ln/>
        </p:spPr>
        <p:txBody>
          <a:bodyPr/>
          <a:lstStyle/>
          <a:p>
            <a:endParaRPr lang="en-IN"/>
          </a:p>
        </p:txBody>
      </p:sp>
      <p:sp>
        <p:nvSpPr>
          <p:cNvPr id="41" name="Text 39"/>
          <p:cNvSpPr/>
          <p:nvPr/>
        </p:nvSpPr>
        <p:spPr>
          <a:xfrm>
            <a:off x="228600" y="3474720"/>
            <a:ext cx="41148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A7</a:t>
            </a:r>
            <a:endParaRPr lang="en-US" sz="1000" dirty="0"/>
          </a:p>
        </p:txBody>
      </p:sp>
      <p:sp>
        <p:nvSpPr>
          <p:cNvPr id="42" name="Text 40"/>
          <p:cNvSpPr/>
          <p:nvPr/>
        </p:nvSpPr>
        <p:spPr>
          <a:xfrm>
            <a:off x="749808" y="3483864"/>
            <a:ext cx="4023360" cy="237744"/>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Comfort someone upset</a:t>
            </a:r>
            <a:endParaRPr lang="en-US" sz="1100" dirty="0"/>
          </a:p>
        </p:txBody>
      </p:sp>
      <p:sp>
        <p:nvSpPr>
          <p:cNvPr id="43" name="Text 41"/>
          <p:cNvSpPr/>
          <p:nvPr/>
        </p:nvSpPr>
        <p:spPr>
          <a:xfrm>
            <a:off x="4864608" y="3483864"/>
            <a:ext cx="402336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Empathic response &amp; emotional awareness</a:t>
            </a:r>
            <a:endParaRPr lang="en-US" sz="1100" dirty="0"/>
          </a:p>
        </p:txBody>
      </p:sp>
      <p:sp>
        <p:nvSpPr>
          <p:cNvPr id="44" name="Shape 42"/>
          <p:cNvSpPr/>
          <p:nvPr/>
        </p:nvSpPr>
        <p:spPr>
          <a:xfrm>
            <a:off x="182880" y="3776472"/>
            <a:ext cx="8778240" cy="329184"/>
          </a:xfrm>
          <a:prstGeom prst="rect">
            <a:avLst/>
          </a:prstGeom>
          <a:solidFill>
            <a:srgbClr val="EEF3F7"/>
          </a:solidFill>
          <a:ln/>
        </p:spPr>
        <p:txBody>
          <a:bodyPr/>
          <a:lstStyle/>
          <a:p>
            <a:endParaRPr lang="en-IN"/>
          </a:p>
        </p:txBody>
      </p:sp>
      <p:sp>
        <p:nvSpPr>
          <p:cNvPr id="45" name="Shape 43"/>
          <p:cNvSpPr/>
          <p:nvPr/>
        </p:nvSpPr>
        <p:spPr>
          <a:xfrm>
            <a:off x="228600" y="3822192"/>
            <a:ext cx="411480" cy="228600"/>
          </a:xfrm>
          <a:prstGeom prst="rect">
            <a:avLst/>
          </a:prstGeom>
          <a:solidFill>
            <a:srgbClr val="E87722"/>
          </a:solidFill>
          <a:ln/>
        </p:spPr>
        <p:txBody>
          <a:bodyPr/>
          <a:lstStyle/>
          <a:p>
            <a:endParaRPr lang="en-IN"/>
          </a:p>
        </p:txBody>
      </p:sp>
      <p:sp>
        <p:nvSpPr>
          <p:cNvPr id="46" name="Text 44"/>
          <p:cNvSpPr/>
          <p:nvPr/>
        </p:nvSpPr>
        <p:spPr>
          <a:xfrm>
            <a:off x="228600" y="3822192"/>
            <a:ext cx="41148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A8</a:t>
            </a:r>
            <a:endParaRPr lang="en-US" sz="1000" dirty="0"/>
          </a:p>
        </p:txBody>
      </p:sp>
      <p:sp>
        <p:nvSpPr>
          <p:cNvPr id="47" name="Text 45"/>
          <p:cNvSpPr/>
          <p:nvPr/>
        </p:nvSpPr>
        <p:spPr>
          <a:xfrm>
            <a:off x="749808" y="3831336"/>
            <a:ext cx="4023360" cy="237744"/>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Communication style described as typical</a:t>
            </a:r>
            <a:endParaRPr lang="en-US" sz="1100" dirty="0"/>
          </a:p>
        </p:txBody>
      </p:sp>
      <p:sp>
        <p:nvSpPr>
          <p:cNvPr id="48" name="Text 46"/>
          <p:cNvSpPr/>
          <p:nvPr/>
        </p:nvSpPr>
        <p:spPr>
          <a:xfrm>
            <a:off x="4864608" y="3831336"/>
            <a:ext cx="402336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Self-assessment of communication</a:t>
            </a:r>
            <a:endParaRPr lang="en-US" sz="1100" dirty="0"/>
          </a:p>
        </p:txBody>
      </p:sp>
      <p:sp>
        <p:nvSpPr>
          <p:cNvPr id="49" name="Shape 47"/>
          <p:cNvSpPr/>
          <p:nvPr/>
        </p:nvSpPr>
        <p:spPr>
          <a:xfrm>
            <a:off x="182880" y="4123944"/>
            <a:ext cx="8778240" cy="329184"/>
          </a:xfrm>
          <a:prstGeom prst="rect">
            <a:avLst/>
          </a:prstGeom>
          <a:solidFill>
            <a:srgbClr val="FFFFFF"/>
          </a:solidFill>
          <a:ln/>
        </p:spPr>
        <p:txBody>
          <a:bodyPr/>
          <a:lstStyle/>
          <a:p>
            <a:endParaRPr lang="en-IN"/>
          </a:p>
        </p:txBody>
      </p:sp>
      <p:sp>
        <p:nvSpPr>
          <p:cNvPr id="50" name="Shape 48"/>
          <p:cNvSpPr/>
          <p:nvPr/>
        </p:nvSpPr>
        <p:spPr>
          <a:xfrm>
            <a:off x="228600" y="4169664"/>
            <a:ext cx="411480" cy="228600"/>
          </a:xfrm>
          <a:prstGeom prst="rect">
            <a:avLst/>
          </a:prstGeom>
          <a:solidFill>
            <a:srgbClr val="E87722"/>
          </a:solidFill>
          <a:ln/>
        </p:spPr>
        <p:txBody>
          <a:bodyPr/>
          <a:lstStyle/>
          <a:p>
            <a:endParaRPr lang="en-IN"/>
          </a:p>
        </p:txBody>
      </p:sp>
      <p:sp>
        <p:nvSpPr>
          <p:cNvPr id="51" name="Text 49"/>
          <p:cNvSpPr/>
          <p:nvPr/>
        </p:nvSpPr>
        <p:spPr>
          <a:xfrm>
            <a:off x="228600" y="4169664"/>
            <a:ext cx="41148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A9</a:t>
            </a:r>
            <a:endParaRPr lang="en-US" sz="1000" dirty="0"/>
          </a:p>
        </p:txBody>
      </p:sp>
      <p:sp>
        <p:nvSpPr>
          <p:cNvPr id="52" name="Text 50"/>
          <p:cNvSpPr/>
          <p:nvPr/>
        </p:nvSpPr>
        <p:spPr>
          <a:xfrm>
            <a:off x="749808" y="4178808"/>
            <a:ext cx="4023360" cy="237744"/>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Use common gestures (e.g., waving)</a:t>
            </a:r>
            <a:endParaRPr lang="en-US" sz="1100" dirty="0"/>
          </a:p>
        </p:txBody>
      </p:sp>
      <p:sp>
        <p:nvSpPr>
          <p:cNvPr id="53" name="Text 51"/>
          <p:cNvSpPr/>
          <p:nvPr/>
        </p:nvSpPr>
        <p:spPr>
          <a:xfrm>
            <a:off x="4864608" y="4178808"/>
            <a:ext cx="402336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Gestural communication proficiency</a:t>
            </a:r>
            <a:endParaRPr lang="en-US" sz="1100" dirty="0"/>
          </a:p>
        </p:txBody>
      </p:sp>
      <p:sp>
        <p:nvSpPr>
          <p:cNvPr id="54" name="Shape 52"/>
          <p:cNvSpPr/>
          <p:nvPr/>
        </p:nvSpPr>
        <p:spPr>
          <a:xfrm>
            <a:off x="182880" y="4471416"/>
            <a:ext cx="8778240" cy="329184"/>
          </a:xfrm>
          <a:prstGeom prst="rect">
            <a:avLst/>
          </a:prstGeom>
          <a:solidFill>
            <a:srgbClr val="EEF3F7"/>
          </a:solidFill>
          <a:ln/>
        </p:spPr>
        <p:txBody>
          <a:bodyPr/>
          <a:lstStyle/>
          <a:p>
            <a:endParaRPr lang="en-IN"/>
          </a:p>
        </p:txBody>
      </p:sp>
      <p:sp>
        <p:nvSpPr>
          <p:cNvPr id="55" name="Shape 53"/>
          <p:cNvSpPr/>
          <p:nvPr/>
        </p:nvSpPr>
        <p:spPr>
          <a:xfrm>
            <a:off x="228600" y="4517136"/>
            <a:ext cx="411480" cy="228600"/>
          </a:xfrm>
          <a:prstGeom prst="rect">
            <a:avLst/>
          </a:prstGeom>
          <a:solidFill>
            <a:srgbClr val="E87722"/>
          </a:solidFill>
          <a:ln/>
        </p:spPr>
        <p:txBody>
          <a:bodyPr/>
          <a:lstStyle/>
          <a:p>
            <a:endParaRPr lang="en-IN"/>
          </a:p>
        </p:txBody>
      </p:sp>
      <p:sp>
        <p:nvSpPr>
          <p:cNvPr id="56" name="Text 54"/>
          <p:cNvSpPr/>
          <p:nvPr/>
        </p:nvSpPr>
        <p:spPr>
          <a:xfrm>
            <a:off x="228600" y="4517136"/>
            <a:ext cx="41148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A10</a:t>
            </a:r>
            <a:endParaRPr lang="en-US" sz="1000" dirty="0"/>
          </a:p>
        </p:txBody>
      </p:sp>
      <p:sp>
        <p:nvSpPr>
          <p:cNvPr id="57" name="Text 55"/>
          <p:cNvSpPr/>
          <p:nvPr/>
        </p:nvSpPr>
        <p:spPr>
          <a:xfrm>
            <a:off x="749808" y="4526280"/>
            <a:ext cx="4023360" cy="237744"/>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Sometimes stare into space</a:t>
            </a:r>
            <a:endParaRPr lang="en-US" sz="1100" dirty="0"/>
          </a:p>
        </p:txBody>
      </p:sp>
      <p:sp>
        <p:nvSpPr>
          <p:cNvPr id="58" name="Text 56"/>
          <p:cNvSpPr/>
          <p:nvPr/>
        </p:nvSpPr>
        <p:spPr>
          <a:xfrm>
            <a:off x="4864608" y="4526280"/>
            <a:ext cx="4023360" cy="237744"/>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Atypical attention pattern (direct score)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7722"/>
          </a:solidFill>
          <a:ln/>
        </p:spPr>
        <p:txBody>
          <a:bodyPr/>
          <a:lstStyle/>
          <a:p>
            <a:endParaRPr lang="en-IN"/>
          </a:p>
        </p:txBody>
      </p:sp>
      <p:sp>
        <p:nvSpPr>
          <p:cNvPr id="3" name="Shape 1"/>
          <p:cNvSpPr/>
          <p:nvPr/>
        </p:nvSpPr>
        <p:spPr>
          <a:xfrm>
            <a:off x="0" y="4389120"/>
            <a:ext cx="9144000" cy="754380"/>
          </a:xfrm>
          <a:prstGeom prst="rect">
            <a:avLst/>
          </a:prstGeom>
          <a:solidFill>
            <a:srgbClr val="0D7C8C"/>
          </a:solidFill>
          <a:ln/>
        </p:spPr>
        <p:txBody>
          <a:bodyPr/>
          <a:lstStyle/>
          <a:p>
            <a:endParaRPr lang="en-IN"/>
          </a:p>
        </p:txBody>
      </p:sp>
      <p:sp>
        <p:nvSpPr>
          <p:cNvPr id="4" name="Text 2"/>
          <p:cNvSpPr/>
          <p:nvPr/>
        </p:nvSpPr>
        <p:spPr>
          <a:xfrm>
            <a:off x="365760" y="1554480"/>
            <a:ext cx="8412480" cy="10058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EDA &amp; Visualizations</a:t>
            </a:r>
            <a:endParaRPr lang="en-US" sz="3600" dirty="0"/>
          </a:p>
        </p:txBody>
      </p:sp>
      <p:sp>
        <p:nvSpPr>
          <p:cNvPr id="5" name="Text 3"/>
          <p:cNvSpPr/>
          <p:nvPr/>
        </p:nvSpPr>
        <p:spPr>
          <a:xfrm>
            <a:off x="365760" y="2651760"/>
            <a:ext cx="8412480" cy="548640"/>
          </a:xfrm>
          <a:prstGeom prst="rect">
            <a:avLst/>
          </a:prstGeom>
          <a:noFill/>
          <a:ln/>
        </p:spPr>
        <p:txBody>
          <a:bodyPr wrap="square" lIns="0" tIns="0" rIns="0" bIns="0" rtlCol="0" anchor="ctr"/>
          <a:lstStyle/>
          <a:p>
            <a:pPr marL="0" indent="0">
              <a:buNone/>
            </a:pPr>
            <a:r>
              <a:rPr lang="en-US" sz="1800" i="1" dirty="0">
                <a:solidFill>
                  <a:srgbClr val="B0C4D8"/>
                </a:solidFill>
                <a:latin typeface="Calibri" pitchFamily="34" charset="0"/>
                <a:ea typeface="Calibri" pitchFamily="34" charset="-122"/>
                <a:cs typeface="Calibri" pitchFamily="34" charset="-120"/>
              </a:rPr>
              <a:t>What the data revealed — findings and insights</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Data Completeness — Missing Value Matrix</a:t>
            </a:r>
            <a:endParaRPr lang="en-US" sz="1800" dirty="0"/>
          </a:p>
        </p:txBody>
      </p:sp>
      <p:sp>
        <p:nvSpPr>
          <p:cNvPr id="4" name="Shape 2"/>
          <p:cNvSpPr/>
          <p:nvPr/>
        </p:nvSpPr>
        <p:spPr>
          <a:xfrm>
            <a:off x="182880" y="731520"/>
            <a:ext cx="3200400" cy="4206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Text 3"/>
          <p:cNvSpPr/>
          <p:nvPr/>
        </p:nvSpPr>
        <p:spPr>
          <a:xfrm>
            <a:off x="274320" y="841248"/>
            <a:ext cx="3017520" cy="320040"/>
          </a:xfrm>
          <a:prstGeom prst="rect">
            <a:avLst/>
          </a:prstGeom>
          <a:noFill/>
          <a:ln/>
        </p:spPr>
        <p:txBody>
          <a:bodyPr wrap="square" lIns="0" tIns="0" rIns="0" bIns="0" rtlCol="0" anchor="ctr"/>
          <a:lstStyle/>
          <a:p>
            <a:pPr marL="0" indent="0">
              <a:buNone/>
            </a:pPr>
            <a:r>
              <a:rPr lang="en-US" sz="1100" b="1" kern="0" spc="200" dirty="0">
                <a:solidFill>
                  <a:srgbClr val="0D7C8C"/>
                </a:solidFill>
                <a:latin typeface="Calibri" pitchFamily="34" charset="0"/>
                <a:ea typeface="Calibri" pitchFamily="34" charset="-122"/>
                <a:cs typeface="Calibri" pitchFamily="34" charset="-120"/>
              </a:rPr>
              <a:t>Key Finding</a:t>
            </a:r>
            <a:endParaRPr lang="en-US" sz="1100" dirty="0"/>
          </a:p>
        </p:txBody>
      </p:sp>
      <p:sp>
        <p:nvSpPr>
          <p:cNvPr id="6" name="Text 4"/>
          <p:cNvSpPr/>
          <p:nvPr/>
        </p:nvSpPr>
        <p:spPr>
          <a:xfrm>
            <a:off x="274320" y="1234440"/>
            <a:ext cx="2926080" cy="3474720"/>
          </a:xfrm>
          <a:prstGeom prst="rect">
            <a:avLst/>
          </a:prstGeom>
          <a:noFill/>
          <a:ln/>
        </p:spPr>
        <p:txBody>
          <a:bodyPr wrap="square" lIns="0" tIns="0" rIns="0" bIns="0" rtlCol="0" anchor="t"/>
          <a:lstStyle/>
          <a:p>
            <a:pPr marL="0" indent="0">
              <a:buNone/>
            </a:pPr>
            <a:r>
              <a:rPr lang="en-US" sz="1300" dirty="0">
                <a:solidFill>
                  <a:srgbClr val="1C2B4A"/>
                </a:solidFill>
                <a:latin typeface="Calibri" pitchFamily="34" charset="0"/>
                <a:ea typeface="Calibri" pitchFamily="34" charset="-122"/>
                <a:cs typeface="Calibri" pitchFamily="34" charset="-120"/>
              </a:rPr>
              <a:t>The missingno matrix confirmed a perfect dataset: all 6,075 records are complete across every column with zero missing values.</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This is rare in real-world clinical data and eliminates any need for imputation, ensuring all downstream analysis is built on a fully reliable foundation.</a:t>
            </a:r>
            <a:endParaRPr lang="en-US" sz="1300" dirty="0"/>
          </a:p>
        </p:txBody>
      </p:sp>
      <p:pic>
        <p:nvPicPr>
          <p:cNvPr id="7" name="Image 0" descr="preencoded.png"/>
          <p:cNvPicPr>
            <a:picLocks noChangeAspect="1"/>
          </p:cNvPicPr>
          <p:nvPr/>
        </p:nvPicPr>
        <p:blipFill>
          <a:blip r:embed="rId3"/>
          <a:stretch>
            <a:fillRect/>
          </a:stretch>
        </p:blipFill>
        <p:spPr>
          <a:xfrm>
            <a:off x="3611880" y="685800"/>
            <a:ext cx="5349240" cy="4023360"/>
          </a:xfrm>
          <a:prstGeom prst="rect">
            <a:avLst/>
          </a:prstGeom>
        </p:spPr>
      </p:pic>
      <p:sp>
        <p:nvSpPr>
          <p:cNvPr id="8" name="Text 5"/>
          <p:cNvSpPr/>
          <p:nvPr/>
        </p:nvSpPr>
        <p:spPr>
          <a:xfrm>
            <a:off x="3611880" y="4846320"/>
            <a:ext cx="534924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Fig 1: missingno matrix — solid bars confirm 100% completeness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Age Distribution — Outlier Treatment &amp; Profiling</a:t>
            </a:r>
            <a:endParaRPr lang="en-US" sz="1800" dirty="0"/>
          </a:p>
        </p:txBody>
      </p:sp>
      <p:sp>
        <p:nvSpPr>
          <p:cNvPr id="4" name="Shape 2"/>
          <p:cNvSpPr/>
          <p:nvPr/>
        </p:nvSpPr>
        <p:spPr>
          <a:xfrm>
            <a:off x="182880" y="731520"/>
            <a:ext cx="3200400" cy="4206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Text 3"/>
          <p:cNvSpPr/>
          <p:nvPr/>
        </p:nvSpPr>
        <p:spPr>
          <a:xfrm>
            <a:off x="274320" y="841248"/>
            <a:ext cx="3017520" cy="274320"/>
          </a:xfrm>
          <a:prstGeom prst="rect">
            <a:avLst/>
          </a:prstGeom>
          <a:noFill/>
          <a:ln/>
        </p:spPr>
        <p:txBody>
          <a:bodyPr wrap="square" lIns="0" tIns="0" rIns="0" bIns="0" rtlCol="0" anchor="ctr"/>
          <a:lstStyle/>
          <a:p>
            <a:pPr marL="0" indent="0">
              <a:buNone/>
            </a:pPr>
            <a:r>
              <a:rPr lang="en-US" sz="1100" b="1" kern="0" spc="200" dirty="0">
                <a:solidFill>
                  <a:srgbClr val="0D7C8C"/>
                </a:solidFill>
                <a:latin typeface="Calibri" pitchFamily="34" charset="0"/>
                <a:ea typeface="Calibri" pitchFamily="34" charset="-122"/>
                <a:cs typeface="Calibri" pitchFamily="34" charset="-120"/>
              </a:rPr>
              <a:t>Key Finding</a:t>
            </a:r>
            <a:endParaRPr lang="en-US" sz="1100" dirty="0"/>
          </a:p>
        </p:txBody>
      </p:sp>
      <p:sp>
        <p:nvSpPr>
          <p:cNvPr id="6" name="Text 4"/>
          <p:cNvSpPr/>
          <p:nvPr/>
        </p:nvSpPr>
        <p:spPr>
          <a:xfrm>
            <a:off x="274320" y="1188720"/>
            <a:ext cx="2971800" cy="3657600"/>
          </a:xfrm>
          <a:prstGeom prst="rect">
            <a:avLst/>
          </a:prstGeom>
          <a:noFill/>
          <a:ln/>
        </p:spPr>
        <p:txBody>
          <a:bodyPr wrap="square" lIns="0" tIns="0" rIns="0" bIns="0" rtlCol="0" anchor="t"/>
          <a:lstStyle/>
          <a:p>
            <a:pPr marL="0" indent="0">
              <a:buNone/>
            </a:pPr>
            <a:r>
              <a:rPr lang="en-US" sz="1200" dirty="0">
                <a:solidFill>
                  <a:srgbClr val="1C2B4A"/>
                </a:solidFill>
                <a:latin typeface="Calibri" pitchFamily="34" charset="0"/>
                <a:ea typeface="Calibri" pitchFamily="34" charset="-122"/>
                <a:cs typeface="Calibri" pitchFamily="34" charset="-120"/>
              </a:rPr>
              <a:t>Ages range 1–68 with mean of 19.84 years.</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The IQR method (Q1=5, Q3=30, IQR=25) was used to cap extreme outliers at the upper bound of 67.5 (Winsorization).</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Why Winsorize? To prevent extreme ages from skewing composite score distributions and distorting demographic comparisons — without discarding any records.</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The histogram shows a right-skewed distribution with two peaks: a large early-childhood cluster and a second young-adult cluster.</a:t>
            </a:r>
            <a:endParaRPr lang="en-US" sz="1200" dirty="0"/>
          </a:p>
        </p:txBody>
      </p:sp>
      <p:pic>
        <p:nvPicPr>
          <p:cNvPr id="7" name="Image 0" descr="preencoded.png"/>
          <p:cNvPicPr>
            <a:picLocks noChangeAspect="1"/>
          </p:cNvPicPr>
          <p:nvPr/>
        </p:nvPicPr>
        <p:blipFill>
          <a:blip r:embed="rId3"/>
          <a:stretch>
            <a:fillRect/>
          </a:stretch>
        </p:blipFill>
        <p:spPr>
          <a:xfrm>
            <a:off x="3611880" y="713232"/>
            <a:ext cx="2514600" cy="2103120"/>
          </a:xfrm>
          <a:prstGeom prst="rect">
            <a:avLst/>
          </a:prstGeom>
        </p:spPr>
      </p:pic>
      <p:pic>
        <p:nvPicPr>
          <p:cNvPr id="8" name="Image 1" descr="preencoded.png"/>
          <p:cNvPicPr>
            <a:picLocks noChangeAspect="1"/>
          </p:cNvPicPr>
          <p:nvPr/>
        </p:nvPicPr>
        <p:blipFill>
          <a:blip r:embed="rId4"/>
          <a:stretch>
            <a:fillRect/>
          </a:stretch>
        </p:blipFill>
        <p:spPr>
          <a:xfrm>
            <a:off x="6263640" y="713232"/>
            <a:ext cx="2743200" cy="2103120"/>
          </a:xfrm>
          <a:prstGeom prst="rect">
            <a:avLst/>
          </a:prstGeom>
        </p:spPr>
      </p:pic>
      <p:sp>
        <p:nvSpPr>
          <p:cNvPr id="9" name="Shape 5"/>
          <p:cNvSpPr/>
          <p:nvPr/>
        </p:nvSpPr>
        <p:spPr>
          <a:xfrm>
            <a:off x="3611880" y="2926080"/>
            <a:ext cx="5394960" cy="320040"/>
          </a:xfrm>
          <a:prstGeom prst="rect">
            <a:avLst/>
          </a:prstGeom>
          <a:solidFill>
            <a:srgbClr val="1C2B4A"/>
          </a:solidFill>
          <a:ln/>
        </p:spPr>
        <p:txBody>
          <a:bodyPr/>
          <a:lstStyle/>
          <a:p>
            <a:endParaRPr lang="en-IN"/>
          </a:p>
        </p:txBody>
      </p:sp>
      <p:sp>
        <p:nvSpPr>
          <p:cNvPr id="10" name="Text 6"/>
          <p:cNvSpPr/>
          <p:nvPr/>
        </p:nvSpPr>
        <p:spPr>
          <a:xfrm>
            <a:off x="3630168" y="2953512"/>
            <a:ext cx="1737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Age Group</a:t>
            </a:r>
            <a:endParaRPr lang="en-US" sz="1100" dirty="0"/>
          </a:p>
        </p:txBody>
      </p:sp>
      <p:sp>
        <p:nvSpPr>
          <p:cNvPr id="11" name="Text 7"/>
          <p:cNvSpPr/>
          <p:nvPr/>
        </p:nvSpPr>
        <p:spPr>
          <a:xfrm>
            <a:off x="5413248" y="2953512"/>
            <a:ext cx="1737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Count</a:t>
            </a:r>
            <a:endParaRPr lang="en-US" sz="1100" dirty="0"/>
          </a:p>
        </p:txBody>
      </p:sp>
      <p:sp>
        <p:nvSpPr>
          <p:cNvPr id="12" name="Text 8"/>
          <p:cNvSpPr/>
          <p:nvPr/>
        </p:nvSpPr>
        <p:spPr>
          <a:xfrm>
            <a:off x="7196328" y="2953512"/>
            <a:ext cx="1737360" cy="25603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of Dataset</a:t>
            </a:r>
            <a:endParaRPr lang="en-US" sz="1100" dirty="0"/>
          </a:p>
        </p:txBody>
      </p:sp>
      <p:sp>
        <p:nvSpPr>
          <p:cNvPr id="13" name="Shape 9"/>
          <p:cNvSpPr/>
          <p:nvPr/>
        </p:nvSpPr>
        <p:spPr>
          <a:xfrm>
            <a:off x="3611880" y="3264408"/>
            <a:ext cx="5394960" cy="393192"/>
          </a:xfrm>
          <a:prstGeom prst="rect">
            <a:avLst/>
          </a:prstGeom>
          <a:solidFill>
            <a:srgbClr val="FFFFFF"/>
          </a:solidFill>
          <a:ln/>
        </p:spPr>
        <p:txBody>
          <a:bodyPr/>
          <a:lstStyle/>
          <a:p>
            <a:endParaRPr lang="en-IN"/>
          </a:p>
        </p:txBody>
      </p:sp>
      <p:sp>
        <p:nvSpPr>
          <p:cNvPr id="14" name="Text 10"/>
          <p:cNvSpPr/>
          <p:nvPr/>
        </p:nvSpPr>
        <p:spPr>
          <a:xfrm>
            <a:off x="3630168" y="3337560"/>
            <a:ext cx="1737360" cy="256032"/>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Child (&lt;13 yrs)</a:t>
            </a:r>
            <a:endParaRPr lang="en-US" sz="1100" dirty="0"/>
          </a:p>
        </p:txBody>
      </p:sp>
      <p:sp>
        <p:nvSpPr>
          <p:cNvPr id="15" name="Text 11"/>
          <p:cNvSpPr/>
          <p:nvPr/>
        </p:nvSpPr>
        <p:spPr>
          <a:xfrm>
            <a:off x="5413248" y="3337560"/>
            <a:ext cx="1737360" cy="256032"/>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2,303</a:t>
            </a:r>
            <a:endParaRPr lang="en-US" sz="1100" dirty="0"/>
          </a:p>
        </p:txBody>
      </p:sp>
      <p:sp>
        <p:nvSpPr>
          <p:cNvPr id="16" name="Text 12"/>
          <p:cNvSpPr/>
          <p:nvPr/>
        </p:nvSpPr>
        <p:spPr>
          <a:xfrm>
            <a:off x="7196328" y="3337560"/>
            <a:ext cx="1737360" cy="256032"/>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37.9%</a:t>
            </a:r>
            <a:endParaRPr lang="en-US" sz="1100" dirty="0"/>
          </a:p>
        </p:txBody>
      </p:sp>
      <p:sp>
        <p:nvSpPr>
          <p:cNvPr id="17" name="Shape 13"/>
          <p:cNvSpPr/>
          <p:nvPr/>
        </p:nvSpPr>
        <p:spPr>
          <a:xfrm>
            <a:off x="3611880" y="3675888"/>
            <a:ext cx="5394960" cy="393192"/>
          </a:xfrm>
          <a:prstGeom prst="rect">
            <a:avLst/>
          </a:prstGeom>
          <a:solidFill>
            <a:srgbClr val="EEF3F7"/>
          </a:solidFill>
          <a:ln/>
        </p:spPr>
        <p:txBody>
          <a:bodyPr/>
          <a:lstStyle/>
          <a:p>
            <a:endParaRPr lang="en-IN"/>
          </a:p>
        </p:txBody>
      </p:sp>
      <p:sp>
        <p:nvSpPr>
          <p:cNvPr id="18" name="Text 14"/>
          <p:cNvSpPr/>
          <p:nvPr/>
        </p:nvSpPr>
        <p:spPr>
          <a:xfrm>
            <a:off x="3630168" y="3749040"/>
            <a:ext cx="1737360" cy="256032"/>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Adolescent (13–17)</a:t>
            </a:r>
            <a:endParaRPr lang="en-US" sz="1100" dirty="0"/>
          </a:p>
        </p:txBody>
      </p:sp>
      <p:sp>
        <p:nvSpPr>
          <p:cNvPr id="19" name="Text 15"/>
          <p:cNvSpPr/>
          <p:nvPr/>
        </p:nvSpPr>
        <p:spPr>
          <a:xfrm>
            <a:off x="5413248" y="3749040"/>
            <a:ext cx="1737360" cy="256032"/>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678</a:t>
            </a:r>
            <a:endParaRPr lang="en-US" sz="1100" dirty="0"/>
          </a:p>
        </p:txBody>
      </p:sp>
      <p:sp>
        <p:nvSpPr>
          <p:cNvPr id="20" name="Text 16"/>
          <p:cNvSpPr/>
          <p:nvPr/>
        </p:nvSpPr>
        <p:spPr>
          <a:xfrm>
            <a:off x="7196328" y="3749040"/>
            <a:ext cx="1737360" cy="256032"/>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11.2%</a:t>
            </a:r>
            <a:endParaRPr lang="en-US" sz="1100" dirty="0"/>
          </a:p>
        </p:txBody>
      </p:sp>
      <p:sp>
        <p:nvSpPr>
          <p:cNvPr id="21" name="Shape 17"/>
          <p:cNvSpPr/>
          <p:nvPr/>
        </p:nvSpPr>
        <p:spPr>
          <a:xfrm>
            <a:off x="3611880" y="4087368"/>
            <a:ext cx="5394960" cy="393192"/>
          </a:xfrm>
          <a:prstGeom prst="rect">
            <a:avLst/>
          </a:prstGeom>
          <a:solidFill>
            <a:srgbClr val="FFFFFF"/>
          </a:solidFill>
          <a:ln/>
        </p:spPr>
        <p:txBody>
          <a:bodyPr/>
          <a:lstStyle/>
          <a:p>
            <a:endParaRPr lang="en-IN"/>
          </a:p>
        </p:txBody>
      </p:sp>
      <p:sp>
        <p:nvSpPr>
          <p:cNvPr id="22" name="Text 18"/>
          <p:cNvSpPr/>
          <p:nvPr/>
        </p:nvSpPr>
        <p:spPr>
          <a:xfrm>
            <a:off x="3630168" y="4160520"/>
            <a:ext cx="1737360" cy="256032"/>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Adult (18+)</a:t>
            </a:r>
            <a:endParaRPr lang="en-US" sz="1100" dirty="0"/>
          </a:p>
        </p:txBody>
      </p:sp>
      <p:sp>
        <p:nvSpPr>
          <p:cNvPr id="23" name="Text 19"/>
          <p:cNvSpPr/>
          <p:nvPr/>
        </p:nvSpPr>
        <p:spPr>
          <a:xfrm>
            <a:off x="5413248" y="4160520"/>
            <a:ext cx="1737360" cy="256032"/>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3,094</a:t>
            </a:r>
            <a:endParaRPr lang="en-US" sz="1100" dirty="0"/>
          </a:p>
        </p:txBody>
      </p:sp>
      <p:sp>
        <p:nvSpPr>
          <p:cNvPr id="24" name="Text 20"/>
          <p:cNvSpPr/>
          <p:nvPr/>
        </p:nvSpPr>
        <p:spPr>
          <a:xfrm>
            <a:off x="7196328" y="4160520"/>
            <a:ext cx="1737360" cy="256032"/>
          </a:xfrm>
          <a:prstGeom prst="rect">
            <a:avLst/>
          </a:prstGeom>
          <a:noFill/>
          <a:ln/>
        </p:spPr>
        <p:txBody>
          <a:bodyPr wrap="square" lIns="0" tIns="0" rIns="0" bIns="0" rtlCol="0" anchor="ctr"/>
          <a:lstStyle/>
          <a:p>
            <a:pPr marL="0" indent="0">
              <a:buNone/>
            </a:pPr>
            <a:r>
              <a:rPr lang="en-US" sz="1100" dirty="0">
                <a:solidFill>
                  <a:srgbClr val="1C2B4A"/>
                </a:solidFill>
                <a:latin typeface="Calibri" pitchFamily="34" charset="0"/>
                <a:ea typeface="Calibri" pitchFamily="34" charset="-122"/>
                <a:cs typeface="Calibri" pitchFamily="34" charset="-120"/>
              </a:rPr>
              <a:t>50.9%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7722"/>
          </a:solidFill>
          <a:ln/>
        </p:spPr>
        <p:txBody>
          <a:bodyPr/>
          <a:lstStyle/>
          <a:p>
            <a:endParaRPr lang="en-IN"/>
          </a:p>
        </p:txBody>
      </p:sp>
      <p:sp>
        <p:nvSpPr>
          <p:cNvPr id="3" name="Shape 1"/>
          <p:cNvSpPr/>
          <p:nvPr/>
        </p:nvSpPr>
        <p:spPr>
          <a:xfrm>
            <a:off x="0" y="4389120"/>
            <a:ext cx="9144000" cy="754380"/>
          </a:xfrm>
          <a:prstGeom prst="rect">
            <a:avLst/>
          </a:prstGeom>
          <a:solidFill>
            <a:srgbClr val="0D7C8C"/>
          </a:solidFill>
          <a:ln/>
        </p:spPr>
        <p:txBody>
          <a:bodyPr/>
          <a:lstStyle/>
          <a:p>
            <a:endParaRPr lang="en-IN"/>
          </a:p>
        </p:txBody>
      </p:sp>
      <p:sp>
        <p:nvSpPr>
          <p:cNvPr id="4" name="Text 2"/>
          <p:cNvSpPr/>
          <p:nvPr/>
        </p:nvSpPr>
        <p:spPr>
          <a:xfrm>
            <a:off x="365760" y="1554480"/>
            <a:ext cx="8412480" cy="10058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EDA — The Gender Presentation Gap</a:t>
            </a:r>
            <a:endParaRPr lang="en-US" sz="3600" dirty="0"/>
          </a:p>
        </p:txBody>
      </p:sp>
      <p:sp>
        <p:nvSpPr>
          <p:cNvPr id="5" name="Text 3"/>
          <p:cNvSpPr/>
          <p:nvPr/>
        </p:nvSpPr>
        <p:spPr>
          <a:xfrm>
            <a:off x="365760" y="2651760"/>
            <a:ext cx="8412480" cy="548640"/>
          </a:xfrm>
          <a:prstGeom prst="rect">
            <a:avLst/>
          </a:prstGeom>
          <a:noFill/>
          <a:ln/>
        </p:spPr>
        <p:txBody>
          <a:bodyPr wrap="square" lIns="0" tIns="0" rIns="0" bIns="0" rtlCol="0" anchor="ctr"/>
          <a:lstStyle/>
          <a:p>
            <a:pPr marL="0" indent="0">
              <a:buNone/>
            </a:pPr>
            <a:r>
              <a:rPr lang="en-US" sz="1800" i="1" dirty="0">
                <a:solidFill>
                  <a:srgbClr val="B0C4D8"/>
                </a:solidFill>
                <a:latin typeface="Calibri" pitchFamily="34" charset="0"/>
                <a:ea typeface="Calibri" pitchFamily="34" charset="-122"/>
                <a:cs typeface="Calibri" pitchFamily="34" charset="-120"/>
              </a:rPr>
              <a:t>Do males and females differ in ASD diagnosis rates?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ASD Diagnosis Rate by Gender (100% Stacked Bar)</a:t>
            </a:r>
            <a:endParaRPr lang="en-US" sz="1800" dirty="0"/>
          </a:p>
        </p:txBody>
      </p:sp>
      <p:sp>
        <p:nvSpPr>
          <p:cNvPr id="4" name="Shape 2"/>
          <p:cNvSpPr/>
          <p:nvPr/>
        </p:nvSpPr>
        <p:spPr>
          <a:xfrm>
            <a:off x="182880" y="731520"/>
            <a:ext cx="3200400" cy="4206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Text 3"/>
          <p:cNvSpPr/>
          <p:nvPr/>
        </p:nvSpPr>
        <p:spPr>
          <a:xfrm>
            <a:off x="274320" y="841248"/>
            <a:ext cx="3017520" cy="320040"/>
          </a:xfrm>
          <a:prstGeom prst="rect">
            <a:avLst/>
          </a:prstGeom>
          <a:noFill/>
          <a:ln/>
        </p:spPr>
        <p:txBody>
          <a:bodyPr wrap="square" lIns="0" tIns="0" rIns="0" bIns="0" rtlCol="0" anchor="ctr"/>
          <a:lstStyle/>
          <a:p>
            <a:pPr marL="0" indent="0">
              <a:buNone/>
            </a:pPr>
            <a:r>
              <a:rPr lang="en-US" sz="1100" b="1" kern="0" spc="200" dirty="0">
                <a:solidFill>
                  <a:srgbClr val="0D7C8C"/>
                </a:solidFill>
                <a:latin typeface="Calibri" pitchFamily="34" charset="0"/>
                <a:ea typeface="Calibri" pitchFamily="34" charset="-122"/>
                <a:cs typeface="Calibri" pitchFamily="34" charset="-120"/>
              </a:rPr>
              <a:t>Key Finding</a:t>
            </a:r>
            <a:endParaRPr lang="en-US" sz="1100" dirty="0"/>
          </a:p>
        </p:txBody>
      </p:sp>
      <p:sp>
        <p:nvSpPr>
          <p:cNvPr id="6" name="Text 4"/>
          <p:cNvSpPr/>
          <p:nvPr/>
        </p:nvSpPr>
        <p:spPr>
          <a:xfrm>
            <a:off x="274320" y="1234440"/>
            <a:ext cx="2926080" cy="3474720"/>
          </a:xfrm>
          <a:prstGeom prst="rect">
            <a:avLst/>
          </a:prstGeom>
          <a:noFill/>
          <a:ln/>
        </p:spPr>
        <p:txBody>
          <a:bodyPr wrap="square" lIns="0" tIns="0" rIns="0" bIns="0" rtlCol="0" anchor="t"/>
          <a:lstStyle/>
          <a:p>
            <a:pPr marL="0" indent="0">
              <a:buNone/>
            </a:pPr>
            <a:r>
              <a:rPr lang="en-US" sz="1300" dirty="0">
                <a:solidFill>
                  <a:srgbClr val="1C2B4A"/>
                </a:solidFill>
                <a:latin typeface="Calibri" pitchFamily="34" charset="0"/>
                <a:ea typeface="Calibri" pitchFamily="34" charset="-122"/>
                <a:cs typeface="Calibri" pitchFamily="34" charset="-120"/>
              </a:rPr>
              <a:t>Females show a slightly higher positive diagnosis rate (31.7%) compared to males (28.2%).</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This challenges the historically male-dominated ASD narrative in clinical literature. The data suggests females may be undergoing screening at higher diagnostic thresholds, or presenting with traits that are currently being detected.</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This gender gap is a critical baseline finding that motivates deeper intersectional analysis.</a:t>
            </a:r>
            <a:endParaRPr lang="en-US" sz="1300" dirty="0"/>
          </a:p>
        </p:txBody>
      </p:sp>
      <p:pic>
        <p:nvPicPr>
          <p:cNvPr id="7" name="Image 0" descr="preencoded.png"/>
          <p:cNvPicPr>
            <a:picLocks noChangeAspect="1"/>
          </p:cNvPicPr>
          <p:nvPr/>
        </p:nvPicPr>
        <p:blipFill>
          <a:blip r:embed="rId3"/>
          <a:stretch>
            <a:fillRect/>
          </a:stretch>
        </p:blipFill>
        <p:spPr>
          <a:xfrm>
            <a:off x="3611880" y="713232"/>
            <a:ext cx="5349240" cy="4206240"/>
          </a:xfrm>
          <a:prstGeom prst="rect">
            <a:avLst/>
          </a:prstGeom>
        </p:spPr>
      </p:pic>
      <p:sp>
        <p:nvSpPr>
          <p:cNvPr id="8" name="Text 5"/>
          <p:cNvSpPr/>
          <p:nvPr/>
        </p:nvSpPr>
        <p:spPr>
          <a:xfrm>
            <a:off x="3611880" y="4846320"/>
            <a:ext cx="534924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Fig 2: 100% stacked bar — ASD rate by gender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Age Distribution Density by Diagnosis (KDE)</a:t>
            </a:r>
            <a:endParaRPr lang="en-US" sz="1800" dirty="0"/>
          </a:p>
        </p:txBody>
      </p:sp>
      <p:sp>
        <p:nvSpPr>
          <p:cNvPr id="4" name="Shape 2"/>
          <p:cNvSpPr/>
          <p:nvPr/>
        </p:nvSpPr>
        <p:spPr>
          <a:xfrm>
            <a:off x="182880" y="731520"/>
            <a:ext cx="3200400" cy="4206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Text 3"/>
          <p:cNvSpPr/>
          <p:nvPr/>
        </p:nvSpPr>
        <p:spPr>
          <a:xfrm>
            <a:off x="274320" y="841248"/>
            <a:ext cx="3017520" cy="320040"/>
          </a:xfrm>
          <a:prstGeom prst="rect">
            <a:avLst/>
          </a:prstGeom>
          <a:noFill/>
          <a:ln/>
        </p:spPr>
        <p:txBody>
          <a:bodyPr wrap="square" lIns="0" tIns="0" rIns="0" bIns="0" rtlCol="0" anchor="ctr"/>
          <a:lstStyle/>
          <a:p>
            <a:pPr marL="0" indent="0">
              <a:buNone/>
            </a:pPr>
            <a:r>
              <a:rPr lang="en-US" sz="1100" b="1" kern="0" spc="200" dirty="0">
                <a:solidFill>
                  <a:srgbClr val="0D7C8C"/>
                </a:solidFill>
                <a:latin typeface="Calibri" pitchFamily="34" charset="0"/>
                <a:ea typeface="Calibri" pitchFamily="34" charset="-122"/>
                <a:cs typeface="Calibri" pitchFamily="34" charset="-120"/>
              </a:rPr>
              <a:t>Key Finding</a:t>
            </a:r>
            <a:endParaRPr lang="en-US" sz="1100" dirty="0"/>
          </a:p>
        </p:txBody>
      </p:sp>
      <p:sp>
        <p:nvSpPr>
          <p:cNvPr id="6" name="Text 4"/>
          <p:cNvSpPr/>
          <p:nvPr/>
        </p:nvSpPr>
        <p:spPr>
          <a:xfrm>
            <a:off x="274320" y="1234440"/>
            <a:ext cx="2926080" cy="3474720"/>
          </a:xfrm>
          <a:prstGeom prst="rect">
            <a:avLst/>
          </a:prstGeom>
          <a:noFill/>
          <a:ln/>
        </p:spPr>
        <p:txBody>
          <a:bodyPr wrap="square" lIns="0" tIns="0" rIns="0" bIns="0" rtlCol="0" anchor="t"/>
          <a:lstStyle/>
          <a:p>
            <a:pPr marL="0" indent="0">
              <a:buNone/>
            </a:pPr>
            <a:r>
              <a:rPr lang="en-US" sz="1300" dirty="0">
                <a:solidFill>
                  <a:srgbClr val="1C2B4A"/>
                </a:solidFill>
                <a:latin typeface="Calibri" pitchFamily="34" charset="0"/>
                <a:ea typeface="Calibri" pitchFamily="34" charset="-122"/>
                <a:cs typeface="Calibri" pitchFamily="34" charset="-120"/>
              </a:rPr>
              <a:t>Two distinct screening waves are visible:</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1. Early Childhood Peak (ages ~5–10): Represents proactive early intervention — the standard recommended window for ASD diagnosis.</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2. Young Adult Peak (ages ~20–30): A second wave of diagnoses in adulthood, suggesting many individuals were missed during childhood screening.</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The diagnosed (orange) group shows a proportionally heavier young adult peak than the undiagnosed (gray), implying late-identified adults are a substantial clinical population.</a:t>
            </a:r>
            <a:endParaRPr lang="en-US" sz="1300" dirty="0"/>
          </a:p>
        </p:txBody>
      </p:sp>
      <p:pic>
        <p:nvPicPr>
          <p:cNvPr id="7" name="Image 0" descr="preencoded.png"/>
          <p:cNvPicPr>
            <a:picLocks noChangeAspect="1"/>
          </p:cNvPicPr>
          <p:nvPr/>
        </p:nvPicPr>
        <p:blipFill>
          <a:blip r:embed="rId3"/>
          <a:stretch>
            <a:fillRect/>
          </a:stretch>
        </p:blipFill>
        <p:spPr>
          <a:xfrm>
            <a:off x="3611880" y="713232"/>
            <a:ext cx="5349240" cy="4206240"/>
          </a:xfrm>
          <a:prstGeom prst="rect">
            <a:avLst/>
          </a:prstGeom>
        </p:spPr>
      </p:pic>
      <p:sp>
        <p:nvSpPr>
          <p:cNvPr id="8" name="Text 5"/>
          <p:cNvSpPr/>
          <p:nvPr/>
        </p:nvSpPr>
        <p:spPr>
          <a:xfrm>
            <a:off x="3611880" y="4846320"/>
            <a:ext cx="534924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Fig 3: KDE density by diagnosis — multimodal age peaks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7722"/>
          </a:solidFill>
          <a:ln/>
        </p:spPr>
        <p:txBody>
          <a:bodyPr/>
          <a:lstStyle/>
          <a:p>
            <a:endParaRPr lang="en-IN"/>
          </a:p>
        </p:txBody>
      </p:sp>
      <p:sp>
        <p:nvSpPr>
          <p:cNvPr id="3" name="Shape 1"/>
          <p:cNvSpPr/>
          <p:nvPr/>
        </p:nvSpPr>
        <p:spPr>
          <a:xfrm>
            <a:off x="0" y="4389120"/>
            <a:ext cx="9144000" cy="754380"/>
          </a:xfrm>
          <a:prstGeom prst="rect">
            <a:avLst/>
          </a:prstGeom>
          <a:solidFill>
            <a:srgbClr val="0D7C8C"/>
          </a:solidFill>
          <a:ln/>
        </p:spPr>
        <p:txBody>
          <a:bodyPr/>
          <a:lstStyle/>
          <a:p>
            <a:endParaRPr lang="en-IN"/>
          </a:p>
        </p:txBody>
      </p:sp>
      <p:sp>
        <p:nvSpPr>
          <p:cNvPr id="4" name="Text 2"/>
          <p:cNvSpPr/>
          <p:nvPr/>
        </p:nvSpPr>
        <p:spPr>
          <a:xfrm>
            <a:off x="365760" y="1554480"/>
            <a:ext cx="8412480" cy="10058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EDA — Medical Risk Factors</a:t>
            </a:r>
            <a:endParaRPr lang="en-US" sz="3600" dirty="0"/>
          </a:p>
        </p:txBody>
      </p:sp>
      <p:sp>
        <p:nvSpPr>
          <p:cNvPr id="5" name="Text 3"/>
          <p:cNvSpPr/>
          <p:nvPr/>
        </p:nvSpPr>
        <p:spPr>
          <a:xfrm>
            <a:off x="365760" y="2651760"/>
            <a:ext cx="8412480" cy="548640"/>
          </a:xfrm>
          <a:prstGeom prst="rect">
            <a:avLst/>
          </a:prstGeom>
          <a:noFill/>
          <a:ln/>
        </p:spPr>
        <p:txBody>
          <a:bodyPr wrap="square" lIns="0" tIns="0" rIns="0" bIns="0" rtlCol="0" anchor="ctr"/>
          <a:lstStyle/>
          <a:p>
            <a:pPr marL="0" indent="0">
              <a:buNone/>
            </a:pPr>
            <a:r>
              <a:rPr lang="en-US" sz="1800" i="1" dirty="0">
                <a:solidFill>
                  <a:srgbClr val="B0C4D8"/>
                </a:solidFill>
                <a:latin typeface="Calibri" pitchFamily="34" charset="0"/>
                <a:ea typeface="Calibri" pitchFamily="34" charset="-122"/>
                <a:cs typeface="Calibri" pitchFamily="34" charset="-120"/>
              </a:rPr>
              <a:t>Jaundice, Family ASD history, and their combined impact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Prevalence of Medical Risk Factors</a:t>
            </a:r>
            <a:endParaRPr lang="en-US" sz="1800" dirty="0"/>
          </a:p>
        </p:txBody>
      </p:sp>
      <p:sp>
        <p:nvSpPr>
          <p:cNvPr id="4" name="Shape 2"/>
          <p:cNvSpPr/>
          <p:nvPr/>
        </p:nvSpPr>
        <p:spPr>
          <a:xfrm>
            <a:off x="182880" y="731520"/>
            <a:ext cx="3200400" cy="4206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Text 3"/>
          <p:cNvSpPr/>
          <p:nvPr/>
        </p:nvSpPr>
        <p:spPr>
          <a:xfrm>
            <a:off x="274320" y="841248"/>
            <a:ext cx="3017520" cy="320040"/>
          </a:xfrm>
          <a:prstGeom prst="rect">
            <a:avLst/>
          </a:prstGeom>
          <a:noFill/>
          <a:ln/>
        </p:spPr>
        <p:txBody>
          <a:bodyPr wrap="square" lIns="0" tIns="0" rIns="0" bIns="0" rtlCol="0" anchor="ctr"/>
          <a:lstStyle/>
          <a:p>
            <a:pPr marL="0" indent="0">
              <a:buNone/>
            </a:pPr>
            <a:r>
              <a:rPr lang="en-US" sz="1100" b="1" kern="0" spc="200" dirty="0">
                <a:solidFill>
                  <a:srgbClr val="0D7C8C"/>
                </a:solidFill>
                <a:latin typeface="Calibri" pitchFamily="34" charset="0"/>
                <a:ea typeface="Calibri" pitchFamily="34" charset="-122"/>
                <a:cs typeface="Calibri" pitchFamily="34" charset="-120"/>
              </a:rPr>
              <a:t>Key Finding</a:t>
            </a:r>
            <a:endParaRPr lang="en-US" sz="1100" dirty="0"/>
          </a:p>
        </p:txBody>
      </p:sp>
      <p:sp>
        <p:nvSpPr>
          <p:cNvPr id="6" name="Text 4"/>
          <p:cNvSpPr/>
          <p:nvPr/>
        </p:nvSpPr>
        <p:spPr>
          <a:xfrm>
            <a:off x="274320" y="1234440"/>
            <a:ext cx="2926080" cy="3474720"/>
          </a:xfrm>
          <a:prstGeom prst="rect">
            <a:avLst/>
          </a:prstGeom>
          <a:noFill/>
          <a:ln/>
        </p:spPr>
        <p:txBody>
          <a:bodyPr wrap="square" lIns="0" tIns="0" rIns="0" bIns="0" rtlCol="0" anchor="t"/>
          <a:lstStyle/>
          <a:p>
            <a:pPr marL="0" indent="0">
              <a:buNone/>
            </a:pPr>
            <a:r>
              <a:rPr lang="en-US" sz="1300" dirty="0">
                <a:solidFill>
                  <a:srgbClr val="1C2B4A"/>
                </a:solidFill>
                <a:latin typeface="Calibri" pitchFamily="34" charset="0"/>
                <a:ea typeface="Calibri" pitchFamily="34" charset="-122"/>
                <a:cs typeface="Calibri" pitchFamily="34" charset="-120"/>
              </a:rPr>
              <a:t>Two independent baseline risk factors were measured:</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 Jaundice at Birth: 17.2% prevalence (1,045 individuals). Neonatal jaundice causes bilirubin toxicity, a known neurological risk factor.</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 Family ASD History: 18.5% prevalence (1,122 individuals). Genetic predisposition is one of the strongest known ASD risk factors.</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The similarity in prevalence rates (~17–18%) makes them ideal for intersectional analysis to study compounding risk effects.</a:t>
            </a:r>
            <a:endParaRPr lang="en-US" sz="1300" dirty="0"/>
          </a:p>
        </p:txBody>
      </p:sp>
      <p:pic>
        <p:nvPicPr>
          <p:cNvPr id="7" name="Image 0" descr="preencoded.png"/>
          <p:cNvPicPr>
            <a:picLocks noChangeAspect="1"/>
          </p:cNvPicPr>
          <p:nvPr/>
        </p:nvPicPr>
        <p:blipFill>
          <a:blip r:embed="rId3"/>
          <a:stretch>
            <a:fillRect/>
          </a:stretch>
        </p:blipFill>
        <p:spPr>
          <a:xfrm>
            <a:off x="3611880" y="713232"/>
            <a:ext cx="5349240" cy="4023360"/>
          </a:xfrm>
          <a:prstGeom prst="rect">
            <a:avLst/>
          </a:prstGeom>
        </p:spPr>
      </p:pic>
      <p:sp>
        <p:nvSpPr>
          <p:cNvPr id="8" name="Text 5"/>
          <p:cNvSpPr/>
          <p:nvPr/>
        </p:nvSpPr>
        <p:spPr>
          <a:xfrm>
            <a:off x="3611880" y="4846320"/>
            <a:ext cx="534924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Fig 4: Donut charts — individual medical risk factor prevalence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Risk Factor Intersection — Segmentation Result</a:t>
            </a:r>
            <a:endParaRPr lang="en-US" sz="1800" dirty="0"/>
          </a:p>
        </p:txBody>
      </p:sp>
      <p:sp>
        <p:nvSpPr>
          <p:cNvPr id="4" name="Shape 2"/>
          <p:cNvSpPr/>
          <p:nvPr/>
        </p:nvSpPr>
        <p:spPr>
          <a:xfrm>
            <a:off x="182880" y="731520"/>
            <a:ext cx="3200400" cy="4206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Text 3"/>
          <p:cNvSpPr/>
          <p:nvPr/>
        </p:nvSpPr>
        <p:spPr>
          <a:xfrm>
            <a:off x="274320" y="841248"/>
            <a:ext cx="3017520" cy="320040"/>
          </a:xfrm>
          <a:prstGeom prst="rect">
            <a:avLst/>
          </a:prstGeom>
          <a:noFill/>
          <a:ln/>
        </p:spPr>
        <p:txBody>
          <a:bodyPr wrap="square" lIns="0" tIns="0" rIns="0" bIns="0" rtlCol="0" anchor="ctr"/>
          <a:lstStyle/>
          <a:p>
            <a:pPr marL="0" indent="0">
              <a:buNone/>
            </a:pPr>
            <a:r>
              <a:rPr lang="en-US" sz="1100" b="1" kern="0" spc="200" dirty="0">
                <a:solidFill>
                  <a:srgbClr val="0D7C8C"/>
                </a:solidFill>
                <a:latin typeface="Calibri" pitchFamily="34" charset="0"/>
                <a:ea typeface="Calibri" pitchFamily="34" charset="-122"/>
                <a:cs typeface="Calibri" pitchFamily="34" charset="-120"/>
              </a:rPr>
              <a:t>Key Finding</a:t>
            </a:r>
            <a:endParaRPr lang="en-US" sz="1100" dirty="0"/>
          </a:p>
        </p:txBody>
      </p:sp>
      <p:sp>
        <p:nvSpPr>
          <p:cNvPr id="6" name="Text 4"/>
          <p:cNvSpPr/>
          <p:nvPr/>
        </p:nvSpPr>
        <p:spPr>
          <a:xfrm>
            <a:off x="274320" y="1234440"/>
            <a:ext cx="2926080" cy="3474720"/>
          </a:xfrm>
          <a:prstGeom prst="rect">
            <a:avLst/>
          </a:prstGeom>
          <a:noFill/>
          <a:ln/>
        </p:spPr>
        <p:txBody>
          <a:bodyPr wrap="square" lIns="0" tIns="0" rIns="0" bIns="0" rtlCol="0" anchor="t"/>
          <a:lstStyle/>
          <a:p>
            <a:pPr marL="0" indent="0">
              <a:buNone/>
            </a:pPr>
            <a:r>
              <a:rPr lang="en-US" sz="1300" dirty="0">
                <a:solidFill>
                  <a:srgbClr val="1C2B4A"/>
                </a:solidFill>
                <a:latin typeface="Calibri" pitchFamily="34" charset="0"/>
                <a:ea typeface="Calibri" pitchFamily="34" charset="-122"/>
                <a:cs typeface="Calibri" pitchFamily="34" charset="-120"/>
              </a:rPr>
              <a:t>The four mutually exclusive risk groups revealed:</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 Neither risk factor: 4,175 (68.7%)</a:t>
            </a: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 Family ASD Only: 855 (14.1%)</a:t>
            </a: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 Jaundice Only: 778 (12.8%)</a:t>
            </a: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 Both (High Risk): 267 (4.4%)</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The 267 dual-risk individuals form a critical high-risk cohort. Why engineer this? Rather than analyzing each risk factor in isolation, combining them captures compounding biological vulnerability — which is clinically more meaningful.</a:t>
            </a:r>
            <a:endParaRPr lang="en-US" sz="1300" dirty="0"/>
          </a:p>
        </p:txBody>
      </p:sp>
      <p:pic>
        <p:nvPicPr>
          <p:cNvPr id="7" name="Image 0" descr="preencoded.png"/>
          <p:cNvPicPr>
            <a:picLocks noChangeAspect="1"/>
          </p:cNvPicPr>
          <p:nvPr/>
        </p:nvPicPr>
        <p:blipFill>
          <a:blip r:embed="rId3"/>
          <a:stretch>
            <a:fillRect/>
          </a:stretch>
        </p:blipFill>
        <p:spPr>
          <a:xfrm>
            <a:off x="3611880" y="713232"/>
            <a:ext cx="5349240" cy="4023360"/>
          </a:xfrm>
          <a:prstGeom prst="rect">
            <a:avLst/>
          </a:prstGeom>
        </p:spPr>
      </p:pic>
      <p:sp>
        <p:nvSpPr>
          <p:cNvPr id="8" name="Text 5"/>
          <p:cNvSpPr/>
          <p:nvPr/>
        </p:nvSpPr>
        <p:spPr>
          <a:xfrm>
            <a:off x="3611880" y="4846320"/>
            <a:ext cx="534924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Fig 5: Risk overlap countplot — four mutually exclusive groups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Demographic Risk Heatmap — Gender × Family History</a:t>
            </a:r>
            <a:endParaRPr lang="en-US" sz="1800" dirty="0"/>
          </a:p>
        </p:txBody>
      </p:sp>
      <p:sp>
        <p:nvSpPr>
          <p:cNvPr id="4" name="Shape 2"/>
          <p:cNvSpPr/>
          <p:nvPr/>
        </p:nvSpPr>
        <p:spPr>
          <a:xfrm>
            <a:off x="182880" y="731520"/>
            <a:ext cx="3200400" cy="4206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Text 3"/>
          <p:cNvSpPr/>
          <p:nvPr/>
        </p:nvSpPr>
        <p:spPr>
          <a:xfrm>
            <a:off x="274320" y="841248"/>
            <a:ext cx="3017520" cy="320040"/>
          </a:xfrm>
          <a:prstGeom prst="rect">
            <a:avLst/>
          </a:prstGeom>
          <a:noFill/>
          <a:ln/>
        </p:spPr>
        <p:txBody>
          <a:bodyPr wrap="square" lIns="0" tIns="0" rIns="0" bIns="0" rtlCol="0" anchor="ctr"/>
          <a:lstStyle/>
          <a:p>
            <a:pPr marL="0" indent="0">
              <a:buNone/>
            </a:pPr>
            <a:r>
              <a:rPr lang="en-US" sz="1100" b="1" kern="0" spc="200" dirty="0">
                <a:solidFill>
                  <a:srgbClr val="0D7C8C"/>
                </a:solidFill>
                <a:latin typeface="Calibri" pitchFamily="34" charset="0"/>
                <a:ea typeface="Calibri" pitchFamily="34" charset="-122"/>
                <a:cs typeface="Calibri" pitchFamily="34" charset="-120"/>
              </a:rPr>
              <a:t>Key Finding</a:t>
            </a:r>
            <a:endParaRPr lang="en-US" sz="1100" dirty="0"/>
          </a:p>
        </p:txBody>
      </p:sp>
      <p:sp>
        <p:nvSpPr>
          <p:cNvPr id="6" name="Text 4"/>
          <p:cNvSpPr/>
          <p:nvPr/>
        </p:nvSpPr>
        <p:spPr>
          <a:xfrm>
            <a:off x="274320" y="1234440"/>
            <a:ext cx="2926080" cy="3474720"/>
          </a:xfrm>
          <a:prstGeom prst="rect">
            <a:avLst/>
          </a:prstGeom>
          <a:noFill/>
          <a:ln/>
        </p:spPr>
        <p:txBody>
          <a:bodyPr wrap="square" lIns="0" tIns="0" rIns="0" bIns="0" rtlCol="0" anchor="t"/>
          <a:lstStyle/>
          <a:p>
            <a:pPr marL="0" indent="0">
              <a:buNone/>
            </a:pPr>
            <a:r>
              <a:rPr lang="en-US" sz="1300" dirty="0">
                <a:solidFill>
                  <a:srgbClr val="1C2B4A"/>
                </a:solidFill>
                <a:latin typeface="Calibri" pitchFamily="34" charset="0"/>
                <a:ea typeface="Calibri" pitchFamily="34" charset="-122"/>
                <a:cs typeface="Calibri" pitchFamily="34" charset="-120"/>
              </a:rPr>
              <a:t>The cross-tabulation of gender and family ASD history reveals a compound risk gradient:</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 Females + Family ASD: 42.7% diagnosis rate — the single highest risk subgroup in the dataset.</a:t>
            </a: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 Males + Family ASD: 37.6%</a:t>
            </a: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 Females, no family history: ~28%</a:t>
            </a: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 Males, no family history: ~26%</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The finding that genetic history amplifies female diagnosis rates disproportionately more than male suggests complex gene-sex interaction effects in ASD presentation.</a:t>
            </a:r>
            <a:endParaRPr lang="en-US" sz="1300" dirty="0"/>
          </a:p>
        </p:txBody>
      </p:sp>
      <p:pic>
        <p:nvPicPr>
          <p:cNvPr id="7" name="Image 0" descr="preencoded.png"/>
          <p:cNvPicPr>
            <a:picLocks noChangeAspect="1"/>
          </p:cNvPicPr>
          <p:nvPr/>
        </p:nvPicPr>
        <p:blipFill>
          <a:blip r:embed="rId3"/>
          <a:stretch>
            <a:fillRect/>
          </a:stretch>
        </p:blipFill>
        <p:spPr>
          <a:xfrm>
            <a:off x="3611880" y="713232"/>
            <a:ext cx="5349240" cy="4114800"/>
          </a:xfrm>
          <a:prstGeom prst="rect">
            <a:avLst/>
          </a:prstGeom>
        </p:spPr>
      </p:pic>
      <p:sp>
        <p:nvSpPr>
          <p:cNvPr id="8" name="Text 5"/>
          <p:cNvSpPr/>
          <p:nvPr/>
        </p:nvSpPr>
        <p:spPr>
          <a:xfrm>
            <a:off x="3611880" y="4846320"/>
            <a:ext cx="534924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Fig 6: Heatmap — % ASD diagnosis by gender × family history</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7722"/>
          </a:solidFill>
          <a:ln/>
        </p:spPr>
        <p:txBody>
          <a:bodyPr/>
          <a:lstStyle/>
          <a:p>
            <a:endParaRPr lang="en-IN"/>
          </a:p>
        </p:txBody>
      </p:sp>
      <p:sp>
        <p:nvSpPr>
          <p:cNvPr id="3" name="Shape 1"/>
          <p:cNvSpPr/>
          <p:nvPr/>
        </p:nvSpPr>
        <p:spPr>
          <a:xfrm>
            <a:off x="0" y="4389120"/>
            <a:ext cx="9144000" cy="754380"/>
          </a:xfrm>
          <a:prstGeom prst="rect">
            <a:avLst/>
          </a:prstGeom>
          <a:solidFill>
            <a:srgbClr val="0D7C8C"/>
          </a:solidFill>
          <a:ln/>
        </p:spPr>
        <p:txBody>
          <a:bodyPr/>
          <a:lstStyle/>
          <a:p>
            <a:endParaRPr lang="en-IN"/>
          </a:p>
        </p:txBody>
      </p:sp>
      <p:sp>
        <p:nvSpPr>
          <p:cNvPr id="4" name="Text 2"/>
          <p:cNvSpPr/>
          <p:nvPr/>
        </p:nvSpPr>
        <p:spPr>
          <a:xfrm>
            <a:off x="365760" y="1554480"/>
            <a:ext cx="8412480" cy="10058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Feature Engineering</a:t>
            </a:r>
            <a:endParaRPr lang="en-US" sz="3600" dirty="0"/>
          </a:p>
        </p:txBody>
      </p:sp>
      <p:sp>
        <p:nvSpPr>
          <p:cNvPr id="5" name="Text 3"/>
          <p:cNvSpPr/>
          <p:nvPr/>
        </p:nvSpPr>
        <p:spPr>
          <a:xfrm>
            <a:off x="365760" y="2651760"/>
            <a:ext cx="8412480" cy="548640"/>
          </a:xfrm>
          <a:prstGeom prst="rect">
            <a:avLst/>
          </a:prstGeom>
          <a:noFill/>
          <a:ln/>
        </p:spPr>
        <p:txBody>
          <a:bodyPr wrap="square" lIns="0" tIns="0" rIns="0" bIns="0" rtlCol="0" anchor="ctr"/>
          <a:lstStyle/>
          <a:p>
            <a:pPr marL="0" indent="0">
              <a:buNone/>
            </a:pPr>
            <a:r>
              <a:rPr lang="en-US" sz="1800" i="1" dirty="0">
                <a:solidFill>
                  <a:srgbClr val="B0C4D8"/>
                </a:solidFill>
                <a:latin typeface="Calibri" pitchFamily="34" charset="0"/>
                <a:ea typeface="Calibri" pitchFamily="34" charset="-122"/>
                <a:cs typeface="Calibri" pitchFamily="34" charset="-120"/>
              </a:rPr>
              <a:t>Why we built these features — not how</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Composite Scores — Why We Built Them</a:t>
            </a:r>
            <a:endParaRPr lang="en-US" sz="1800" dirty="0"/>
          </a:p>
        </p:txBody>
      </p:sp>
      <p:sp>
        <p:nvSpPr>
          <p:cNvPr id="4" name="Shape 2"/>
          <p:cNvSpPr/>
          <p:nvPr/>
        </p:nvSpPr>
        <p:spPr>
          <a:xfrm>
            <a:off x="182880" y="777240"/>
            <a:ext cx="8778240" cy="960120"/>
          </a:xfrm>
          <a:prstGeom prst="rect">
            <a:avLst/>
          </a:prstGeom>
          <a:solidFill>
            <a:srgbClr val="FFFFFF"/>
          </a:solidFill>
          <a:ln/>
          <a:effectLst>
            <a:outerShdw blurRad="63500" dist="12700" dir="8100000" algn="bl" rotWithShape="0">
              <a:srgbClr val="000000">
                <a:alpha val="7000"/>
              </a:srgbClr>
            </a:outerShdw>
          </a:effectLst>
        </p:spPr>
        <p:txBody>
          <a:bodyPr/>
          <a:lstStyle/>
          <a:p>
            <a:endParaRPr lang="en-IN"/>
          </a:p>
        </p:txBody>
      </p:sp>
      <p:sp>
        <p:nvSpPr>
          <p:cNvPr id="5" name="Shape 3"/>
          <p:cNvSpPr/>
          <p:nvPr/>
        </p:nvSpPr>
        <p:spPr>
          <a:xfrm>
            <a:off x="182880" y="777240"/>
            <a:ext cx="64008" cy="960120"/>
          </a:xfrm>
          <a:prstGeom prst="rect">
            <a:avLst/>
          </a:prstGeom>
          <a:solidFill>
            <a:srgbClr val="E87722"/>
          </a:solidFill>
          <a:ln/>
        </p:spPr>
        <p:txBody>
          <a:bodyPr/>
          <a:lstStyle/>
          <a:p>
            <a:endParaRPr lang="en-IN"/>
          </a:p>
        </p:txBody>
      </p:sp>
      <p:sp>
        <p:nvSpPr>
          <p:cNvPr id="6" name="Text 4"/>
          <p:cNvSpPr/>
          <p:nvPr/>
        </p:nvSpPr>
        <p:spPr>
          <a:xfrm>
            <a:off x="347472" y="850392"/>
            <a:ext cx="3474720" cy="274320"/>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Social Interaction Score (0–3)</a:t>
            </a:r>
            <a:endParaRPr lang="en-US" sz="1200" dirty="0"/>
          </a:p>
        </p:txBody>
      </p:sp>
      <p:sp>
        <p:nvSpPr>
          <p:cNvPr id="7" name="Text 5"/>
          <p:cNvSpPr/>
          <p:nvPr/>
        </p:nvSpPr>
        <p:spPr>
          <a:xfrm>
            <a:off x="3931920" y="850392"/>
            <a:ext cx="4937760" cy="256032"/>
          </a:xfrm>
          <a:prstGeom prst="rect">
            <a:avLst/>
          </a:prstGeom>
          <a:noFill/>
          <a:ln/>
        </p:spPr>
        <p:txBody>
          <a:bodyPr wrap="square" lIns="0" tIns="0" rIns="0" bIns="0" rtlCol="0" anchor="ctr"/>
          <a:lstStyle/>
          <a:p>
            <a:pPr marL="0" indent="0">
              <a:buNone/>
            </a:pPr>
            <a:r>
              <a:rPr lang="en-US" sz="1100" b="1" dirty="0">
                <a:solidFill>
                  <a:srgbClr val="0D7C8C"/>
                </a:solidFill>
                <a:latin typeface="Calibri" pitchFamily="34" charset="0"/>
                <a:ea typeface="Calibri" pitchFamily="34" charset="-122"/>
                <a:cs typeface="Calibri" pitchFamily="34" charset="-120"/>
              </a:rPr>
              <a:t>A1 + A2 + A6</a:t>
            </a:r>
            <a:endParaRPr lang="en-US" sz="1100" dirty="0"/>
          </a:p>
        </p:txBody>
      </p:sp>
      <p:sp>
        <p:nvSpPr>
          <p:cNvPr id="8" name="Text 6"/>
          <p:cNvSpPr/>
          <p:nvPr/>
        </p:nvSpPr>
        <p:spPr>
          <a:xfrm>
            <a:off x="347472" y="1143000"/>
            <a:ext cx="8503920" cy="53035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A1, A2, and A6 all measure eye contact and gaze behavior — the core nonverbal social channel. Summing them creates a continuous signal of social engagement strength rather than treating each as isolated yes/no answers.</a:t>
            </a:r>
            <a:endParaRPr lang="en-US" sz="1100" dirty="0"/>
          </a:p>
        </p:txBody>
      </p:sp>
      <p:sp>
        <p:nvSpPr>
          <p:cNvPr id="9" name="Shape 7"/>
          <p:cNvSpPr/>
          <p:nvPr/>
        </p:nvSpPr>
        <p:spPr>
          <a:xfrm>
            <a:off x="182880" y="1847088"/>
            <a:ext cx="8778240" cy="960120"/>
          </a:xfrm>
          <a:prstGeom prst="rect">
            <a:avLst/>
          </a:prstGeom>
          <a:solidFill>
            <a:srgbClr val="FFFFFF"/>
          </a:solidFill>
          <a:ln/>
          <a:effectLst>
            <a:outerShdw blurRad="63500" dist="12700" dir="8100000" algn="bl" rotWithShape="0">
              <a:srgbClr val="000000">
                <a:alpha val="7000"/>
              </a:srgbClr>
            </a:outerShdw>
          </a:effectLst>
        </p:spPr>
        <p:txBody>
          <a:bodyPr/>
          <a:lstStyle/>
          <a:p>
            <a:endParaRPr lang="en-IN"/>
          </a:p>
        </p:txBody>
      </p:sp>
      <p:sp>
        <p:nvSpPr>
          <p:cNvPr id="10" name="Shape 8"/>
          <p:cNvSpPr/>
          <p:nvPr/>
        </p:nvSpPr>
        <p:spPr>
          <a:xfrm>
            <a:off x="182880" y="1847088"/>
            <a:ext cx="64008" cy="960120"/>
          </a:xfrm>
          <a:prstGeom prst="rect">
            <a:avLst/>
          </a:prstGeom>
          <a:solidFill>
            <a:srgbClr val="E87722"/>
          </a:solidFill>
          <a:ln/>
        </p:spPr>
        <p:txBody>
          <a:bodyPr/>
          <a:lstStyle/>
          <a:p>
            <a:endParaRPr lang="en-IN"/>
          </a:p>
        </p:txBody>
      </p:sp>
      <p:sp>
        <p:nvSpPr>
          <p:cNvPr id="11" name="Text 9"/>
          <p:cNvSpPr/>
          <p:nvPr/>
        </p:nvSpPr>
        <p:spPr>
          <a:xfrm>
            <a:off x="347472" y="1920240"/>
            <a:ext cx="3474720" cy="274320"/>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Communication Deficit Score (0–3)</a:t>
            </a:r>
            <a:endParaRPr lang="en-US" sz="1200" dirty="0"/>
          </a:p>
        </p:txBody>
      </p:sp>
      <p:sp>
        <p:nvSpPr>
          <p:cNvPr id="12" name="Text 10"/>
          <p:cNvSpPr/>
          <p:nvPr/>
        </p:nvSpPr>
        <p:spPr>
          <a:xfrm>
            <a:off x="3931920" y="1920240"/>
            <a:ext cx="4937760" cy="256032"/>
          </a:xfrm>
          <a:prstGeom prst="rect">
            <a:avLst/>
          </a:prstGeom>
          <a:noFill/>
          <a:ln/>
        </p:spPr>
        <p:txBody>
          <a:bodyPr wrap="square" lIns="0" tIns="0" rIns="0" bIns="0" rtlCol="0" anchor="ctr"/>
          <a:lstStyle/>
          <a:p>
            <a:pPr marL="0" indent="0">
              <a:buNone/>
            </a:pPr>
            <a:r>
              <a:rPr lang="en-US" sz="1100" b="1" dirty="0">
                <a:solidFill>
                  <a:srgbClr val="0D7C8C"/>
                </a:solidFill>
                <a:latin typeface="Calibri" pitchFamily="34" charset="0"/>
                <a:ea typeface="Calibri" pitchFamily="34" charset="-122"/>
                <a:cs typeface="Calibri" pitchFamily="34" charset="-120"/>
              </a:rPr>
              <a:t>(1–A3) + (1–A4) + (1–A9)</a:t>
            </a:r>
            <a:endParaRPr lang="en-US" sz="1100" dirty="0"/>
          </a:p>
        </p:txBody>
      </p:sp>
      <p:sp>
        <p:nvSpPr>
          <p:cNvPr id="13" name="Text 11"/>
          <p:cNvSpPr/>
          <p:nvPr/>
        </p:nvSpPr>
        <p:spPr>
          <a:xfrm>
            <a:off x="347472" y="2212848"/>
            <a:ext cx="8503920" cy="53035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Pointing and gesturing are the backbone of pre-verbal communication. Inverse coding (1 – value) flips the direction: absence of the ability becomes presence of the deficit. Higher scores expose greater communication breakdowns.</a:t>
            </a:r>
            <a:endParaRPr lang="en-US" sz="1100" dirty="0"/>
          </a:p>
        </p:txBody>
      </p:sp>
      <p:sp>
        <p:nvSpPr>
          <p:cNvPr id="14" name="Shape 12"/>
          <p:cNvSpPr/>
          <p:nvPr/>
        </p:nvSpPr>
        <p:spPr>
          <a:xfrm>
            <a:off x="182880" y="2916936"/>
            <a:ext cx="8778240" cy="960120"/>
          </a:xfrm>
          <a:prstGeom prst="rect">
            <a:avLst/>
          </a:prstGeom>
          <a:solidFill>
            <a:srgbClr val="FFFFFF"/>
          </a:solidFill>
          <a:ln/>
          <a:effectLst>
            <a:outerShdw blurRad="63500" dist="12700" dir="8100000" algn="bl" rotWithShape="0">
              <a:srgbClr val="000000">
                <a:alpha val="7000"/>
              </a:srgbClr>
            </a:outerShdw>
          </a:effectLst>
        </p:spPr>
        <p:txBody>
          <a:bodyPr/>
          <a:lstStyle/>
          <a:p>
            <a:endParaRPr lang="en-IN"/>
          </a:p>
        </p:txBody>
      </p:sp>
      <p:sp>
        <p:nvSpPr>
          <p:cNvPr id="15" name="Shape 13"/>
          <p:cNvSpPr/>
          <p:nvPr/>
        </p:nvSpPr>
        <p:spPr>
          <a:xfrm>
            <a:off x="182880" y="2916936"/>
            <a:ext cx="64008" cy="960120"/>
          </a:xfrm>
          <a:prstGeom prst="rect">
            <a:avLst/>
          </a:prstGeom>
          <a:solidFill>
            <a:srgbClr val="E87722"/>
          </a:solidFill>
          <a:ln/>
        </p:spPr>
        <p:txBody>
          <a:bodyPr/>
          <a:lstStyle/>
          <a:p>
            <a:endParaRPr lang="en-IN"/>
          </a:p>
        </p:txBody>
      </p:sp>
      <p:sp>
        <p:nvSpPr>
          <p:cNvPr id="16" name="Text 14"/>
          <p:cNvSpPr/>
          <p:nvPr/>
        </p:nvSpPr>
        <p:spPr>
          <a:xfrm>
            <a:off x="347472" y="2990088"/>
            <a:ext cx="3474720" cy="274320"/>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Behavioral Atypicality Score (0–4)</a:t>
            </a:r>
            <a:endParaRPr lang="en-US" sz="1200" dirty="0"/>
          </a:p>
        </p:txBody>
      </p:sp>
      <p:sp>
        <p:nvSpPr>
          <p:cNvPr id="17" name="Text 15"/>
          <p:cNvSpPr/>
          <p:nvPr/>
        </p:nvSpPr>
        <p:spPr>
          <a:xfrm>
            <a:off x="3931920" y="2990088"/>
            <a:ext cx="4937760" cy="256032"/>
          </a:xfrm>
          <a:prstGeom prst="rect">
            <a:avLst/>
          </a:prstGeom>
          <a:noFill/>
          <a:ln/>
        </p:spPr>
        <p:txBody>
          <a:bodyPr wrap="square" lIns="0" tIns="0" rIns="0" bIns="0" rtlCol="0" anchor="ctr"/>
          <a:lstStyle/>
          <a:p>
            <a:pPr marL="0" indent="0">
              <a:buNone/>
            </a:pPr>
            <a:r>
              <a:rPr lang="en-US" sz="1100" b="1" dirty="0">
                <a:solidFill>
                  <a:srgbClr val="0D7C8C"/>
                </a:solidFill>
                <a:latin typeface="Calibri" pitchFamily="34" charset="0"/>
                <a:ea typeface="Calibri" pitchFamily="34" charset="-122"/>
                <a:cs typeface="Calibri" pitchFamily="34" charset="-120"/>
              </a:rPr>
              <a:t>(1–A5) + (1–A7) + (1–A8) + A10</a:t>
            </a:r>
            <a:endParaRPr lang="en-US" sz="1100" dirty="0"/>
          </a:p>
        </p:txBody>
      </p:sp>
      <p:sp>
        <p:nvSpPr>
          <p:cNvPr id="18" name="Text 16"/>
          <p:cNvSpPr/>
          <p:nvPr/>
        </p:nvSpPr>
        <p:spPr>
          <a:xfrm>
            <a:off x="347472" y="3282696"/>
            <a:ext cx="8503920" cy="53035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Combines absence of normative behaviors (imagination, empathy, typical communication) with a direct atypical one (space-staring). This captures behavioral divergence from expected norms in a single clinical number.</a:t>
            </a:r>
            <a:endParaRPr lang="en-US" sz="1100" dirty="0"/>
          </a:p>
        </p:txBody>
      </p:sp>
      <p:sp>
        <p:nvSpPr>
          <p:cNvPr id="19" name="Shape 17"/>
          <p:cNvSpPr/>
          <p:nvPr/>
        </p:nvSpPr>
        <p:spPr>
          <a:xfrm>
            <a:off x="182880" y="3986784"/>
            <a:ext cx="8778240" cy="960120"/>
          </a:xfrm>
          <a:prstGeom prst="rect">
            <a:avLst/>
          </a:prstGeom>
          <a:solidFill>
            <a:srgbClr val="FFFFFF"/>
          </a:solidFill>
          <a:ln/>
          <a:effectLst>
            <a:outerShdw blurRad="63500" dist="12700" dir="8100000" algn="bl" rotWithShape="0">
              <a:srgbClr val="000000">
                <a:alpha val="7000"/>
              </a:srgbClr>
            </a:outerShdw>
          </a:effectLst>
        </p:spPr>
        <p:txBody>
          <a:bodyPr/>
          <a:lstStyle/>
          <a:p>
            <a:endParaRPr lang="en-IN"/>
          </a:p>
        </p:txBody>
      </p:sp>
      <p:sp>
        <p:nvSpPr>
          <p:cNvPr id="20" name="Shape 18"/>
          <p:cNvSpPr/>
          <p:nvPr/>
        </p:nvSpPr>
        <p:spPr>
          <a:xfrm>
            <a:off x="182880" y="3986784"/>
            <a:ext cx="64008" cy="960120"/>
          </a:xfrm>
          <a:prstGeom prst="rect">
            <a:avLst/>
          </a:prstGeom>
          <a:solidFill>
            <a:srgbClr val="E87722"/>
          </a:solidFill>
          <a:ln/>
        </p:spPr>
        <p:txBody>
          <a:bodyPr/>
          <a:lstStyle/>
          <a:p>
            <a:endParaRPr lang="en-IN"/>
          </a:p>
        </p:txBody>
      </p:sp>
      <p:sp>
        <p:nvSpPr>
          <p:cNvPr id="21" name="Text 19"/>
          <p:cNvSpPr/>
          <p:nvPr/>
        </p:nvSpPr>
        <p:spPr>
          <a:xfrm>
            <a:off x="347472" y="4059936"/>
            <a:ext cx="3474720" cy="274320"/>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Total Atypical Trait Burden (0–10)</a:t>
            </a:r>
            <a:endParaRPr lang="en-US" sz="1200" dirty="0"/>
          </a:p>
        </p:txBody>
      </p:sp>
      <p:sp>
        <p:nvSpPr>
          <p:cNvPr id="22" name="Text 20"/>
          <p:cNvSpPr/>
          <p:nvPr/>
        </p:nvSpPr>
        <p:spPr>
          <a:xfrm>
            <a:off x="3931920" y="4059936"/>
            <a:ext cx="4937760" cy="256032"/>
          </a:xfrm>
          <a:prstGeom prst="rect">
            <a:avLst/>
          </a:prstGeom>
          <a:noFill/>
          <a:ln/>
        </p:spPr>
        <p:txBody>
          <a:bodyPr wrap="square" lIns="0" tIns="0" rIns="0" bIns="0" rtlCol="0" anchor="ctr"/>
          <a:lstStyle/>
          <a:p>
            <a:pPr marL="0" indent="0">
              <a:buNone/>
            </a:pPr>
            <a:r>
              <a:rPr lang="en-US" sz="1100" b="1" dirty="0">
                <a:solidFill>
                  <a:srgbClr val="0D7C8C"/>
                </a:solidFill>
                <a:latin typeface="Calibri" pitchFamily="34" charset="0"/>
                <a:ea typeface="Calibri" pitchFamily="34" charset="-122"/>
                <a:cs typeface="Calibri" pitchFamily="34" charset="-120"/>
              </a:rPr>
              <a:t>Inverse sum of A1–A9 + A10</a:t>
            </a:r>
            <a:endParaRPr lang="en-US" sz="1100" dirty="0"/>
          </a:p>
        </p:txBody>
      </p:sp>
      <p:sp>
        <p:nvSpPr>
          <p:cNvPr id="23" name="Text 21"/>
          <p:cNvSpPr/>
          <p:nvPr/>
        </p:nvSpPr>
        <p:spPr>
          <a:xfrm>
            <a:off x="347472" y="4352544"/>
            <a:ext cx="8503920" cy="530352"/>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 global severity metric across the full A-scale. Enables ranking patients on a single clinical scale — essential for comparing across demographics and validating the other sub-scores.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Total Atypical Trait Burden Distribution by Diagnosis</a:t>
            </a:r>
            <a:endParaRPr lang="en-US" sz="1800" dirty="0"/>
          </a:p>
        </p:txBody>
      </p:sp>
      <p:sp>
        <p:nvSpPr>
          <p:cNvPr id="4" name="Shape 2"/>
          <p:cNvSpPr/>
          <p:nvPr/>
        </p:nvSpPr>
        <p:spPr>
          <a:xfrm>
            <a:off x="182880" y="731520"/>
            <a:ext cx="3200400" cy="4206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Text 3"/>
          <p:cNvSpPr/>
          <p:nvPr/>
        </p:nvSpPr>
        <p:spPr>
          <a:xfrm>
            <a:off x="274320" y="841248"/>
            <a:ext cx="3017520" cy="320040"/>
          </a:xfrm>
          <a:prstGeom prst="rect">
            <a:avLst/>
          </a:prstGeom>
          <a:noFill/>
          <a:ln/>
        </p:spPr>
        <p:txBody>
          <a:bodyPr wrap="square" lIns="0" tIns="0" rIns="0" bIns="0" rtlCol="0" anchor="ctr"/>
          <a:lstStyle/>
          <a:p>
            <a:pPr marL="0" indent="0">
              <a:buNone/>
            </a:pPr>
            <a:r>
              <a:rPr lang="en-US" sz="1100" b="1" kern="0" spc="200" dirty="0">
                <a:solidFill>
                  <a:srgbClr val="0D7C8C"/>
                </a:solidFill>
                <a:latin typeface="Calibri" pitchFamily="34" charset="0"/>
                <a:ea typeface="Calibri" pitchFamily="34" charset="-122"/>
                <a:cs typeface="Calibri" pitchFamily="34" charset="-120"/>
              </a:rPr>
              <a:t>Key Finding</a:t>
            </a:r>
            <a:endParaRPr lang="en-US" sz="1100" dirty="0"/>
          </a:p>
        </p:txBody>
      </p:sp>
      <p:sp>
        <p:nvSpPr>
          <p:cNvPr id="6" name="Text 4"/>
          <p:cNvSpPr/>
          <p:nvPr/>
        </p:nvSpPr>
        <p:spPr>
          <a:xfrm>
            <a:off x="274320" y="1234440"/>
            <a:ext cx="2926080" cy="3474720"/>
          </a:xfrm>
          <a:prstGeom prst="rect">
            <a:avLst/>
          </a:prstGeom>
          <a:noFill/>
          <a:ln/>
        </p:spPr>
        <p:txBody>
          <a:bodyPr wrap="square" lIns="0" tIns="0" rIns="0" bIns="0" rtlCol="0" anchor="t"/>
          <a:lstStyle/>
          <a:p>
            <a:pPr marL="0" indent="0">
              <a:buNone/>
            </a:pPr>
            <a:r>
              <a:rPr lang="en-US" sz="1300" dirty="0">
                <a:solidFill>
                  <a:srgbClr val="1C2B4A"/>
                </a:solidFill>
                <a:latin typeface="Calibri" pitchFamily="34" charset="0"/>
                <a:ea typeface="Calibri" pitchFamily="34" charset="-122"/>
                <a:cs typeface="Calibri" pitchFamily="34" charset="-120"/>
              </a:rPr>
              <a:t>The trait burden distribution shows a clear separation between diagnosed and undiagnosed:</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Diagnosed (ASD Yes): Heavy concentration at higher burden scores (6–10), with a peak around 7–8.</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Undiagnosed (ASD No): Concentrated at lower-to-mid burden scores (2–5).</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This validates that the Total Atypical Trait Burden is a clinically meaningful severity gradient — not a random aggregation — and confirms it can differentiate population subgroups effectively.</a:t>
            </a:r>
            <a:endParaRPr lang="en-US" sz="1300" dirty="0"/>
          </a:p>
        </p:txBody>
      </p:sp>
      <p:pic>
        <p:nvPicPr>
          <p:cNvPr id="7" name="Image 0" descr="preencoded.png"/>
          <p:cNvPicPr>
            <a:picLocks noChangeAspect="1"/>
          </p:cNvPicPr>
          <p:nvPr/>
        </p:nvPicPr>
        <p:blipFill>
          <a:blip r:embed="rId3"/>
          <a:stretch>
            <a:fillRect/>
          </a:stretch>
        </p:blipFill>
        <p:spPr>
          <a:xfrm>
            <a:off x="3611880" y="713232"/>
            <a:ext cx="5349240" cy="4114800"/>
          </a:xfrm>
          <a:prstGeom prst="rect">
            <a:avLst/>
          </a:prstGeom>
        </p:spPr>
      </p:pic>
      <p:sp>
        <p:nvSpPr>
          <p:cNvPr id="8" name="Text 5"/>
          <p:cNvSpPr/>
          <p:nvPr/>
        </p:nvSpPr>
        <p:spPr>
          <a:xfrm>
            <a:off x="3611880" y="4846320"/>
            <a:ext cx="534924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Fig 7: Trait burden histplot with KDE — by diagnosis (Yes/No)</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Empathy vs. Imagination Profile — Feature Engineering</a:t>
            </a:r>
            <a:endParaRPr lang="en-US" sz="1800" dirty="0"/>
          </a:p>
        </p:txBody>
      </p:sp>
      <p:sp>
        <p:nvSpPr>
          <p:cNvPr id="4" name="Shape 2"/>
          <p:cNvSpPr/>
          <p:nvPr/>
        </p:nvSpPr>
        <p:spPr>
          <a:xfrm>
            <a:off x="182880" y="685800"/>
            <a:ext cx="3200400" cy="42519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Text 3"/>
          <p:cNvSpPr/>
          <p:nvPr/>
        </p:nvSpPr>
        <p:spPr>
          <a:xfrm>
            <a:off x="274320" y="795528"/>
            <a:ext cx="3017520" cy="274320"/>
          </a:xfrm>
          <a:prstGeom prst="rect">
            <a:avLst/>
          </a:prstGeom>
          <a:noFill/>
          <a:ln/>
        </p:spPr>
        <p:txBody>
          <a:bodyPr wrap="square" lIns="0" tIns="0" rIns="0" bIns="0" rtlCol="0" anchor="ctr"/>
          <a:lstStyle/>
          <a:p>
            <a:pPr marL="0" indent="0">
              <a:buNone/>
            </a:pPr>
            <a:r>
              <a:rPr lang="en-US" sz="1100" b="1" kern="0" spc="200" dirty="0">
                <a:solidFill>
                  <a:srgbClr val="0D7C8C"/>
                </a:solidFill>
                <a:latin typeface="Calibri" pitchFamily="34" charset="0"/>
                <a:ea typeface="Calibri" pitchFamily="34" charset="-122"/>
                <a:cs typeface="Calibri" pitchFamily="34" charset="-120"/>
              </a:rPr>
              <a:t>Why This Feature</a:t>
            </a:r>
            <a:endParaRPr lang="en-US" sz="1100" dirty="0"/>
          </a:p>
        </p:txBody>
      </p:sp>
      <p:sp>
        <p:nvSpPr>
          <p:cNvPr id="6" name="Text 4"/>
          <p:cNvSpPr/>
          <p:nvPr/>
        </p:nvSpPr>
        <p:spPr>
          <a:xfrm>
            <a:off x="274320" y="1115568"/>
            <a:ext cx="3017520" cy="3749040"/>
          </a:xfrm>
          <a:prstGeom prst="rect">
            <a:avLst/>
          </a:prstGeom>
          <a:noFill/>
          <a:ln/>
        </p:spPr>
        <p:txBody>
          <a:bodyPr wrap="square" lIns="0" tIns="0" rIns="0" bIns="0" rtlCol="0" anchor="t"/>
          <a:lstStyle/>
          <a:p>
            <a:pPr marL="0" indent="0">
              <a:buNone/>
            </a:pPr>
            <a:r>
              <a:rPr lang="en-US" sz="1200" dirty="0">
                <a:solidFill>
                  <a:srgbClr val="1C2B4A"/>
                </a:solidFill>
                <a:latin typeface="Calibri" pitchFamily="34" charset="0"/>
                <a:ea typeface="Calibri" pitchFamily="34" charset="-122"/>
                <a:cs typeface="Calibri" pitchFamily="34" charset="-120"/>
              </a:rPr>
              <a:t>Empathy (A7) and Imagination (A5) represent two distinct cognitive domains that both show deficits in ASD.</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Combining them separates three clinically distinct subgroups:</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 Global Deficit: Both empathy and imagination are absent — the most severe dual cognitive impairment profile (1,763 individuals, 29%).</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 Isolated Emotional Deficit: Can imagine and role-play, but cannot empathize — suggests intact cognitive capacity with emotional processing breakdown (1,287 individuals, 21%).</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 Other: Displays typical empathy — including those with full typical function (3,025 individuals, 50%).</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This is clinically richer than either A5 or A7 alone.</a:t>
            </a:r>
            <a:endParaRPr lang="en-US" sz="1200" dirty="0"/>
          </a:p>
        </p:txBody>
      </p:sp>
      <p:pic>
        <p:nvPicPr>
          <p:cNvPr id="7" name="Image 0" descr="preencoded.png"/>
          <p:cNvPicPr>
            <a:picLocks noChangeAspect="1"/>
          </p:cNvPicPr>
          <p:nvPr/>
        </p:nvPicPr>
        <p:blipFill>
          <a:blip r:embed="rId3"/>
          <a:stretch>
            <a:fillRect/>
          </a:stretch>
        </p:blipFill>
        <p:spPr>
          <a:xfrm>
            <a:off x="3566160" y="713232"/>
            <a:ext cx="5394960" cy="42062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Behavioral Archetypes — Logic-Based Clustering</a:t>
            </a:r>
            <a:endParaRPr lang="en-US" sz="1800" dirty="0"/>
          </a:p>
        </p:txBody>
      </p:sp>
      <p:sp>
        <p:nvSpPr>
          <p:cNvPr id="4" name="Text 2"/>
          <p:cNvSpPr/>
          <p:nvPr/>
        </p:nvSpPr>
        <p:spPr>
          <a:xfrm>
            <a:off x="228600" y="658368"/>
            <a:ext cx="868680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Why we built cascading logic thresholds instead of relying on raw scores alone:</a:t>
            </a:r>
            <a:endParaRPr lang="en-US" sz="1200" dirty="0"/>
          </a:p>
        </p:txBody>
      </p:sp>
      <p:sp>
        <p:nvSpPr>
          <p:cNvPr id="5" name="Shape 3"/>
          <p:cNvSpPr/>
          <p:nvPr/>
        </p:nvSpPr>
        <p:spPr>
          <a:xfrm>
            <a:off x="182880" y="996696"/>
            <a:ext cx="8778240" cy="713232"/>
          </a:xfrm>
          <a:prstGeom prst="rect">
            <a:avLst/>
          </a:prstGeom>
          <a:solidFill>
            <a:srgbClr val="FFFFFF"/>
          </a:solidFill>
          <a:ln/>
        </p:spPr>
        <p:txBody>
          <a:bodyPr/>
          <a:lstStyle/>
          <a:p>
            <a:endParaRPr lang="en-IN"/>
          </a:p>
        </p:txBody>
      </p:sp>
      <p:sp>
        <p:nvSpPr>
          <p:cNvPr id="6" name="Shape 4"/>
          <p:cNvSpPr/>
          <p:nvPr/>
        </p:nvSpPr>
        <p:spPr>
          <a:xfrm>
            <a:off x="182880" y="996696"/>
            <a:ext cx="1051560" cy="713232"/>
          </a:xfrm>
          <a:prstGeom prst="rect">
            <a:avLst/>
          </a:prstGeom>
          <a:solidFill>
            <a:srgbClr val="1C2B4A"/>
          </a:solidFill>
          <a:ln/>
        </p:spPr>
        <p:txBody>
          <a:bodyPr/>
          <a:lstStyle/>
          <a:p>
            <a:endParaRPr lang="en-IN"/>
          </a:p>
        </p:txBody>
      </p:sp>
      <p:sp>
        <p:nvSpPr>
          <p:cNvPr id="7" name="Text 5"/>
          <p:cNvSpPr/>
          <p:nvPr/>
        </p:nvSpPr>
        <p:spPr>
          <a:xfrm>
            <a:off x="182880" y="1088136"/>
            <a:ext cx="1051560" cy="502920"/>
          </a:xfrm>
          <a:prstGeom prst="rect">
            <a:avLst/>
          </a:prstGeom>
          <a:noFill/>
          <a:ln/>
        </p:spPr>
        <p:txBody>
          <a:bodyPr wrap="square" lIns="0" tIns="0" rIns="0" bIns="0" rtlCol="0" anchor="ctr"/>
          <a:lstStyle/>
          <a:p>
            <a:pPr marL="0" indent="0" algn="ctr">
              <a:buNone/>
            </a:pPr>
            <a:r>
              <a:rPr lang="en-US" sz="1700" b="1" dirty="0">
                <a:solidFill>
                  <a:srgbClr val="E87722"/>
                </a:solidFill>
                <a:latin typeface="Calibri" pitchFamily="34" charset="0"/>
                <a:ea typeface="Calibri" pitchFamily="34" charset="-122"/>
                <a:cs typeface="Calibri" pitchFamily="34" charset="-120"/>
              </a:rPr>
              <a:t>26.2%</a:t>
            </a:r>
            <a:endParaRPr lang="en-US" sz="1700" dirty="0"/>
          </a:p>
        </p:txBody>
      </p:sp>
      <p:sp>
        <p:nvSpPr>
          <p:cNvPr id="8" name="Text 6"/>
          <p:cNvSpPr/>
          <p:nvPr/>
        </p:nvSpPr>
        <p:spPr>
          <a:xfrm>
            <a:off x="1298448" y="1051560"/>
            <a:ext cx="2743200"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Severe Global Delay</a:t>
            </a:r>
            <a:endParaRPr lang="en-US" sz="1200" dirty="0"/>
          </a:p>
        </p:txBody>
      </p:sp>
      <p:sp>
        <p:nvSpPr>
          <p:cNvPr id="9" name="Text 7"/>
          <p:cNvSpPr/>
          <p:nvPr/>
        </p:nvSpPr>
        <p:spPr>
          <a:xfrm>
            <a:off x="1298448" y="1316736"/>
            <a:ext cx="3657600" cy="201168"/>
          </a:xfrm>
          <a:prstGeom prst="rect">
            <a:avLst/>
          </a:prstGeom>
          <a:noFill/>
          <a:ln/>
        </p:spPr>
        <p:txBody>
          <a:bodyPr wrap="square" lIns="0" tIns="0" rIns="0" bIns="0" rtlCol="0" anchor="ctr"/>
          <a:lstStyle/>
          <a:p>
            <a:pPr marL="0" indent="0">
              <a:buNone/>
            </a:pPr>
            <a:r>
              <a:rPr lang="en-US" sz="1000" dirty="0">
                <a:solidFill>
                  <a:srgbClr val="0D7C8C"/>
                </a:solidFill>
                <a:latin typeface="Calibri" pitchFamily="34" charset="0"/>
                <a:ea typeface="Calibri" pitchFamily="34" charset="-122"/>
                <a:cs typeface="Calibri" pitchFamily="34" charset="-120"/>
              </a:rPr>
              <a:t>Threshold: Social ≤1 AND Comm. Deficit ≥2 AND Atypicality ≥2</a:t>
            </a:r>
            <a:endParaRPr lang="en-US" sz="1000" dirty="0"/>
          </a:p>
        </p:txBody>
      </p:sp>
      <p:sp>
        <p:nvSpPr>
          <p:cNvPr id="10" name="Text 8"/>
          <p:cNvSpPr/>
          <p:nvPr/>
        </p:nvSpPr>
        <p:spPr>
          <a:xfrm>
            <a:off x="5029200" y="1161288"/>
            <a:ext cx="384048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Captures the most severe multi-domain presentation simultaneously.</a:t>
            </a:r>
            <a:endParaRPr lang="en-US" sz="1100" dirty="0"/>
          </a:p>
        </p:txBody>
      </p:sp>
      <p:sp>
        <p:nvSpPr>
          <p:cNvPr id="11" name="Shape 9"/>
          <p:cNvSpPr/>
          <p:nvPr/>
        </p:nvSpPr>
        <p:spPr>
          <a:xfrm>
            <a:off x="182880" y="1792224"/>
            <a:ext cx="8778240" cy="713232"/>
          </a:xfrm>
          <a:prstGeom prst="rect">
            <a:avLst/>
          </a:prstGeom>
          <a:solidFill>
            <a:srgbClr val="EEF3F7"/>
          </a:solidFill>
          <a:ln/>
        </p:spPr>
        <p:txBody>
          <a:bodyPr/>
          <a:lstStyle/>
          <a:p>
            <a:endParaRPr lang="en-IN"/>
          </a:p>
        </p:txBody>
      </p:sp>
      <p:sp>
        <p:nvSpPr>
          <p:cNvPr id="12" name="Shape 10"/>
          <p:cNvSpPr/>
          <p:nvPr/>
        </p:nvSpPr>
        <p:spPr>
          <a:xfrm>
            <a:off x="182880" y="1792224"/>
            <a:ext cx="1051560" cy="713232"/>
          </a:xfrm>
          <a:prstGeom prst="rect">
            <a:avLst/>
          </a:prstGeom>
          <a:solidFill>
            <a:srgbClr val="1C2B4A"/>
          </a:solidFill>
          <a:ln/>
        </p:spPr>
        <p:txBody>
          <a:bodyPr/>
          <a:lstStyle/>
          <a:p>
            <a:endParaRPr lang="en-IN"/>
          </a:p>
        </p:txBody>
      </p:sp>
      <p:sp>
        <p:nvSpPr>
          <p:cNvPr id="13" name="Text 11"/>
          <p:cNvSpPr/>
          <p:nvPr/>
        </p:nvSpPr>
        <p:spPr>
          <a:xfrm>
            <a:off x="182880" y="1883664"/>
            <a:ext cx="1051560" cy="502920"/>
          </a:xfrm>
          <a:prstGeom prst="rect">
            <a:avLst/>
          </a:prstGeom>
          <a:noFill/>
          <a:ln/>
        </p:spPr>
        <p:txBody>
          <a:bodyPr wrap="square" lIns="0" tIns="0" rIns="0" bIns="0" rtlCol="0" anchor="ctr"/>
          <a:lstStyle/>
          <a:p>
            <a:pPr marL="0" indent="0" algn="ctr">
              <a:buNone/>
            </a:pPr>
            <a:r>
              <a:rPr lang="en-US" sz="1700" b="1" dirty="0">
                <a:solidFill>
                  <a:srgbClr val="E87722"/>
                </a:solidFill>
                <a:latin typeface="Calibri" pitchFamily="34" charset="0"/>
                <a:ea typeface="Calibri" pitchFamily="34" charset="-122"/>
                <a:cs typeface="Calibri" pitchFamily="34" charset="-120"/>
              </a:rPr>
              <a:t>18.0%</a:t>
            </a:r>
            <a:endParaRPr lang="en-US" sz="1700" dirty="0"/>
          </a:p>
        </p:txBody>
      </p:sp>
      <p:sp>
        <p:nvSpPr>
          <p:cNvPr id="14" name="Text 12"/>
          <p:cNvSpPr/>
          <p:nvPr/>
        </p:nvSpPr>
        <p:spPr>
          <a:xfrm>
            <a:off x="1298448" y="1847088"/>
            <a:ext cx="2743200"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Communication Impaired</a:t>
            </a:r>
            <a:endParaRPr lang="en-US" sz="1200" dirty="0"/>
          </a:p>
        </p:txBody>
      </p:sp>
      <p:sp>
        <p:nvSpPr>
          <p:cNvPr id="15" name="Text 13"/>
          <p:cNvSpPr/>
          <p:nvPr/>
        </p:nvSpPr>
        <p:spPr>
          <a:xfrm>
            <a:off x="1298448" y="2112264"/>
            <a:ext cx="3657600" cy="201168"/>
          </a:xfrm>
          <a:prstGeom prst="rect">
            <a:avLst/>
          </a:prstGeom>
          <a:noFill/>
          <a:ln/>
        </p:spPr>
        <p:txBody>
          <a:bodyPr wrap="square" lIns="0" tIns="0" rIns="0" bIns="0" rtlCol="0" anchor="ctr"/>
          <a:lstStyle/>
          <a:p>
            <a:pPr marL="0" indent="0">
              <a:buNone/>
            </a:pPr>
            <a:r>
              <a:rPr lang="en-US" sz="1000" dirty="0">
                <a:solidFill>
                  <a:srgbClr val="0D7C8C"/>
                </a:solidFill>
                <a:latin typeface="Calibri" pitchFamily="34" charset="0"/>
                <a:ea typeface="Calibri" pitchFamily="34" charset="-122"/>
                <a:cs typeface="Calibri" pitchFamily="34" charset="-120"/>
              </a:rPr>
              <a:t>Threshold: Comm. Deficit ≥2 AND Social ≥2</a:t>
            </a:r>
            <a:endParaRPr lang="en-US" sz="1000" dirty="0"/>
          </a:p>
        </p:txBody>
      </p:sp>
      <p:sp>
        <p:nvSpPr>
          <p:cNvPr id="16" name="Text 14"/>
          <p:cNvSpPr/>
          <p:nvPr/>
        </p:nvSpPr>
        <p:spPr>
          <a:xfrm>
            <a:off x="5029200" y="1956816"/>
            <a:ext cx="384048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Identifies patients who communicate poorly but remain socially engaged.</a:t>
            </a:r>
            <a:endParaRPr lang="en-US" sz="1100" dirty="0"/>
          </a:p>
        </p:txBody>
      </p:sp>
      <p:sp>
        <p:nvSpPr>
          <p:cNvPr id="17" name="Shape 15"/>
          <p:cNvSpPr/>
          <p:nvPr/>
        </p:nvSpPr>
        <p:spPr>
          <a:xfrm>
            <a:off x="182880" y="2587752"/>
            <a:ext cx="8778240" cy="713232"/>
          </a:xfrm>
          <a:prstGeom prst="rect">
            <a:avLst/>
          </a:prstGeom>
          <a:solidFill>
            <a:srgbClr val="FFFFFF"/>
          </a:solidFill>
          <a:ln/>
        </p:spPr>
        <p:txBody>
          <a:bodyPr/>
          <a:lstStyle/>
          <a:p>
            <a:endParaRPr lang="en-IN"/>
          </a:p>
        </p:txBody>
      </p:sp>
      <p:sp>
        <p:nvSpPr>
          <p:cNvPr id="18" name="Shape 16"/>
          <p:cNvSpPr/>
          <p:nvPr/>
        </p:nvSpPr>
        <p:spPr>
          <a:xfrm>
            <a:off x="182880" y="2587752"/>
            <a:ext cx="1051560" cy="713232"/>
          </a:xfrm>
          <a:prstGeom prst="rect">
            <a:avLst/>
          </a:prstGeom>
          <a:solidFill>
            <a:srgbClr val="1C2B4A"/>
          </a:solidFill>
          <a:ln/>
        </p:spPr>
        <p:txBody>
          <a:bodyPr/>
          <a:lstStyle/>
          <a:p>
            <a:endParaRPr lang="en-IN"/>
          </a:p>
        </p:txBody>
      </p:sp>
      <p:sp>
        <p:nvSpPr>
          <p:cNvPr id="19" name="Text 17"/>
          <p:cNvSpPr/>
          <p:nvPr/>
        </p:nvSpPr>
        <p:spPr>
          <a:xfrm>
            <a:off x="182880" y="2679192"/>
            <a:ext cx="1051560" cy="502920"/>
          </a:xfrm>
          <a:prstGeom prst="rect">
            <a:avLst/>
          </a:prstGeom>
          <a:noFill/>
          <a:ln/>
        </p:spPr>
        <p:txBody>
          <a:bodyPr wrap="square" lIns="0" tIns="0" rIns="0" bIns="0" rtlCol="0" anchor="ctr"/>
          <a:lstStyle/>
          <a:p>
            <a:pPr marL="0" indent="0" algn="ctr">
              <a:buNone/>
            </a:pPr>
            <a:r>
              <a:rPr lang="en-US" sz="1700" b="1" dirty="0">
                <a:solidFill>
                  <a:srgbClr val="E87722"/>
                </a:solidFill>
                <a:latin typeface="Calibri" pitchFamily="34" charset="0"/>
                <a:ea typeface="Calibri" pitchFamily="34" charset="-122"/>
                <a:cs typeface="Calibri" pitchFamily="34" charset="-120"/>
              </a:rPr>
              <a:t>14.3%</a:t>
            </a:r>
            <a:endParaRPr lang="en-US" sz="1700" dirty="0"/>
          </a:p>
        </p:txBody>
      </p:sp>
      <p:sp>
        <p:nvSpPr>
          <p:cNvPr id="20" name="Text 18"/>
          <p:cNvSpPr/>
          <p:nvPr/>
        </p:nvSpPr>
        <p:spPr>
          <a:xfrm>
            <a:off x="1298448" y="2642616"/>
            <a:ext cx="2743200"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Socially Withdrawn</a:t>
            </a:r>
            <a:endParaRPr lang="en-US" sz="1200" dirty="0"/>
          </a:p>
        </p:txBody>
      </p:sp>
      <p:sp>
        <p:nvSpPr>
          <p:cNvPr id="21" name="Text 19"/>
          <p:cNvSpPr/>
          <p:nvPr/>
        </p:nvSpPr>
        <p:spPr>
          <a:xfrm>
            <a:off x="1298448" y="2907792"/>
            <a:ext cx="3657600" cy="201168"/>
          </a:xfrm>
          <a:prstGeom prst="rect">
            <a:avLst/>
          </a:prstGeom>
          <a:noFill/>
          <a:ln/>
        </p:spPr>
        <p:txBody>
          <a:bodyPr wrap="square" lIns="0" tIns="0" rIns="0" bIns="0" rtlCol="0" anchor="ctr"/>
          <a:lstStyle/>
          <a:p>
            <a:pPr marL="0" indent="0">
              <a:buNone/>
            </a:pPr>
            <a:r>
              <a:rPr lang="en-US" sz="1000" dirty="0">
                <a:solidFill>
                  <a:srgbClr val="0D7C8C"/>
                </a:solidFill>
                <a:latin typeface="Calibri" pitchFamily="34" charset="0"/>
                <a:ea typeface="Calibri" pitchFamily="34" charset="-122"/>
                <a:cs typeface="Calibri" pitchFamily="34" charset="-120"/>
              </a:rPr>
              <a:t>Threshold: Social ≤1 AND Comm. Deficit ≤1</a:t>
            </a:r>
            <a:endParaRPr lang="en-US" sz="1000" dirty="0"/>
          </a:p>
        </p:txBody>
      </p:sp>
      <p:sp>
        <p:nvSpPr>
          <p:cNvPr id="22" name="Text 20"/>
          <p:cNvSpPr/>
          <p:nvPr/>
        </p:nvSpPr>
        <p:spPr>
          <a:xfrm>
            <a:off x="5029200" y="2752344"/>
            <a:ext cx="384048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Catches patients who avoid social cues yet can gesture and point.</a:t>
            </a:r>
            <a:endParaRPr lang="en-US" sz="1100" dirty="0"/>
          </a:p>
        </p:txBody>
      </p:sp>
      <p:sp>
        <p:nvSpPr>
          <p:cNvPr id="23" name="Shape 21"/>
          <p:cNvSpPr/>
          <p:nvPr/>
        </p:nvSpPr>
        <p:spPr>
          <a:xfrm>
            <a:off x="182880" y="3383280"/>
            <a:ext cx="8778240" cy="713232"/>
          </a:xfrm>
          <a:prstGeom prst="rect">
            <a:avLst/>
          </a:prstGeom>
          <a:solidFill>
            <a:srgbClr val="EEF3F7"/>
          </a:solidFill>
          <a:ln/>
        </p:spPr>
        <p:txBody>
          <a:bodyPr/>
          <a:lstStyle/>
          <a:p>
            <a:endParaRPr lang="en-IN"/>
          </a:p>
        </p:txBody>
      </p:sp>
      <p:sp>
        <p:nvSpPr>
          <p:cNvPr id="24" name="Shape 22"/>
          <p:cNvSpPr/>
          <p:nvPr/>
        </p:nvSpPr>
        <p:spPr>
          <a:xfrm>
            <a:off x="182880" y="3383280"/>
            <a:ext cx="1051560" cy="713232"/>
          </a:xfrm>
          <a:prstGeom prst="rect">
            <a:avLst/>
          </a:prstGeom>
          <a:solidFill>
            <a:srgbClr val="1C2B4A"/>
          </a:solidFill>
          <a:ln/>
        </p:spPr>
        <p:txBody>
          <a:bodyPr/>
          <a:lstStyle/>
          <a:p>
            <a:endParaRPr lang="en-IN"/>
          </a:p>
        </p:txBody>
      </p:sp>
      <p:sp>
        <p:nvSpPr>
          <p:cNvPr id="25" name="Text 23"/>
          <p:cNvSpPr/>
          <p:nvPr/>
        </p:nvSpPr>
        <p:spPr>
          <a:xfrm>
            <a:off x="182880" y="3474720"/>
            <a:ext cx="1051560" cy="502920"/>
          </a:xfrm>
          <a:prstGeom prst="rect">
            <a:avLst/>
          </a:prstGeom>
          <a:noFill/>
          <a:ln/>
        </p:spPr>
        <p:txBody>
          <a:bodyPr wrap="square" lIns="0" tIns="0" rIns="0" bIns="0" rtlCol="0" anchor="ctr"/>
          <a:lstStyle/>
          <a:p>
            <a:pPr marL="0" indent="0" algn="ctr">
              <a:buNone/>
            </a:pPr>
            <a:r>
              <a:rPr lang="en-US" sz="1700" b="1" dirty="0">
                <a:solidFill>
                  <a:srgbClr val="E87722"/>
                </a:solidFill>
                <a:latin typeface="Calibri" pitchFamily="34" charset="0"/>
                <a:ea typeface="Calibri" pitchFamily="34" charset="-122"/>
                <a:cs typeface="Calibri" pitchFamily="34" charset="-120"/>
              </a:rPr>
              <a:t>6.3%</a:t>
            </a:r>
            <a:endParaRPr lang="en-US" sz="1700" dirty="0"/>
          </a:p>
        </p:txBody>
      </p:sp>
      <p:sp>
        <p:nvSpPr>
          <p:cNvPr id="26" name="Text 24"/>
          <p:cNvSpPr/>
          <p:nvPr/>
        </p:nvSpPr>
        <p:spPr>
          <a:xfrm>
            <a:off x="1298448" y="3438144"/>
            <a:ext cx="2743200"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Highly Atypical Presentation</a:t>
            </a:r>
            <a:endParaRPr lang="en-US" sz="1200" dirty="0"/>
          </a:p>
        </p:txBody>
      </p:sp>
      <p:sp>
        <p:nvSpPr>
          <p:cNvPr id="27" name="Text 25"/>
          <p:cNvSpPr/>
          <p:nvPr/>
        </p:nvSpPr>
        <p:spPr>
          <a:xfrm>
            <a:off x="1298448" y="3703320"/>
            <a:ext cx="3657600" cy="201168"/>
          </a:xfrm>
          <a:prstGeom prst="rect">
            <a:avLst/>
          </a:prstGeom>
          <a:noFill/>
          <a:ln/>
        </p:spPr>
        <p:txBody>
          <a:bodyPr wrap="square" lIns="0" tIns="0" rIns="0" bIns="0" rtlCol="0" anchor="ctr"/>
          <a:lstStyle/>
          <a:p>
            <a:pPr marL="0" indent="0">
              <a:buNone/>
            </a:pPr>
            <a:r>
              <a:rPr lang="en-US" sz="1000" dirty="0">
                <a:solidFill>
                  <a:srgbClr val="0D7C8C"/>
                </a:solidFill>
                <a:latin typeface="Calibri" pitchFamily="34" charset="0"/>
                <a:ea typeface="Calibri" pitchFamily="34" charset="-122"/>
                <a:cs typeface="Calibri" pitchFamily="34" charset="-120"/>
              </a:rPr>
              <a:t>Threshold: Atypicality ≥3 AND Comm. Deficit ≤1</a:t>
            </a:r>
            <a:endParaRPr lang="en-US" sz="1000" dirty="0"/>
          </a:p>
        </p:txBody>
      </p:sp>
      <p:sp>
        <p:nvSpPr>
          <p:cNvPr id="28" name="Text 26"/>
          <p:cNvSpPr/>
          <p:nvPr/>
        </p:nvSpPr>
        <p:spPr>
          <a:xfrm>
            <a:off x="5029200" y="3547872"/>
            <a:ext cx="384048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Surfaces patients with intense behavioral differences despite communicative ability.</a:t>
            </a:r>
            <a:endParaRPr lang="en-US" sz="1100" dirty="0"/>
          </a:p>
        </p:txBody>
      </p:sp>
      <p:sp>
        <p:nvSpPr>
          <p:cNvPr id="29" name="Shape 27"/>
          <p:cNvSpPr/>
          <p:nvPr/>
        </p:nvSpPr>
        <p:spPr>
          <a:xfrm>
            <a:off x="182880" y="4178808"/>
            <a:ext cx="8778240" cy="713232"/>
          </a:xfrm>
          <a:prstGeom prst="rect">
            <a:avLst/>
          </a:prstGeom>
          <a:solidFill>
            <a:srgbClr val="FFFFFF"/>
          </a:solidFill>
          <a:ln/>
        </p:spPr>
        <p:txBody>
          <a:bodyPr/>
          <a:lstStyle/>
          <a:p>
            <a:endParaRPr lang="en-IN"/>
          </a:p>
        </p:txBody>
      </p:sp>
      <p:sp>
        <p:nvSpPr>
          <p:cNvPr id="30" name="Shape 28"/>
          <p:cNvSpPr/>
          <p:nvPr/>
        </p:nvSpPr>
        <p:spPr>
          <a:xfrm>
            <a:off x="182880" y="4178808"/>
            <a:ext cx="1051560" cy="713232"/>
          </a:xfrm>
          <a:prstGeom prst="rect">
            <a:avLst/>
          </a:prstGeom>
          <a:solidFill>
            <a:srgbClr val="1C2B4A"/>
          </a:solidFill>
          <a:ln/>
        </p:spPr>
        <p:txBody>
          <a:bodyPr/>
          <a:lstStyle/>
          <a:p>
            <a:endParaRPr lang="en-IN"/>
          </a:p>
        </p:txBody>
      </p:sp>
      <p:sp>
        <p:nvSpPr>
          <p:cNvPr id="31" name="Text 29"/>
          <p:cNvSpPr/>
          <p:nvPr/>
        </p:nvSpPr>
        <p:spPr>
          <a:xfrm>
            <a:off x="182880" y="4270248"/>
            <a:ext cx="1051560" cy="502920"/>
          </a:xfrm>
          <a:prstGeom prst="rect">
            <a:avLst/>
          </a:prstGeom>
          <a:noFill/>
          <a:ln/>
        </p:spPr>
        <p:txBody>
          <a:bodyPr wrap="square" lIns="0" tIns="0" rIns="0" bIns="0" rtlCol="0" anchor="ctr"/>
          <a:lstStyle/>
          <a:p>
            <a:pPr marL="0" indent="0" algn="ctr">
              <a:buNone/>
            </a:pPr>
            <a:r>
              <a:rPr lang="en-US" sz="1700" b="1" dirty="0">
                <a:solidFill>
                  <a:srgbClr val="E87722"/>
                </a:solidFill>
                <a:latin typeface="Calibri" pitchFamily="34" charset="0"/>
                <a:ea typeface="Calibri" pitchFamily="34" charset="-122"/>
                <a:cs typeface="Calibri" pitchFamily="34" charset="-120"/>
              </a:rPr>
              <a:t>35.1%</a:t>
            </a:r>
            <a:endParaRPr lang="en-US" sz="1700" dirty="0"/>
          </a:p>
        </p:txBody>
      </p:sp>
      <p:sp>
        <p:nvSpPr>
          <p:cNvPr id="32" name="Text 30"/>
          <p:cNvSpPr/>
          <p:nvPr/>
        </p:nvSpPr>
        <p:spPr>
          <a:xfrm>
            <a:off x="1298448" y="4233672"/>
            <a:ext cx="2743200" cy="256032"/>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Mild/Typical Presentation</a:t>
            </a:r>
            <a:endParaRPr lang="en-US" sz="1200" dirty="0"/>
          </a:p>
        </p:txBody>
      </p:sp>
      <p:sp>
        <p:nvSpPr>
          <p:cNvPr id="33" name="Text 31"/>
          <p:cNvSpPr/>
          <p:nvPr/>
        </p:nvSpPr>
        <p:spPr>
          <a:xfrm>
            <a:off x="1298448" y="4498848"/>
            <a:ext cx="3657600" cy="201168"/>
          </a:xfrm>
          <a:prstGeom prst="rect">
            <a:avLst/>
          </a:prstGeom>
          <a:noFill/>
          <a:ln/>
        </p:spPr>
        <p:txBody>
          <a:bodyPr wrap="square" lIns="0" tIns="0" rIns="0" bIns="0" rtlCol="0" anchor="ctr"/>
          <a:lstStyle/>
          <a:p>
            <a:pPr marL="0" indent="0">
              <a:buNone/>
            </a:pPr>
            <a:r>
              <a:rPr lang="en-US" sz="1000" dirty="0">
                <a:solidFill>
                  <a:srgbClr val="0D7C8C"/>
                </a:solidFill>
                <a:latin typeface="Calibri" pitchFamily="34" charset="0"/>
                <a:ea typeface="Calibri" pitchFamily="34" charset="-122"/>
                <a:cs typeface="Calibri" pitchFamily="34" charset="-120"/>
              </a:rPr>
              <a:t>Threshold: Default — does not trigger any above threshold</a:t>
            </a:r>
            <a:endParaRPr lang="en-US" sz="1000" dirty="0"/>
          </a:p>
        </p:txBody>
      </p:sp>
      <p:sp>
        <p:nvSpPr>
          <p:cNvPr id="34" name="Text 32"/>
          <p:cNvSpPr/>
          <p:nvPr/>
        </p:nvSpPr>
        <p:spPr>
          <a:xfrm>
            <a:off x="5029200" y="4343400"/>
            <a:ext cx="3840480" cy="41148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The baseline population; not a negative finding but a comparative anchor.</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Proportion of ASD Diagnosis Within Behavioral Archetypes</a:t>
            </a:r>
            <a:endParaRPr lang="en-US" sz="1800" dirty="0"/>
          </a:p>
        </p:txBody>
      </p:sp>
      <p:sp>
        <p:nvSpPr>
          <p:cNvPr id="4" name="Shape 2"/>
          <p:cNvSpPr/>
          <p:nvPr/>
        </p:nvSpPr>
        <p:spPr>
          <a:xfrm>
            <a:off x="182880" y="731520"/>
            <a:ext cx="3200400" cy="420624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Text 3"/>
          <p:cNvSpPr/>
          <p:nvPr/>
        </p:nvSpPr>
        <p:spPr>
          <a:xfrm>
            <a:off x="274320" y="841248"/>
            <a:ext cx="3017520" cy="320040"/>
          </a:xfrm>
          <a:prstGeom prst="rect">
            <a:avLst/>
          </a:prstGeom>
          <a:noFill/>
          <a:ln/>
        </p:spPr>
        <p:txBody>
          <a:bodyPr wrap="square" lIns="0" tIns="0" rIns="0" bIns="0" rtlCol="0" anchor="ctr"/>
          <a:lstStyle/>
          <a:p>
            <a:pPr marL="0" indent="0">
              <a:buNone/>
            </a:pPr>
            <a:r>
              <a:rPr lang="en-US" sz="1100" b="1" kern="0" spc="200" dirty="0">
                <a:solidFill>
                  <a:srgbClr val="0D7C8C"/>
                </a:solidFill>
                <a:latin typeface="Calibri" pitchFamily="34" charset="0"/>
                <a:ea typeface="Calibri" pitchFamily="34" charset="-122"/>
                <a:cs typeface="Calibri" pitchFamily="34" charset="-120"/>
              </a:rPr>
              <a:t>Key Finding</a:t>
            </a:r>
            <a:endParaRPr lang="en-US" sz="1100" dirty="0"/>
          </a:p>
        </p:txBody>
      </p:sp>
      <p:sp>
        <p:nvSpPr>
          <p:cNvPr id="6" name="Text 4"/>
          <p:cNvSpPr/>
          <p:nvPr/>
        </p:nvSpPr>
        <p:spPr>
          <a:xfrm>
            <a:off x="274320" y="1234440"/>
            <a:ext cx="2926080" cy="3474720"/>
          </a:xfrm>
          <a:prstGeom prst="rect">
            <a:avLst/>
          </a:prstGeom>
          <a:noFill/>
          <a:ln/>
        </p:spPr>
        <p:txBody>
          <a:bodyPr wrap="square" lIns="0" tIns="0" rIns="0" bIns="0" rtlCol="0" anchor="t"/>
          <a:lstStyle/>
          <a:p>
            <a:pPr marL="0" indent="0">
              <a:buNone/>
            </a:pPr>
            <a:r>
              <a:rPr lang="en-US" sz="1300" dirty="0">
                <a:solidFill>
                  <a:srgbClr val="1C2B4A"/>
                </a:solidFill>
                <a:latin typeface="Calibri" pitchFamily="34" charset="0"/>
                <a:ea typeface="Calibri" pitchFamily="34" charset="-122"/>
                <a:cs typeface="Calibri" pitchFamily="34" charset="-120"/>
              </a:rPr>
              <a:t>The most surprising insight in the entire analysis:</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62.58% of 'Mild/Typical Presentation' individuals received a positive ASD diagnosis — the highest of any archetype.</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This reveals that ASD diagnosis does not depend solely on trait severity. Many individuals present mildly on behavioral scales but are still diagnosed, pointing to the complexity of clinical diagnosis beyond observable trait counting.</a:t>
            </a:r>
            <a:endParaRPr lang="en-US" sz="1300" dirty="0"/>
          </a:p>
          <a:p>
            <a:pPr marL="0" indent="0">
              <a:buNone/>
            </a:pPr>
            <a:endParaRPr lang="en-US" sz="1300" dirty="0"/>
          </a:p>
          <a:p>
            <a:pPr marL="0" indent="0">
              <a:buNone/>
            </a:pPr>
            <a:r>
              <a:rPr lang="en-US" sz="1300" dirty="0">
                <a:solidFill>
                  <a:srgbClr val="1C2B4A"/>
                </a:solidFill>
                <a:latin typeface="Calibri" pitchFamily="34" charset="0"/>
                <a:ea typeface="Calibri" pitchFamily="34" charset="-122"/>
                <a:cs typeface="Calibri" pitchFamily="34" charset="-120"/>
              </a:rPr>
              <a:t>100% of 'Severe Global Delay' individuals were NOT diagnosed — possibly because severe presentations were already known and excluded from general screening.</a:t>
            </a:r>
            <a:endParaRPr lang="en-US" sz="1300" dirty="0"/>
          </a:p>
        </p:txBody>
      </p:sp>
      <p:pic>
        <p:nvPicPr>
          <p:cNvPr id="7" name="Image 0" descr="preencoded.png"/>
          <p:cNvPicPr>
            <a:picLocks noChangeAspect="1"/>
          </p:cNvPicPr>
          <p:nvPr/>
        </p:nvPicPr>
        <p:blipFill>
          <a:blip r:embed="rId3"/>
          <a:stretch>
            <a:fillRect/>
          </a:stretch>
        </p:blipFill>
        <p:spPr>
          <a:xfrm>
            <a:off x="3611880" y="713232"/>
            <a:ext cx="5349240" cy="4114800"/>
          </a:xfrm>
          <a:prstGeom prst="rect">
            <a:avLst/>
          </a:prstGeom>
        </p:spPr>
      </p:pic>
      <p:sp>
        <p:nvSpPr>
          <p:cNvPr id="8" name="Text 5"/>
          <p:cNvSpPr/>
          <p:nvPr/>
        </p:nvSpPr>
        <p:spPr>
          <a:xfrm>
            <a:off x="3611880" y="4846320"/>
            <a:ext cx="5349240" cy="228600"/>
          </a:xfrm>
          <a:prstGeom prst="rect">
            <a:avLst/>
          </a:prstGeom>
          <a:noFill/>
          <a:ln/>
        </p:spPr>
        <p:txBody>
          <a:bodyPr wrap="square" lIns="0" tIns="0" rIns="0" bIns="0"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Fig 8: Stacked bar — diagnosis proportion by archetype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7722"/>
          </a:solidFill>
          <a:ln/>
        </p:spPr>
        <p:txBody>
          <a:bodyPr/>
          <a:lstStyle/>
          <a:p>
            <a:endParaRPr lang="en-IN"/>
          </a:p>
        </p:txBody>
      </p:sp>
      <p:sp>
        <p:nvSpPr>
          <p:cNvPr id="3" name="Shape 1"/>
          <p:cNvSpPr/>
          <p:nvPr/>
        </p:nvSpPr>
        <p:spPr>
          <a:xfrm>
            <a:off x="0" y="4389120"/>
            <a:ext cx="9144000" cy="754380"/>
          </a:xfrm>
          <a:prstGeom prst="rect">
            <a:avLst/>
          </a:prstGeom>
          <a:solidFill>
            <a:srgbClr val="0D7C8C"/>
          </a:solidFill>
          <a:ln/>
        </p:spPr>
        <p:txBody>
          <a:bodyPr/>
          <a:lstStyle/>
          <a:p>
            <a:endParaRPr lang="en-IN"/>
          </a:p>
        </p:txBody>
      </p:sp>
      <p:sp>
        <p:nvSpPr>
          <p:cNvPr id="4" name="Text 2"/>
          <p:cNvSpPr/>
          <p:nvPr/>
        </p:nvSpPr>
        <p:spPr>
          <a:xfrm>
            <a:off x="365760" y="1554480"/>
            <a:ext cx="8412480" cy="10058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Healthcare Proxy Flags</a:t>
            </a:r>
            <a:endParaRPr lang="en-US" sz="3600" dirty="0"/>
          </a:p>
        </p:txBody>
      </p:sp>
      <p:sp>
        <p:nvSpPr>
          <p:cNvPr id="5" name="Text 3"/>
          <p:cNvSpPr/>
          <p:nvPr/>
        </p:nvSpPr>
        <p:spPr>
          <a:xfrm>
            <a:off x="365760" y="2651760"/>
            <a:ext cx="8412480" cy="548640"/>
          </a:xfrm>
          <a:prstGeom prst="rect">
            <a:avLst/>
          </a:prstGeom>
          <a:noFill/>
          <a:ln/>
        </p:spPr>
        <p:txBody>
          <a:bodyPr wrap="square" lIns="0" tIns="0" rIns="0" bIns="0" rtlCol="0" anchor="ctr"/>
          <a:lstStyle/>
          <a:p>
            <a:pPr marL="0" indent="0">
              <a:buNone/>
            </a:pPr>
            <a:r>
              <a:rPr lang="en-US" sz="1800" i="1" dirty="0">
                <a:solidFill>
                  <a:srgbClr val="B0C4D8"/>
                </a:solidFill>
                <a:latin typeface="Calibri" pitchFamily="34" charset="0"/>
                <a:ea typeface="Calibri" pitchFamily="34" charset="-122"/>
                <a:cs typeface="Calibri" pitchFamily="34" charset="-120"/>
              </a:rPr>
              <a:t>Late diagnosis and masking — clinical story features</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Late Diagnosis Flag — Detecting Missed Interventions</a:t>
            </a:r>
            <a:endParaRPr lang="en-US" sz="1800" dirty="0"/>
          </a:p>
        </p:txBody>
      </p:sp>
      <p:sp>
        <p:nvSpPr>
          <p:cNvPr id="4" name="Shape 2"/>
          <p:cNvSpPr/>
          <p:nvPr/>
        </p:nvSpPr>
        <p:spPr>
          <a:xfrm>
            <a:off x="182880" y="685800"/>
            <a:ext cx="3200400" cy="42519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Text 3"/>
          <p:cNvSpPr/>
          <p:nvPr/>
        </p:nvSpPr>
        <p:spPr>
          <a:xfrm>
            <a:off x="274320" y="795528"/>
            <a:ext cx="3017520" cy="274320"/>
          </a:xfrm>
          <a:prstGeom prst="rect">
            <a:avLst/>
          </a:prstGeom>
          <a:noFill/>
          <a:ln/>
        </p:spPr>
        <p:txBody>
          <a:bodyPr wrap="square" lIns="0" tIns="0" rIns="0" bIns="0" rtlCol="0" anchor="ctr"/>
          <a:lstStyle/>
          <a:p>
            <a:pPr marL="0" indent="0">
              <a:buNone/>
            </a:pPr>
            <a:r>
              <a:rPr lang="en-US" sz="1100" b="1" kern="0" spc="200" dirty="0">
                <a:solidFill>
                  <a:srgbClr val="0D7C8C"/>
                </a:solidFill>
                <a:latin typeface="Calibri" pitchFamily="34" charset="0"/>
                <a:ea typeface="Calibri" pitchFamily="34" charset="-122"/>
                <a:cs typeface="Calibri" pitchFamily="34" charset="-120"/>
              </a:rPr>
              <a:t>Why This Feature</a:t>
            </a:r>
            <a:endParaRPr lang="en-US" sz="1100" dirty="0"/>
          </a:p>
        </p:txBody>
      </p:sp>
      <p:sp>
        <p:nvSpPr>
          <p:cNvPr id="6" name="Text 4"/>
          <p:cNvSpPr/>
          <p:nvPr/>
        </p:nvSpPr>
        <p:spPr>
          <a:xfrm>
            <a:off x="274320" y="1115568"/>
            <a:ext cx="3017520" cy="3749040"/>
          </a:xfrm>
          <a:prstGeom prst="rect">
            <a:avLst/>
          </a:prstGeom>
          <a:noFill/>
          <a:ln/>
        </p:spPr>
        <p:txBody>
          <a:bodyPr wrap="square" lIns="0" tIns="0" rIns="0" bIns="0" rtlCol="0" anchor="t"/>
          <a:lstStyle/>
          <a:p>
            <a:pPr marL="0" indent="0">
              <a:buNone/>
            </a:pPr>
            <a:r>
              <a:rPr lang="en-US" sz="1200" dirty="0">
                <a:solidFill>
                  <a:srgbClr val="1C2B4A"/>
                </a:solidFill>
                <a:latin typeface="Calibri" pitchFamily="34" charset="0"/>
                <a:ea typeface="Calibri" pitchFamily="34" charset="-122"/>
                <a:cs typeface="Calibri" pitchFamily="34" charset="-120"/>
              </a:rPr>
              <a:t>The Late_Diagnosis_Flag targets one of the most critical gaps in autism care: adults (age ≥18) who receive a positive diagnosis.</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Why does this matter? Early intervention (typically under age 5–7) is associated with significantly better developmental outcomes. Adults who receive a positive diagnosis in the screening dataset represent individuals who either were missed during childhood screening, masked their traits successfully, or never had access to early clinical evaluation.</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This flag isolates them as a high-priority population for healthcare resource targeting.</a:t>
            </a:r>
            <a:endParaRPr lang="en-US" sz="1200" dirty="0"/>
          </a:p>
        </p:txBody>
      </p:sp>
      <p:pic>
        <p:nvPicPr>
          <p:cNvPr id="7" name="Image 0" descr="preencoded.png"/>
          <p:cNvPicPr>
            <a:picLocks noChangeAspect="1"/>
          </p:cNvPicPr>
          <p:nvPr/>
        </p:nvPicPr>
        <p:blipFill>
          <a:blip r:embed="rId3"/>
          <a:stretch>
            <a:fillRect/>
          </a:stretch>
        </p:blipFill>
        <p:spPr>
          <a:xfrm>
            <a:off x="3566160" y="713232"/>
            <a:ext cx="5394960" cy="42062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Masking Proxy Flag — Camouflaging Autistic Traits</a:t>
            </a:r>
            <a:endParaRPr lang="en-US" sz="1800" dirty="0"/>
          </a:p>
        </p:txBody>
      </p:sp>
      <p:sp>
        <p:nvSpPr>
          <p:cNvPr id="4" name="Shape 2"/>
          <p:cNvSpPr/>
          <p:nvPr/>
        </p:nvSpPr>
        <p:spPr>
          <a:xfrm>
            <a:off x="182880" y="685800"/>
            <a:ext cx="3200400" cy="425196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Text 3"/>
          <p:cNvSpPr/>
          <p:nvPr/>
        </p:nvSpPr>
        <p:spPr>
          <a:xfrm>
            <a:off x="274320" y="795528"/>
            <a:ext cx="3017520" cy="274320"/>
          </a:xfrm>
          <a:prstGeom prst="rect">
            <a:avLst/>
          </a:prstGeom>
          <a:noFill/>
          <a:ln/>
        </p:spPr>
        <p:txBody>
          <a:bodyPr wrap="square" lIns="0" tIns="0" rIns="0" bIns="0" rtlCol="0" anchor="ctr"/>
          <a:lstStyle/>
          <a:p>
            <a:pPr marL="0" indent="0">
              <a:buNone/>
            </a:pPr>
            <a:r>
              <a:rPr lang="en-US" sz="1100" b="1" kern="0" spc="200" dirty="0">
                <a:solidFill>
                  <a:srgbClr val="0D7C8C"/>
                </a:solidFill>
                <a:latin typeface="Calibri" pitchFamily="34" charset="0"/>
                <a:ea typeface="Calibri" pitchFamily="34" charset="-122"/>
                <a:cs typeface="Calibri" pitchFamily="34" charset="-120"/>
              </a:rPr>
              <a:t>Why This Feature</a:t>
            </a:r>
            <a:endParaRPr lang="en-US" sz="1100" dirty="0"/>
          </a:p>
        </p:txBody>
      </p:sp>
      <p:sp>
        <p:nvSpPr>
          <p:cNvPr id="6" name="Text 4"/>
          <p:cNvSpPr/>
          <p:nvPr/>
        </p:nvSpPr>
        <p:spPr>
          <a:xfrm>
            <a:off x="274320" y="1115568"/>
            <a:ext cx="3017520" cy="3749040"/>
          </a:xfrm>
          <a:prstGeom prst="rect">
            <a:avLst/>
          </a:prstGeom>
          <a:noFill/>
          <a:ln/>
        </p:spPr>
        <p:txBody>
          <a:bodyPr wrap="square" lIns="0" tIns="0" rIns="0" bIns="0" rtlCol="0" anchor="t"/>
          <a:lstStyle/>
          <a:p>
            <a:pPr marL="0" indent="0">
              <a:buNone/>
            </a:pPr>
            <a:r>
              <a:rPr lang="en-US" sz="1200" dirty="0">
                <a:solidFill>
                  <a:srgbClr val="1C2B4A"/>
                </a:solidFill>
                <a:latin typeface="Calibri" pitchFamily="34" charset="0"/>
                <a:ea typeface="Calibri" pitchFamily="34" charset="-122"/>
                <a:cs typeface="Calibri" pitchFamily="34" charset="-120"/>
              </a:rPr>
              <a:t>Masking (also called camouflaging) is the practice of consciously or unconsciously suppressing autistic traits to appear neurotypical.</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The Masking_Proxy_Flag triggers when a patient is diagnosed with ASD (Class = 1) but self-reports their communication style as typical (A8 = 1).</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Why is this clinically significant? These individuals carry the full diagnostic burden of ASD but believe — or project — that they communicate normally. They are the hardest to identify through traditional screening because their self-assessment contradicts their diagnosis.</a:t>
            </a:r>
            <a:endParaRPr lang="en-US" sz="1200" dirty="0"/>
          </a:p>
          <a:p>
            <a:pPr marL="0" indent="0">
              <a:buNone/>
            </a:pPr>
            <a:endParaRPr lang="en-US" sz="1200" dirty="0"/>
          </a:p>
          <a:p>
            <a:pPr marL="0" indent="0">
              <a:buNone/>
            </a:pPr>
            <a:r>
              <a:rPr lang="en-US" sz="1200" dirty="0">
                <a:solidFill>
                  <a:srgbClr val="1C2B4A"/>
                </a:solidFill>
                <a:latin typeface="Calibri" pitchFamily="34" charset="0"/>
                <a:ea typeface="Calibri" pitchFamily="34" charset="-122"/>
                <a:cs typeface="Calibri" pitchFamily="34" charset="-120"/>
              </a:rPr>
              <a:t>This feature surfaces a hidden population that standard diagnostic approaches might miss or delay.</a:t>
            </a:r>
            <a:endParaRPr lang="en-US" sz="1200" dirty="0"/>
          </a:p>
        </p:txBody>
      </p:sp>
      <p:pic>
        <p:nvPicPr>
          <p:cNvPr id="7" name="Image 0" descr="preencoded.png"/>
          <p:cNvPicPr>
            <a:picLocks noChangeAspect="1"/>
          </p:cNvPicPr>
          <p:nvPr/>
        </p:nvPicPr>
        <p:blipFill>
          <a:blip r:embed="rId3"/>
          <a:stretch>
            <a:fillRect/>
          </a:stretch>
        </p:blipFill>
        <p:spPr>
          <a:xfrm>
            <a:off x="3566160" y="685800"/>
            <a:ext cx="5394960" cy="42519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7722"/>
          </a:solidFill>
          <a:ln/>
        </p:spPr>
        <p:txBody>
          <a:bodyPr/>
          <a:lstStyle/>
          <a:p>
            <a:endParaRPr lang="en-IN"/>
          </a:p>
        </p:txBody>
      </p:sp>
      <p:sp>
        <p:nvSpPr>
          <p:cNvPr id="3" name="Text 1"/>
          <p:cNvSpPr/>
          <p:nvPr/>
        </p:nvSpPr>
        <p:spPr>
          <a:xfrm>
            <a:off x="274320" y="228600"/>
            <a:ext cx="8595360" cy="54864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Key Insights — Summary</a:t>
            </a:r>
            <a:endParaRPr lang="en-US" sz="2400" dirty="0"/>
          </a:p>
        </p:txBody>
      </p:sp>
      <p:sp>
        <p:nvSpPr>
          <p:cNvPr id="4" name="Shape 2"/>
          <p:cNvSpPr/>
          <p:nvPr/>
        </p:nvSpPr>
        <p:spPr>
          <a:xfrm>
            <a:off x="274320" y="960120"/>
            <a:ext cx="4251960" cy="1170432"/>
          </a:xfrm>
          <a:prstGeom prst="rect">
            <a:avLst/>
          </a:prstGeom>
          <a:solidFill>
            <a:srgbClr val="1E3A5F"/>
          </a:solidFill>
          <a:ln/>
          <a:effectLst>
            <a:outerShdw blurRad="76200" dist="25400" dir="8100000" algn="bl" rotWithShape="0">
              <a:srgbClr val="000000">
                <a:alpha val="20000"/>
              </a:srgbClr>
            </a:outerShdw>
          </a:effectLst>
        </p:spPr>
        <p:txBody>
          <a:bodyPr/>
          <a:lstStyle/>
          <a:p>
            <a:endParaRPr lang="en-IN"/>
          </a:p>
        </p:txBody>
      </p:sp>
      <p:sp>
        <p:nvSpPr>
          <p:cNvPr id="5" name="Shape 3"/>
          <p:cNvSpPr/>
          <p:nvPr/>
        </p:nvSpPr>
        <p:spPr>
          <a:xfrm>
            <a:off x="274320" y="960120"/>
            <a:ext cx="64008" cy="1170432"/>
          </a:xfrm>
          <a:prstGeom prst="rect">
            <a:avLst/>
          </a:prstGeom>
          <a:solidFill>
            <a:srgbClr val="E87722"/>
          </a:solidFill>
          <a:ln/>
        </p:spPr>
        <p:txBody>
          <a:bodyPr/>
          <a:lstStyle/>
          <a:p>
            <a:endParaRPr lang="en-IN"/>
          </a:p>
        </p:txBody>
      </p:sp>
      <p:sp>
        <p:nvSpPr>
          <p:cNvPr id="6" name="Text 4"/>
          <p:cNvSpPr/>
          <p:nvPr/>
        </p:nvSpPr>
        <p:spPr>
          <a:xfrm>
            <a:off x="438912" y="1051560"/>
            <a:ext cx="3977640" cy="274320"/>
          </a:xfrm>
          <a:prstGeom prst="rect">
            <a:avLst/>
          </a:prstGeom>
          <a:noFill/>
          <a:ln/>
        </p:spPr>
        <p:txBody>
          <a:bodyPr wrap="square" lIns="0" tIns="0" rIns="0" bIns="0" rtlCol="0" anchor="ctr"/>
          <a:lstStyle/>
          <a:p>
            <a:pPr marL="0" indent="0">
              <a:buNone/>
            </a:pPr>
            <a:r>
              <a:rPr lang="en-US" sz="1200" b="1" dirty="0">
                <a:solidFill>
                  <a:srgbClr val="E87722"/>
                </a:solidFill>
                <a:latin typeface="Calibri" pitchFamily="34" charset="0"/>
                <a:ea typeface="Calibri" pitchFamily="34" charset="-122"/>
                <a:cs typeface="Calibri" pitchFamily="34" charset="-120"/>
              </a:rPr>
              <a:t>Gender Gap</a:t>
            </a:r>
            <a:endParaRPr lang="en-US" sz="1200" dirty="0"/>
          </a:p>
        </p:txBody>
      </p:sp>
      <p:sp>
        <p:nvSpPr>
          <p:cNvPr id="7" name="Text 5"/>
          <p:cNvSpPr/>
          <p:nvPr/>
        </p:nvSpPr>
        <p:spPr>
          <a:xfrm>
            <a:off x="438912" y="1362456"/>
            <a:ext cx="3977640" cy="685800"/>
          </a:xfrm>
          <a:prstGeom prst="rect">
            <a:avLst/>
          </a:prstGeom>
          <a:noFill/>
          <a:ln/>
        </p:spPr>
        <p:txBody>
          <a:bodyPr wrap="square" lIns="0" tIns="0" rIns="0" bIns="0" rtlCol="0" anchor="ctr"/>
          <a:lstStyle/>
          <a:p>
            <a:pPr marL="0" indent="0">
              <a:buNone/>
            </a:pPr>
            <a:r>
              <a:rPr lang="en-US" sz="1100" dirty="0">
                <a:solidFill>
                  <a:srgbClr val="D0DEF0"/>
                </a:solidFill>
                <a:latin typeface="Calibri" pitchFamily="34" charset="0"/>
                <a:ea typeface="Calibri" pitchFamily="34" charset="-122"/>
                <a:cs typeface="Calibri" pitchFamily="34" charset="-120"/>
              </a:rPr>
              <a:t>Females show a 31.7% diagnosis rate vs. 28.2% for males — challenging traditional clinical assumptions.</a:t>
            </a:r>
            <a:endParaRPr lang="en-US" sz="1100" dirty="0"/>
          </a:p>
        </p:txBody>
      </p:sp>
      <p:sp>
        <p:nvSpPr>
          <p:cNvPr id="8" name="Shape 6"/>
          <p:cNvSpPr/>
          <p:nvPr/>
        </p:nvSpPr>
        <p:spPr>
          <a:xfrm>
            <a:off x="4709160" y="960120"/>
            <a:ext cx="4251960" cy="1170432"/>
          </a:xfrm>
          <a:prstGeom prst="rect">
            <a:avLst/>
          </a:prstGeom>
          <a:solidFill>
            <a:srgbClr val="1E3A5F"/>
          </a:solidFill>
          <a:ln/>
          <a:effectLst>
            <a:outerShdw blurRad="76200" dist="25400" dir="8100000" algn="bl" rotWithShape="0">
              <a:srgbClr val="000000">
                <a:alpha val="20000"/>
              </a:srgbClr>
            </a:outerShdw>
          </a:effectLst>
        </p:spPr>
        <p:txBody>
          <a:bodyPr/>
          <a:lstStyle/>
          <a:p>
            <a:endParaRPr lang="en-IN"/>
          </a:p>
        </p:txBody>
      </p:sp>
      <p:sp>
        <p:nvSpPr>
          <p:cNvPr id="9" name="Shape 7"/>
          <p:cNvSpPr/>
          <p:nvPr/>
        </p:nvSpPr>
        <p:spPr>
          <a:xfrm>
            <a:off x="4709160" y="960120"/>
            <a:ext cx="64008" cy="1170432"/>
          </a:xfrm>
          <a:prstGeom prst="rect">
            <a:avLst/>
          </a:prstGeom>
          <a:solidFill>
            <a:srgbClr val="E87722"/>
          </a:solidFill>
          <a:ln/>
        </p:spPr>
        <p:txBody>
          <a:bodyPr/>
          <a:lstStyle/>
          <a:p>
            <a:endParaRPr lang="en-IN"/>
          </a:p>
        </p:txBody>
      </p:sp>
      <p:sp>
        <p:nvSpPr>
          <p:cNvPr id="10" name="Text 8"/>
          <p:cNvSpPr/>
          <p:nvPr/>
        </p:nvSpPr>
        <p:spPr>
          <a:xfrm>
            <a:off x="4873752" y="1051560"/>
            <a:ext cx="3977640" cy="274320"/>
          </a:xfrm>
          <a:prstGeom prst="rect">
            <a:avLst/>
          </a:prstGeom>
          <a:noFill/>
          <a:ln/>
        </p:spPr>
        <p:txBody>
          <a:bodyPr wrap="square" lIns="0" tIns="0" rIns="0" bIns="0" rtlCol="0" anchor="ctr"/>
          <a:lstStyle/>
          <a:p>
            <a:pPr marL="0" indent="0">
              <a:buNone/>
            </a:pPr>
            <a:r>
              <a:rPr lang="en-US" sz="1200" b="1" dirty="0">
                <a:solidFill>
                  <a:srgbClr val="E87722"/>
                </a:solidFill>
                <a:latin typeface="Calibri" pitchFamily="34" charset="0"/>
                <a:ea typeface="Calibri" pitchFamily="34" charset="-122"/>
                <a:cs typeface="Calibri" pitchFamily="34" charset="-120"/>
              </a:rPr>
              <a:t>Compounding Risk</a:t>
            </a:r>
            <a:endParaRPr lang="en-US" sz="1200" dirty="0"/>
          </a:p>
        </p:txBody>
      </p:sp>
      <p:sp>
        <p:nvSpPr>
          <p:cNvPr id="11" name="Text 9"/>
          <p:cNvSpPr/>
          <p:nvPr/>
        </p:nvSpPr>
        <p:spPr>
          <a:xfrm>
            <a:off x="4873752" y="1362456"/>
            <a:ext cx="3977640" cy="685800"/>
          </a:xfrm>
          <a:prstGeom prst="rect">
            <a:avLst/>
          </a:prstGeom>
          <a:noFill/>
          <a:ln/>
        </p:spPr>
        <p:txBody>
          <a:bodyPr wrap="square" lIns="0" tIns="0" rIns="0" bIns="0" rtlCol="0" anchor="ctr"/>
          <a:lstStyle/>
          <a:p>
            <a:pPr marL="0" indent="0">
              <a:buNone/>
            </a:pPr>
            <a:r>
              <a:rPr lang="en-US" sz="1100" dirty="0">
                <a:solidFill>
                  <a:srgbClr val="D0DEF0"/>
                </a:solidFill>
                <a:latin typeface="Calibri" pitchFamily="34" charset="0"/>
                <a:ea typeface="Calibri" pitchFamily="34" charset="-122"/>
                <a:cs typeface="Calibri" pitchFamily="34" charset="-120"/>
              </a:rPr>
              <a:t>Females with family ASD history have a 42.7% diagnosis rate — the highest intersectional risk category.</a:t>
            </a:r>
            <a:endParaRPr lang="en-US" sz="1100" dirty="0"/>
          </a:p>
        </p:txBody>
      </p:sp>
      <p:sp>
        <p:nvSpPr>
          <p:cNvPr id="12" name="Shape 10"/>
          <p:cNvSpPr/>
          <p:nvPr/>
        </p:nvSpPr>
        <p:spPr>
          <a:xfrm>
            <a:off x="274320" y="2286000"/>
            <a:ext cx="4251960" cy="1170432"/>
          </a:xfrm>
          <a:prstGeom prst="rect">
            <a:avLst/>
          </a:prstGeom>
          <a:solidFill>
            <a:srgbClr val="1E3A5F"/>
          </a:solidFill>
          <a:ln/>
          <a:effectLst>
            <a:outerShdw blurRad="76200" dist="25400" dir="8100000" algn="bl" rotWithShape="0">
              <a:srgbClr val="000000">
                <a:alpha val="20000"/>
              </a:srgbClr>
            </a:outerShdw>
          </a:effectLst>
        </p:spPr>
        <p:txBody>
          <a:bodyPr/>
          <a:lstStyle/>
          <a:p>
            <a:endParaRPr lang="en-IN"/>
          </a:p>
        </p:txBody>
      </p:sp>
      <p:sp>
        <p:nvSpPr>
          <p:cNvPr id="13" name="Shape 11"/>
          <p:cNvSpPr/>
          <p:nvPr/>
        </p:nvSpPr>
        <p:spPr>
          <a:xfrm>
            <a:off x="274320" y="2286000"/>
            <a:ext cx="64008" cy="1170432"/>
          </a:xfrm>
          <a:prstGeom prst="rect">
            <a:avLst/>
          </a:prstGeom>
          <a:solidFill>
            <a:srgbClr val="E87722"/>
          </a:solidFill>
          <a:ln/>
        </p:spPr>
        <p:txBody>
          <a:bodyPr/>
          <a:lstStyle/>
          <a:p>
            <a:endParaRPr lang="en-IN"/>
          </a:p>
        </p:txBody>
      </p:sp>
      <p:sp>
        <p:nvSpPr>
          <p:cNvPr id="14" name="Text 12"/>
          <p:cNvSpPr/>
          <p:nvPr/>
        </p:nvSpPr>
        <p:spPr>
          <a:xfrm>
            <a:off x="438912" y="2377440"/>
            <a:ext cx="3977640" cy="274320"/>
          </a:xfrm>
          <a:prstGeom prst="rect">
            <a:avLst/>
          </a:prstGeom>
          <a:noFill/>
          <a:ln/>
        </p:spPr>
        <p:txBody>
          <a:bodyPr wrap="square" lIns="0" tIns="0" rIns="0" bIns="0" rtlCol="0" anchor="ctr"/>
          <a:lstStyle/>
          <a:p>
            <a:pPr marL="0" indent="0">
              <a:buNone/>
            </a:pPr>
            <a:r>
              <a:rPr lang="en-US" sz="1200" b="1" dirty="0">
                <a:solidFill>
                  <a:srgbClr val="E87722"/>
                </a:solidFill>
                <a:latin typeface="Calibri" pitchFamily="34" charset="0"/>
                <a:ea typeface="Calibri" pitchFamily="34" charset="-122"/>
                <a:cs typeface="Calibri" pitchFamily="34" charset="-120"/>
              </a:rPr>
              <a:t>Two Screening Waves</a:t>
            </a:r>
            <a:endParaRPr lang="en-US" sz="1200" dirty="0"/>
          </a:p>
        </p:txBody>
      </p:sp>
      <p:sp>
        <p:nvSpPr>
          <p:cNvPr id="15" name="Text 13"/>
          <p:cNvSpPr/>
          <p:nvPr/>
        </p:nvSpPr>
        <p:spPr>
          <a:xfrm>
            <a:off x="438912" y="2688336"/>
            <a:ext cx="3977640" cy="685800"/>
          </a:xfrm>
          <a:prstGeom prst="rect">
            <a:avLst/>
          </a:prstGeom>
          <a:noFill/>
          <a:ln/>
        </p:spPr>
        <p:txBody>
          <a:bodyPr wrap="square" lIns="0" tIns="0" rIns="0" bIns="0" rtlCol="0" anchor="ctr"/>
          <a:lstStyle/>
          <a:p>
            <a:pPr marL="0" indent="0">
              <a:buNone/>
            </a:pPr>
            <a:r>
              <a:rPr lang="en-US" sz="1100" dirty="0">
                <a:solidFill>
                  <a:srgbClr val="D0DEF0"/>
                </a:solidFill>
                <a:latin typeface="Calibri" pitchFamily="34" charset="0"/>
                <a:ea typeface="Calibri" pitchFamily="34" charset="-122"/>
                <a:cs typeface="Calibri" pitchFamily="34" charset="-120"/>
              </a:rPr>
              <a:t>KDE reveals early-childhood (5–10 yrs) and young-adult (~20–30 yrs) peaks — late diagnosis is a real and sizable population.</a:t>
            </a:r>
            <a:endParaRPr lang="en-US" sz="1100" dirty="0"/>
          </a:p>
        </p:txBody>
      </p:sp>
      <p:sp>
        <p:nvSpPr>
          <p:cNvPr id="16" name="Shape 14"/>
          <p:cNvSpPr/>
          <p:nvPr/>
        </p:nvSpPr>
        <p:spPr>
          <a:xfrm>
            <a:off x="4709160" y="2286000"/>
            <a:ext cx="4251960" cy="1170432"/>
          </a:xfrm>
          <a:prstGeom prst="rect">
            <a:avLst/>
          </a:prstGeom>
          <a:solidFill>
            <a:srgbClr val="1E3A5F"/>
          </a:solidFill>
          <a:ln/>
          <a:effectLst>
            <a:outerShdw blurRad="76200" dist="25400" dir="8100000" algn="bl" rotWithShape="0">
              <a:srgbClr val="000000">
                <a:alpha val="20000"/>
              </a:srgbClr>
            </a:outerShdw>
          </a:effectLst>
        </p:spPr>
        <p:txBody>
          <a:bodyPr/>
          <a:lstStyle/>
          <a:p>
            <a:endParaRPr lang="en-IN"/>
          </a:p>
        </p:txBody>
      </p:sp>
      <p:sp>
        <p:nvSpPr>
          <p:cNvPr id="17" name="Shape 15"/>
          <p:cNvSpPr/>
          <p:nvPr/>
        </p:nvSpPr>
        <p:spPr>
          <a:xfrm>
            <a:off x="4709160" y="2286000"/>
            <a:ext cx="64008" cy="1170432"/>
          </a:xfrm>
          <a:prstGeom prst="rect">
            <a:avLst/>
          </a:prstGeom>
          <a:solidFill>
            <a:srgbClr val="E87722"/>
          </a:solidFill>
          <a:ln/>
        </p:spPr>
        <p:txBody>
          <a:bodyPr/>
          <a:lstStyle/>
          <a:p>
            <a:endParaRPr lang="en-IN"/>
          </a:p>
        </p:txBody>
      </p:sp>
      <p:sp>
        <p:nvSpPr>
          <p:cNvPr id="18" name="Text 16"/>
          <p:cNvSpPr/>
          <p:nvPr/>
        </p:nvSpPr>
        <p:spPr>
          <a:xfrm>
            <a:off x="4873752" y="2377440"/>
            <a:ext cx="3977640" cy="274320"/>
          </a:xfrm>
          <a:prstGeom prst="rect">
            <a:avLst/>
          </a:prstGeom>
          <a:noFill/>
          <a:ln/>
        </p:spPr>
        <p:txBody>
          <a:bodyPr wrap="square" lIns="0" tIns="0" rIns="0" bIns="0" rtlCol="0" anchor="ctr"/>
          <a:lstStyle/>
          <a:p>
            <a:pPr marL="0" indent="0">
              <a:buNone/>
            </a:pPr>
            <a:r>
              <a:rPr lang="en-US" sz="1200" b="1" dirty="0">
                <a:solidFill>
                  <a:srgbClr val="E87722"/>
                </a:solidFill>
                <a:latin typeface="Calibri" pitchFamily="34" charset="0"/>
                <a:ea typeface="Calibri" pitchFamily="34" charset="-122"/>
                <a:cs typeface="Calibri" pitchFamily="34" charset="-120"/>
              </a:rPr>
              <a:t>Trait Burden Separates Populations</a:t>
            </a:r>
            <a:endParaRPr lang="en-US" sz="1200" dirty="0"/>
          </a:p>
        </p:txBody>
      </p:sp>
      <p:sp>
        <p:nvSpPr>
          <p:cNvPr id="19" name="Text 17"/>
          <p:cNvSpPr/>
          <p:nvPr/>
        </p:nvSpPr>
        <p:spPr>
          <a:xfrm>
            <a:off x="4873752" y="2688336"/>
            <a:ext cx="3977640" cy="685800"/>
          </a:xfrm>
          <a:prstGeom prst="rect">
            <a:avLst/>
          </a:prstGeom>
          <a:noFill/>
          <a:ln/>
        </p:spPr>
        <p:txBody>
          <a:bodyPr wrap="square" lIns="0" tIns="0" rIns="0" bIns="0" rtlCol="0" anchor="ctr"/>
          <a:lstStyle/>
          <a:p>
            <a:pPr marL="0" indent="0">
              <a:buNone/>
            </a:pPr>
            <a:r>
              <a:rPr lang="en-US" sz="1100" dirty="0">
                <a:solidFill>
                  <a:srgbClr val="D0DEF0"/>
                </a:solidFill>
                <a:latin typeface="Calibri" pitchFamily="34" charset="0"/>
                <a:ea typeface="Calibri" pitchFamily="34" charset="-122"/>
                <a:cs typeface="Calibri" pitchFamily="34" charset="-120"/>
              </a:rPr>
              <a:t>High trait burden scores (6–10) concentrate in the diagnosed population, validating composite score utility.</a:t>
            </a:r>
            <a:endParaRPr lang="en-US" sz="1100" dirty="0"/>
          </a:p>
        </p:txBody>
      </p:sp>
      <p:sp>
        <p:nvSpPr>
          <p:cNvPr id="20" name="Shape 18"/>
          <p:cNvSpPr/>
          <p:nvPr/>
        </p:nvSpPr>
        <p:spPr>
          <a:xfrm>
            <a:off x="274320" y="3611880"/>
            <a:ext cx="4251960" cy="1170432"/>
          </a:xfrm>
          <a:prstGeom prst="rect">
            <a:avLst/>
          </a:prstGeom>
          <a:solidFill>
            <a:srgbClr val="1E3A5F"/>
          </a:solidFill>
          <a:ln/>
          <a:effectLst>
            <a:outerShdw blurRad="76200" dist="25400" dir="8100000" algn="bl" rotWithShape="0">
              <a:srgbClr val="000000">
                <a:alpha val="20000"/>
              </a:srgbClr>
            </a:outerShdw>
          </a:effectLst>
        </p:spPr>
        <p:txBody>
          <a:bodyPr/>
          <a:lstStyle/>
          <a:p>
            <a:endParaRPr lang="en-IN"/>
          </a:p>
        </p:txBody>
      </p:sp>
      <p:sp>
        <p:nvSpPr>
          <p:cNvPr id="21" name="Shape 19"/>
          <p:cNvSpPr/>
          <p:nvPr/>
        </p:nvSpPr>
        <p:spPr>
          <a:xfrm>
            <a:off x="274320" y="3611880"/>
            <a:ext cx="64008" cy="1170432"/>
          </a:xfrm>
          <a:prstGeom prst="rect">
            <a:avLst/>
          </a:prstGeom>
          <a:solidFill>
            <a:srgbClr val="E87722"/>
          </a:solidFill>
          <a:ln/>
        </p:spPr>
        <p:txBody>
          <a:bodyPr/>
          <a:lstStyle/>
          <a:p>
            <a:endParaRPr lang="en-IN"/>
          </a:p>
        </p:txBody>
      </p:sp>
      <p:sp>
        <p:nvSpPr>
          <p:cNvPr id="22" name="Text 20"/>
          <p:cNvSpPr/>
          <p:nvPr/>
        </p:nvSpPr>
        <p:spPr>
          <a:xfrm>
            <a:off x="438912" y="3703320"/>
            <a:ext cx="3977640" cy="274320"/>
          </a:xfrm>
          <a:prstGeom prst="rect">
            <a:avLst/>
          </a:prstGeom>
          <a:noFill/>
          <a:ln/>
        </p:spPr>
        <p:txBody>
          <a:bodyPr wrap="square" lIns="0" tIns="0" rIns="0" bIns="0" rtlCol="0" anchor="ctr"/>
          <a:lstStyle/>
          <a:p>
            <a:pPr marL="0" indent="0">
              <a:buNone/>
            </a:pPr>
            <a:r>
              <a:rPr lang="en-US" sz="1200" b="1" dirty="0">
                <a:solidFill>
                  <a:srgbClr val="E87722"/>
                </a:solidFill>
                <a:latin typeface="Calibri" pitchFamily="34" charset="0"/>
                <a:ea typeface="Calibri" pitchFamily="34" charset="-122"/>
                <a:cs typeface="Calibri" pitchFamily="34" charset="-120"/>
              </a:rPr>
              <a:t>The Mild Presentation Paradox</a:t>
            </a:r>
            <a:endParaRPr lang="en-US" sz="1200" dirty="0"/>
          </a:p>
        </p:txBody>
      </p:sp>
      <p:sp>
        <p:nvSpPr>
          <p:cNvPr id="23" name="Text 21"/>
          <p:cNvSpPr/>
          <p:nvPr/>
        </p:nvSpPr>
        <p:spPr>
          <a:xfrm>
            <a:off x="438912" y="4014216"/>
            <a:ext cx="3977640" cy="685800"/>
          </a:xfrm>
          <a:prstGeom prst="rect">
            <a:avLst/>
          </a:prstGeom>
          <a:noFill/>
          <a:ln/>
        </p:spPr>
        <p:txBody>
          <a:bodyPr wrap="square" lIns="0" tIns="0" rIns="0" bIns="0" rtlCol="0" anchor="ctr"/>
          <a:lstStyle/>
          <a:p>
            <a:pPr marL="0" indent="0">
              <a:buNone/>
            </a:pPr>
            <a:r>
              <a:rPr lang="en-US" sz="1100" dirty="0">
                <a:solidFill>
                  <a:srgbClr val="D0DEF0"/>
                </a:solidFill>
                <a:latin typeface="Calibri" pitchFamily="34" charset="0"/>
                <a:ea typeface="Calibri" pitchFamily="34" charset="-122"/>
                <a:cs typeface="Calibri" pitchFamily="34" charset="-120"/>
              </a:rPr>
              <a:t>62.58% of Mild/Typical Presentation individuals received a positive ASD diagnosis — severity alone does not predict diagnosis.</a:t>
            </a:r>
            <a:endParaRPr lang="en-US" sz="1100" dirty="0"/>
          </a:p>
        </p:txBody>
      </p:sp>
      <p:sp>
        <p:nvSpPr>
          <p:cNvPr id="24" name="Shape 22"/>
          <p:cNvSpPr/>
          <p:nvPr/>
        </p:nvSpPr>
        <p:spPr>
          <a:xfrm>
            <a:off x="4709160" y="3611880"/>
            <a:ext cx="4251960" cy="1170432"/>
          </a:xfrm>
          <a:prstGeom prst="rect">
            <a:avLst/>
          </a:prstGeom>
          <a:solidFill>
            <a:srgbClr val="1E3A5F"/>
          </a:solidFill>
          <a:ln/>
          <a:effectLst>
            <a:outerShdw blurRad="76200" dist="25400" dir="8100000" algn="bl" rotWithShape="0">
              <a:srgbClr val="000000">
                <a:alpha val="20000"/>
              </a:srgbClr>
            </a:outerShdw>
          </a:effectLst>
        </p:spPr>
        <p:txBody>
          <a:bodyPr/>
          <a:lstStyle/>
          <a:p>
            <a:endParaRPr lang="en-IN"/>
          </a:p>
        </p:txBody>
      </p:sp>
      <p:sp>
        <p:nvSpPr>
          <p:cNvPr id="25" name="Shape 23"/>
          <p:cNvSpPr/>
          <p:nvPr/>
        </p:nvSpPr>
        <p:spPr>
          <a:xfrm>
            <a:off x="4709160" y="3611880"/>
            <a:ext cx="64008" cy="1170432"/>
          </a:xfrm>
          <a:prstGeom prst="rect">
            <a:avLst/>
          </a:prstGeom>
          <a:solidFill>
            <a:srgbClr val="E87722"/>
          </a:solidFill>
          <a:ln/>
        </p:spPr>
        <p:txBody>
          <a:bodyPr/>
          <a:lstStyle/>
          <a:p>
            <a:endParaRPr lang="en-IN"/>
          </a:p>
        </p:txBody>
      </p:sp>
      <p:sp>
        <p:nvSpPr>
          <p:cNvPr id="26" name="Text 24"/>
          <p:cNvSpPr/>
          <p:nvPr/>
        </p:nvSpPr>
        <p:spPr>
          <a:xfrm>
            <a:off x="4873752" y="3703320"/>
            <a:ext cx="3977640" cy="274320"/>
          </a:xfrm>
          <a:prstGeom prst="rect">
            <a:avLst/>
          </a:prstGeom>
          <a:noFill/>
          <a:ln/>
        </p:spPr>
        <p:txBody>
          <a:bodyPr wrap="square" lIns="0" tIns="0" rIns="0" bIns="0" rtlCol="0" anchor="ctr"/>
          <a:lstStyle/>
          <a:p>
            <a:pPr marL="0" indent="0">
              <a:buNone/>
            </a:pPr>
            <a:r>
              <a:rPr lang="en-US" sz="1200" b="1" dirty="0">
                <a:solidFill>
                  <a:srgbClr val="E87722"/>
                </a:solidFill>
                <a:latin typeface="Calibri" pitchFamily="34" charset="0"/>
                <a:ea typeface="Calibri" pitchFamily="34" charset="-122"/>
                <a:cs typeface="Calibri" pitchFamily="34" charset="-120"/>
              </a:rPr>
              <a:t>Masking &amp; Late Diagnosis</a:t>
            </a:r>
            <a:endParaRPr lang="en-US" sz="1200" dirty="0"/>
          </a:p>
        </p:txBody>
      </p:sp>
      <p:sp>
        <p:nvSpPr>
          <p:cNvPr id="27" name="Text 25"/>
          <p:cNvSpPr/>
          <p:nvPr/>
        </p:nvSpPr>
        <p:spPr>
          <a:xfrm>
            <a:off x="4873752" y="4014216"/>
            <a:ext cx="3977640" cy="685800"/>
          </a:xfrm>
          <a:prstGeom prst="rect">
            <a:avLst/>
          </a:prstGeom>
          <a:noFill/>
          <a:ln/>
        </p:spPr>
        <p:txBody>
          <a:bodyPr wrap="square" lIns="0" tIns="0" rIns="0" bIns="0" rtlCol="0" anchor="ctr"/>
          <a:lstStyle/>
          <a:p>
            <a:pPr marL="0" indent="0">
              <a:buNone/>
            </a:pPr>
            <a:r>
              <a:rPr lang="en-US" sz="1100" dirty="0">
                <a:solidFill>
                  <a:srgbClr val="D0DEF0"/>
                </a:solidFill>
                <a:latin typeface="Calibri" pitchFamily="34" charset="0"/>
                <a:ea typeface="Calibri" pitchFamily="34" charset="-122"/>
                <a:cs typeface="Calibri" pitchFamily="34" charset="-120"/>
              </a:rPr>
              <a:t>These engineered flags reveal hidden clinical populations that standard screening tools are most likely to overlook.</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9"/>
        </a:solidFill>
        <a:effectLst/>
      </p:bgPr>
    </p:bg>
    <p:spTree>
      <p:nvGrpSpPr>
        <p:cNvPr id="1" name=""/>
        <p:cNvGrpSpPr/>
        <p:nvPr/>
      </p:nvGrpSpPr>
      <p:grpSpPr>
        <a:xfrm>
          <a:off x="0" y="0"/>
          <a:ext cx="0" cy="0"/>
          <a:chOff x="0" y="0"/>
          <a:chExt cx="0" cy="0"/>
        </a:xfrm>
      </p:grpSpPr>
      <p:sp>
        <p:nvSpPr>
          <p:cNvPr id="2" name="Shape 0"/>
          <p:cNvSpPr/>
          <p:nvPr/>
        </p:nvSpPr>
        <p:spPr>
          <a:xfrm>
            <a:off x="0" y="0"/>
            <a:ext cx="9144000" cy="594360"/>
          </a:xfrm>
          <a:prstGeom prst="rect">
            <a:avLst/>
          </a:prstGeom>
          <a:solidFill>
            <a:srgbClr val="1C2B4A"/>
          </a:solidFill>
          <a:ln/>
        </p:spPr>
        <p:txBody>
          <a:bodyPr/>
          <a:lstStyle/>
          <a:p>
            <a:endParaRPr lang="en-IN"/>
          </a:p>
        </p:txBody>
      </p:sp>
      <p:sp>
        <p:nvSpPr>
          <p:cNvPr id="3" name="Text 1"/>
          <p:cNvSpPr/>
          <p:nvPr/>
        </p:nvSpPr>
        <p:spPr>
          <a:xfrm>
            <a:off x="228600" y="45720"/>
            <a:ext cx="8686800" cy="5029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Next Steps</a:t>
            </a:r>
            <a:endParaRPr lang="en-US" sz="1800" dirty="0"/>
          </a:p>
        </p:txBody>
      </p:sp>
      <p:sp>
        <p:nvSpPr>
          <p:cNvPr id="4" name="Shape 2"/>
          <p:cNvSpPr/>
          <p:nvPr/>
        </p:nvSpPr>
        <p:spPr>
          <a:xfrm>
            <a:off x="274320" y="777240"/>
            <a:ext cx="28346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5" name="Shape 3"/>
          <p:cNvSpPr/>
          <p:nvPr/>
        </p:nvSpPr>
        <p:spPr>
          <a:xfrm>
            <a:off x="274320" y="777240"/>
            <a:ext cx="2834640" cy="54864"/>
          </a:xfrm>
          <a:prstGeom prst="rect">
            <a:avLst/>
          </a:prstGeom>
          <a:solidFill>
            <a:srgbClr val="0D7C8C"/>
          </a:solidFill>
          <a:ln/>
        </p:spPr>
        <p:txBody>
          <a:bodyPr/>
          <a:lstStyle/>
          <a:p>
            <a:endParaRPr lang="en-IN"/>
          </a:p>
        </p:txBody>
      </p:sp>
      <p:sp>
        <p:nvSpPr>
          <p:cNvPr id="6" name="Shape 4"/>
          <p:cNvSpPr/>
          <p:nvPr/>
        </p:nvSpPr>
        <p:spPr>
          <a:xfrm>
            <a:off x="365760" y="914400"/>
            <a:ext cx="502920" cy="502920"/>
          </a:xfrm>
          <a:prstGeom prst="rect">
            <a:avLst/>
          </a:prstGeom>
          <a:solidFill>
            <a:srgbClr val="E87722"/>
          </a:solidFill>
          <a:ln/>
        </p:spPr>
        <p:txBody>
          <a:bodyPr/>
          <a:lstStyle/>
          <a:p>
            <a:endParaRPr lang="en-IN"/>
          </a:p>
        </p:txBody>
      </p:sp>
      <p:sp>
        <p:nvSpPr>
          <p:cNvPr id="7" name="Text 5"/>
          <p:cNvSpPr/>
          <p:nvPr/>
        </p:nvSpPr>
        <p:spPr>
          <a:xfrm>
            <a:off x="365760" y="9144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8" name="Text 6"/>
          <p:cNvSpPr/>
          <p:nvPr/>
        </p:nvSpPr>
        <p:spPr>
          <a:xfrm>
            <a:off x="365760" y="1508760"/>
            <a:ext cx="2651760" cy="365760"/>
          </a:xfrm>
          <a:prstGeom prst="rect">
            <a:avLst/>
          </a:prstGeom>
          <a:noFill/>
          <a:ln/>
        </p:spPr>
        <p:txBody>
          <a:bodyPr wrap="square" lIns="0" tIns="0" rIns="0" bIns="0" rtlCol="0" anchor="ctr"/>
          <a:lstStyle/>
          <a:p>
            <a:pPr marL="0" indent="0">
              <a:buNone/>
            </a:pPr>
            <a:r>
              <a:rPr lang="en-US" sz="1400" b="1" dirty="0">
                <a:solidFill>
                  <a:srgbClr val="1C2B4A"/>
                </a:solidFill>
                <a:latin typeface="Calibri" pitchFamily="34" charset="0"/>
                <a:ea typeface="Calibri" pitchFamily="34" charset="-122"/>
                <a:cs typeface="Calibri" pitchFamily="34" charset="-120"/>
              </a:rPr>
              <a:t>Statistical Testing</a:t>
            </a:r>
            <a:endParaRPr lang="en-US" sz="1400" dirty="0"/>
          </a:p>
        </p:txBody>
      </p:sp>
      <p:sp>
        <p:nvSpPr>
          <p:cNvPr id="9" name="Text 7"/>
          <p:cNvSpPr/>
          <p:nvPr/>
        </p:nvSpPr>
        <p:spPr>
          <a:xfrm>
            <a:off x="365760" y="1965960"/>
            <a:ext cx="2651760" cy="283464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Conduct Chi-square tests and correlation matrices to find statistically significant associations between behavioral traits and ASD diagnosis.</a:t>
            </a:r>
            <a:endParaRPr lang="en-US" sz="1200" dirty="0"/>
          </a:p>
        </p:txBody>
      </p:sp>
      <p:sp>
        <p:nvSpPr>
          <p:cNvPr id="10" name="Shape 8"/>
          <p:cNvSpPr/>
          <p:nvPr/>
        </p:nvSpPr>
        <p:spPr>
          <a:xfrm>
            <a:off x="3227832" y="777240"/>
            <a:ext cx="28346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11" name="Shape 9"/>
          <p:cNvSpPr/>
          <p:nvPr/>
        </p:nvSpPr>
        <p:spPr>
          <a:xfrm>
            <a:off x="3227832" y="777240"/>
            <a:ext cx="2834640" cy="54864"/>
          </a:xfrm>
          <a:prstGeom prst="rect">
            <a:avLst/>
          </a:prstGeom>
          <a:solidFill>
            <a:srgbClr val="0D7C8C"/>
          </a:solidFill>
          <a:ln/>
        </p:spPr>
        <p:txBody>
          <a:bodyPr/>
          <a:lstStyle/>
          <a:p>
            <a:endParaRPr lang="en-IN"/>
          </a:p>
        </p:txBody>
      </p:sp>
      <p:sp>
        <p:nvSpPr>
          <p:cNvPr id="12" name="Shape 10"/>
          <p:cNvSpPr/>
          <p:nvPr/>
        </p:nvSpPr>
        <p:spPr>
          <a:xfrm>
            <a:off x="3319272" y="914400"/>
            <a:ext cx="502920" cy="502920"/>
          </a:xfrm>
          <a:prstGeom prst="rect">
            <a:avLst/>
          </a:prstGeom>
          <a:solidFill>
            <a:srgbClr val="E87722"/>
          </a:solidFill>
          <a:ln/>
        </p:spPr>
        <p:txBody>
          <a:bodyPr/>
          <a:lstStyle/>
          <a:p>
            <a:endParaRPr lang="en-IN"/>
          </a:p>
        </p:txBody>
      </p:sp>
      <p:sp>
        <p:nvSpPr>
          <p:cNvPr id="13" name="Text 11"/>
          <p:cNvSpPr/>
          <p:nvPr/>
        </p:nvSpPr>
        <p:spPr>
          <a:xfrm>
            <a:off x="3319272" y="9144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4" name="Text 12"/>
          <p:cNvSpPr/>
          <p:nvPr/>
        </p:nvSpPr>
        <p:spPr>
          <a:xfrm>
            <a:off x="3319272" y="1508760"/>
            <a:ext cx="2651760" cy="365760"/>
          </a:xfrm>
          <a:prstGeom prst="rect">
            <a:avLst/>
          </a:prstGeom>
          <a:noFill/>
          <a:ln/>
        </p:spPr>
        <p:txBody>
          <a:bodyPr wrap="square" lIns="0" tIns="0" rIns="0" bIns="0" rtlCol="0" anchor="ctr"/>
          <a:lstStyle/>
          <a:p>
            <a:pPr marL="0" indent="0">
              <a:buNone/>
            </a:pPr>
            <a:r>
              <a:rPr lang="en-US" sz="1400" b="1" dirty="0">
                <a:solidFill>
                  <a:srgbClr val="1C2B4A"/>
                </a:solidFill>
                <a:latin typeface="Calibri" pitchFamily="34" charset="0"/>
                <a:ea typeface="Calibri" pitchFamily="34" charset="-122"/>
                <a:cs typeface="Calibri" pitchFamily="34" charset="-120"/>
              </a:rPr>
              <a:t>Interactive Visualizations</a:t>
            </a:r>
            <a:endParaRPr lang="en-US" sz="1400" dirty="0"/>
          </a:p>
        </p:txBody>
      </p:sp>
      <p:sp>
        <p:nvSpPr>
          <p:cNvPr id="15" name="Text 13"/>
          <p:cNvSpPr/>
          <p:nvPr/>
        </p:nvSpPr>
        <p:spPr>
          <a:xfrm>
            <a:off x="3319272" y="1965960"/>
            <a:ext cx="2651760" cy="283464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Map trait burdens across subgroups — comparing adult females with late diagnoses to early childhood cases — using dynamic filtering.</a:t>
            </a:r>
            <a:endParaRPr lang="en-US" sz="1200" dirty="0"/>
          </a:p>
        </p:txBody>
      </p:sp>
      <p:sp>
        <p:nvSpPr>
          <p:cNvPr id="16" name="Shape 14"/>
          <p:cNvSpPr/>
          <p:nvPr/>
        </p:nvSpPr>
        <p:spPr>
          <a:xfrm>
            <a:off x="6181344" y="777240"/>
            <a:ext cx="2834640" cy="4160520"/>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IN"/>
          </a:p>
        </p:txBody>
      </p:sp>
      <p:sp>
        <p:nvSpPr>
          <p:cNvPr id="17" name="Shape 15"/>
          <p:cNvSpPr/>
          <p:nvPr/>
        </p:nvSpPr>
        <p:spPr>
          <a:xfrm>
            <a:off x="6181344" y="777240"/>
            <a:ext cx="2834640" cy="54864"/>
          </a:xfrm>
          <a:prstGeom prst="rect">
            <a:avLst/>
          </a:prstGeom>
          <a:solidFill>
            <a:srgbClr val="0D7C8C"/>
          </a:solidFill>
          <a:ln/>
        </p:spPr>
        <p:txBody>
          <a:bodyPr/>
          <a:lstStyle/>
          <a:p>
            <a:endParaRPr lang="en-IN"/>
          </a:p>
        </p:txBody>
      </p:sp>
      <p:sp>
        <p:nvSpPr>
          <p:cNvPr id="18" name="Shape 16"/>
          <p:cNvSpPr/>
          <p:nvPr/>
        </p:nvSpPr>
        <p:spPr>
          <a:xfrm>
            <a:off x="6272784" y="914400"/>
            <a:ext cx="502920" cy="502920"/>
          </a:xfrm>
          <a:prstGeom prst="rect">
            <a:avLst/>
          </a:prstGeom>
          <a:solidFill>
            <a:srgbClr val="E87722"/>
          </a:solidFill>
          <a:ln/>
        </p:spPr>
        <p:txBody>
          <a:bodyPr/>
          <a:lstStyle/>
          <a:p>
            <a:endParaRPr lang="en-IN"/>
          </a:p>
        </p:txBody>
      </p:sp>
      <p:sp>
        <p:nvSpPr>
          <p:cNvPr id="19" name="Text 17"/>
          <p:cNvSpPr/>
          <p:nvPr/>
        </p:nvSpPr>
        <p:spPr>
          <a:xfrm>
            <a:off x="6272784" y="91440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0" name="Text 18"/>
          <p:cNvSpPr/>
          <p:nvPr/>
        </p:nvSpPr>
        <p:spPr>
          <a:xfrm>
            <a:off x="6272784" y="1508760"/>
            <a:ext cx="2651760" cy="365760"/>
          </a:xfrm>
          <a:prstGeom prst="rect">
            <a:avLst/>
          </a:prstGeom>
          <a:noFill/>
          <a:ln/>
        </p:spPr>
        <p:txBody>
          <a:bodyPr wrap="square" lIns="0" tIns="0" rIns="0" bIns="0" rtlCol="0" anchor="ctr"/>
          <a:lstStyle/>
          <a:p>
            <a:pPr marL="0" indent="0">
              <a:buNone/>
            </a:pPr>
            <a:r>
              <a:rPr lang="en-US" sz="1400" b="1" dirty="0">
                <a:solidFill>
                  <a:srgbClr val="1C2B4A"/>
                </a:solidFill>
                <a:latin typeface="Calibri" pitchFamily="34" charset="0"/>
                <a:ea typeface="Calibri" pitchFamily="34" charset="-122"/>
                <a:cs typeface="Calibri" pitchFamily="34" charset="-120"/>
              </a:rPr>
              <a:t>Analytical Dashboard</a:t>
            </a:r>
            <a:endParaRPr lang="en-US" sz="1400" dirty="0"/>
          </a:p>
        </p:txBody>
      </p:sp>
      <p:sp>
        <p:nvSpPr>
          <p:cNvPr id="21" name="Text 19"/>
          <p:cNvSpPr/>
          <p:nvPr/>
        </p:nvSpPr>
        <p:spPr>
          <a:xfrm>
            <a:off x="6272784" y="1965960"/>
            <a:ext cx="2651760" cy="2834640"/>
          </a:xfrm>
          <a:prstGeom prst="rect">
            <a:avLst/>
          </a:prstGeom>
          <a:noFill/>
          <a:ln/>
        </p:spPr>
        <p:txBody>
          <a:bodyPr wrap="square" lIns="0" tIns="0" rIns="0" bIns="0" rtlCol="0" anchor="t"/>
          <a:lstStyle/>
          <a:p>
            <a:pPr marL="0" indent="0">
              <a:buNone/>
            </a:pPr>
            <a:r>
              <a:rPr lang="en-US" sz="1200" dirty="0">
                <a:solidFill>
                  <a:srgbClr val="64748B"/>
                </a:solidFill>
                <a:latin typeface="Calibri" pitchFamily="34" charset="0"/>
                <a:ea typeface="Calibri" pitchFamily="34" charset="-122"/>
                <a:cs typeface="Calibri" pitchFamily="34" charset="-120"/>
              </a:rPr>
              <a:t>Build a real-time dashboard allowing researchers to filter patient archetypes, demographic segments, and composite risk scores dynamically.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2325</Words>
  <Application>Microsoft Office PowerPoint</Application>
  <PresentationFormat>On-screen Show (16:9)</PresentationFormat>
  <Paragraphs>296</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Beyond the Diagnosis: ASD Milestone Presentation</dc:title>
  <dc:subject>PptxGenJS Presentation</dc:subject>
  <dc:creator>PptxGenJS</dc:creator>
  <cp:lastModifiedBy>yagya mahajan</cp:lastModifiedBy>
  <cp:revision>2</cp:revision>
  <dcterms:created xsi:type="dcterms:W3CDTF">2026-04-14T17:23:46Z</dcterms:created>
  <dcterms:modified xsi:type="dcterms:W3CDTF">2026-04-14T21:20:16Z</dcterms:modified>
</cp:coreProperties>
</file>