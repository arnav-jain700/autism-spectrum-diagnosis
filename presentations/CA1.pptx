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
      <p:font typeface="Montserrat" panose="00000500000000000000" pitchFamily="2"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C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461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4.pn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574369"/>
            <a:ext cx="5706070"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Beyond the Diagnosis</a:t>
            </a:r>
            <a:endParaRPr lang="en-US" sz="4450" dirty="0"/>
          </a:p>
        </p:txBody>
      </p:sp>
      <p:sp>
        <p:nvSpPr>
          <p:cNvPr id="4" name="Text 1"/>
          <p:cNvSpPr/>
          <p:nvPr/>
        </p:nvSpPr>
        <p:spPr>
          <a:xfrm>
            <a:off x="793790" y="3395424"/>
            <a:ext cx="7556421" cy="741521"/>
          </a:xfrm>
          <a:prstGeom prst="rect">
            <a:avLst/>
          </a:prstGeom>
          <a:noFill/>
          <a:ln/>
        </p:spPr>
        <p:txBody>
          <a:bodyPr wrap="square" lIns="0" tIns="0" rIns="0" bIns="0" rtlCol="0" anchor="t"/>
          <a:lstStyle/>
          <a:p>
            <a:pPr marL="0" indent="0" algn="l">
              <a:lnSpc>
                <a:spcPts val="2900"/>
              </a:lnSpc>
              <a:buNone/>
            </a:pPr>
            <a:r>
              <a:rPr lang="en-US" sz="2200" dirty="0">
                <a:solidFill>
                  <a:srgbClr val="532418"/>
                </a:solidFill>
                <a:latin typeface="Marcellus" pitchFamily="34" charset="0"/>
                <a:ea typeface="Marcellus" pitchFamily="34" charset="-122"/>
                <a:cs typeface="Marcellus" pitchFamily="34" charset="-120"/>
              </a:rPr>
              <a:t>A Demographic and Behavioral Profiling of Autism Spectrum Traits</a:t>
            </a:r>
            <a:endParaRPr lang="en-US" sz="2200" dirty="0"/>
          </a:p>
        </p:txBody>
      </p:sp>
      <p:sp>
        <p:nvSpPr>
          <p:cNvPr id="5" name="Text 2"/>
          <p:cNvSpPr/>
          <p:nvPr/>
        </p:nvSpPr>
        <p:spPr>
          <a:xfrm>
            <a:off x="793790" y="4434602"/>
            <a:ext cx="7556421" cy="258008"/>
          </a:xfrm>
          <a:prstGeom prst="rect">
            <a:avLst/>
          </a:prstGeom>
          <a:noFill/>
          <a:ln/>
        </p:spPr>
        <p:txBody>
          <a:bodyPr wrap="non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Descriptive Analytics Project</a:t>
            </a:r>
            <a:r>
              <a:rPr lang="en-US" sz="1550" dirty="0">
                <a:solidFill>
                  <a:srgbClr val="67534F"/>
                </a:solidFill>
                <a:latin typeface="Montserrat" pitchFamily="34" charset="0"/>
                <a:ea typeface="Montserrat" pitchFamily="34" charset="-122"/>
                <a:cs typeface="Montserrat" pitchFamily="34" charset="-120"/>
              </a:rPr>
              <a:t> | Course Code: CSD301</a:t>
            </a:r>
            <a:endParaRPr lang="en-US" sz="1550" dirty="0"/>
          </a:p>
        </p:txBody>
      </p:sp>
      <p:sp>
        <p:nvSpPr>
          <p:cNvPr id="6" name="Text 3"/>
          <p:cNvSpPr/>
          <p:nvPr/>
        </p:nvSpPr>
        <p:spPr>
          <a:xfrm>
            <a:off x="793790" y="4915853"/>
            <a:ext cx="7556421" cy="258008"/>
          </a:xfrm>
          <a:prstGeom prst="rect">
            <a:avLst/>
          </a:prstGeom>
          <a:noFill/>
          <a:ln/>
        </p:spPr>
        <p:txBody>
          <a:bodyPr wrap="non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Group Name</a:t>
            </a:r>
            <a:r>
              <a:rPr lang="en-US" sz="1550" dirty="0">
                <a:solidFill>
                  <a:srgbClr val="67534F"/>
                </a:solidFill>
                <a:latin typeface="Montserrat" pitchFamily="34" charset="0"/>
                <a:ea typeface="Montserrat" pitchFamily="34" charset="-122"/>
                <a:cs typeface="Montserrat" pitchFamily="34" charset="-120"/>
              </a:rPr>
              <a:t>: Insight Igniters</a:t>
            </a:r>
            <a:endParaRPr lang="en-US" sz="1550" dirty="0"/>
          </a:p>
        </p:txBody>
      </p:sp>
      <p:sp>
        <p:nvSpPr>
          <p:cNvPr id="7" name="Text 4"/>
          <p:cNvSpPr/>
          <p:nvPr/>
        </p:nvSpPr>
        <p:spPr>
          <a:xfrm>
            <a:off x="793790" y="5397103"/>
            <a:ext cx="7556421" cy="258008"/>
          </a:xfrm>
          <a:prstGeom prst="rect">
            <a:avLst/>
          </a:prstGeom>
          <a:noFill/>
          <a:ln/>
        </p:spPr>
        <p:txBody>
          <a:bodyPr wrap="non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Members</a:t>
            </a:r>
            <a:r>
              <a:rPr lang="en-US" sz="1550" dirty="0">
                <a:solidFill>
                  <a:srgbClr val="67534F"/>
                </a:solidFill>
                <a:latin typeface="Montserrat" pitchFamily="34" charset="0"/>
                <a:ea typeface="Montserrat" pitchFamily="34" charset="-122"/>
                <a:cs typeface="Montserrat" pitchFamily="34" charset="-120"/>
              </a:rPr>
              <a:t>: Yagya Mahajan (12400421) | Arnav Jain (12419975)</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490438-E204-429C-B448-8793C1224FB0}"/>
              </a:ext>
            </a:extLst>
          </p:cNvPr>
          <p:cNvGrpSpPr/>
          <p:nvPr/>
        </p:nvGrpSpPr>
        <p:grpSpPr>
          <a:xfrm>
            <a:off x="793790" y="908566"/>
            <a:ext cx="13729034" cy="7321034"/>
            <a:chOff x="793790" y="908566"/>
            <a:chExt cx="13729034" cy="7321034"/>
          </a:xfrm>
        </p:grpSpPr>
        <p:sp>
          <p:nvSpPr>
            <p:cNvPr id="2" name="Text 0"/>
            <p:cNvSpPr/>
            <p:nvPr/>
          </p:nvSpPr>
          <p:spPr>
            <a:xfrm>
              <a:off x="793790" y="908566"/>
              <a:ext cx="10725150"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Understanding Autism Spectrum Disorder</a:t>
              </a:r>
              <a:endParaRPr lang="en-US" sz="4450" dirty="0"/>
            </a:p>
          </p:txBody>
        </p:sp>
        <p:sp>
          <p:nvSpPr>
            <p:cNvPr id="3" name="Text 1"/>
            <p:cNvSpPr/>
            <p:nvPr/>
          </p:nvSpPr>
          <p:spPr>
            <a:xfrm>
              <a:off x="793790" y="2126575"/>
              <a:ext cx="7632025" cy="1548051"/>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Autism Spectrum Disorder (ASD) presents diverse manifestations across different demographics and populations. The current challenge lies in understanding how behavioral traits—such as eye contact patterns, social mimicry, gestural communication, and imaginative engagement—vary significantly across gender, age groups, and critical medical backgrounds like jaundice history and genetic predisposition.</a:t>
              </a:r>
              <a:endParaRPr lang="en-US" sz="1550" dirty="0"/>
            </a:p>
          </p:txBody>
        </p:sp>
        <p:sp>
          <p:nvSpPr>
            <p:cNvPr id="4" name="Text 2"/>
            <p:cNvSpPr/>
            <p:nvPr/>
          </p:nvSpPr>
          <p:spPr>
            <a:xfrm>
              <a:off x="793790" y="3853220"/>
              <a:ext cx="7632025" cy="1548051"/>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By systematically analyzing screening data, this project aims to uncover hidden demographic disparities, identify behavioral clusters, and provide a nuanced understanding of how autism spectrum traits manifest across diverse populations. This data-driven approach moves beyond binary diagnostic classifications to reveal the complexity of ASD across different demographic segments.</a:t>
              </a:r>
              <a:endParaRPr lang="en-US" sz="1550" dirty="0"/>
            </a:p>
          </p:txBody>
        </p:sp>
        <p:pic>
          <p:nvPicPr>
            <p:cNvPr id="5" name="Image 0" descr="preencoded.png"/>
            <p:cNvPicPr>
              <a:picLocks noChangeAspect="1"/>
            </p:cNvPicPr>
            <p:nvPr/>
          </p:nvPicPr>
          <p:blipFill>
            <a:blip r:embed="rId3"/>
            <a:stretch>
              <a:fillRect/>
            </a:stretch>
          </p:blipFill>
          <p:spPr>
            <a:xfrm>
              <a:off x="8917543" y="2171224"/>
              <a:ext cx="4926568" cy="4926568"/>
            </a:xfrm>
            <a:prstGeom prst="rect">
              <a:avLst/>
            </a:prstGeom>
          </p:spPr>
        </p:pic>
        <p:sp>
          <p:nvSpPr>
            <p:cNvPr id="6" name="TextBox 5">
              <a:extLst>
                <a:ext uri="{FF2B5EF4-FFF2-40B4-BE49-F238E27FC236}">
                  <a16:creationId xmlns:a16="http://schemas.microsoft.com/office/drawing/2014/main" id="{453171D4-A632-442F-8E87-D9652C6904E5}"/>
                </a:ext>
              </a:extLst>
            </p:cNvPr>
            <p:cNvSpPr txBox="1"/>
            <p:nvPr/>
          </p:nvSpPr>
          <p:spPr>
            <a:xfrm>
              <a:off x="12801600" y="7670202"/>
              <a:ext cx="1721224" cy="559398"/>
            </a:xfrm>
            <a:prstGeom prst="rect">
              <a:avLst/>
            </a:prstGeom>
            <a:solidFill>
              <a:srgbClr val="FDFCF0"/>
            </a:solidFill>
          </p:spPr>
          <p:txBody>
            <a:bodyPr wrap="square" rtlCol="0">
              <a:spAutoFit/>
            </a:bodyPr>
            <a:lstStyle/>
            <a:p>
              <a:endParaRPr lang="en-IN"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024CB11A-2B1A-40B5-9B56-52734C4AEC37}"/>
              </a:ext>
            </a:extLst>
          </p:cNvPr>
          <p:cNvGrpSpPr/>
          <p:nvPr/>
        </p:nvGrpSpPr>
        <p:grpSpPr>
          <a:xfrm>
            <a:off x="793790" y="705683"/>
            <a:ext cx="13729034" cy="7523917"/>
            <a:chOff x="793790" y="705683"/>
            <a:chExt cx="13729034" cy="7523917"/>
          </a:xfrm>
        </p:grpSpPr>
        <p:sp>
          <p:nvSpPr>
            <p:cNvPr id="2" name="Text 0"/>
            <p:cNvSpPr/>
            <p:nvPr/>
          </p:nvSpPr>
          <p:spPr>
            <a:xfrm>
              <a:off x="793790" y="705683"/>
              <a:ext cx="6196370"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Project Goals and Vision</a:t>
              </a:r>
              <a:endParaRPr lang="en-US" sz="4450" dirty="0"/>
            </a:p>
          </p:txBody>
        </p:sp>
        <p:sp>
          <p:nvSpPr>
            <p:cNvPr id="3" name="Shape 1"/>
            <p:cNvSpPr/>
            <p:nvPr/>
          </p:nvSpPr>
          <p:spPr>
            <a:xfrm>
              <a:off x="793790" y="1844278"/>
              <a:ext cx="6422231" cy="2241947"/>
            </a:xfrm>
            <a:prstGeom prst="roundRect">
              <a:avLst>
                <a:gd name="adj" fmla="val 3718"/>
              </a:avLst>
            </a:prstGeom>
            <a:solidFill>
              <a:srgbClr val="FFFFF4"/>
            </a:solidFill>
            <a:ln w="22860">
              <a:solidFill>
                <a:srgbClr val="FFE0CC"/>
              </a:solidFill>
              <a:prstDash val="solid"/>
            </a:ln>
          </p:spPr>
        </p:sp>
        <p:sp>
          <p:nvSpPr>
            <p:cNvPr id="4" name="Shape 2"/>
            <p:cNvSpPr/>
            <p:nvPr/>
          </p:nvSpPr>
          <p:spPr>
            <a:xfrm>
              <a:off x="1015008" y="2065496"/>
              <a:ext cx="595313" cy="595313"/>
            </a:xfrm>
            <a:prstGeom prst="roundRect">
              <a:avLst>
                <a:gd name="adj" fmla="val 15358451"/>
              </a:avLst>
            </a:prstGeom>
            <a:solidFill>
              <a:srgbClr val="FF954F"/>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8719" y="2229088"/>
              <a:ext cx="267891" cy="267891"/>
            </a:xfrm>
            <a:prstGeom prst="rect">
              <a:avLst/>
            </a:prstGeom>
          </p:spPr>
        </p:pic>
        <p:sp>
          <p:nvSpPr>
            <p:cNvPr id="6" name="Text 3"/>
            <p:cNvSpPr/>
            <p:nvPr/>
          </p:nvSpPr>
          <p:spPr>
            <a:xfrm>
              <a:off x="1015008" y="2859167"/>
              <a:ext cx="3927991"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Identify Demographic Patterns</a:t>
              </a:r>
              <a:endParaRPr lang="en-US" sz="2200" dirty="0"/>
            </a:p>
          </p:txBody>
        </p:sp>
        <p:sp>
          <p:nvSpPr>
            <p:cNvPr id="7" name="Text 4"/>
            <p:cNvSpPr/>
            <p:nvPr/>
          </p:nvSpPr>
          <p:spPr>
            <a:xfrm>
              <a:off x="1015008" y="3348990"/>
              <a:ext cx="5979795" cy="51601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Analyze how ASD traits vary across gender, age groups, and medical risk factors</a:t>
              </a:r>
              <a:endParaRPr lang="en-US" sz="1550" dirty="0"/>
            </a:p>
          </p:txBody>
        </p:sp>
        <p:sp>
          <p:nvSpPr>
            <p:cNvPr id="8" name="Shape 5"/>
            <p:cNvSpPr/>
            <p:nvPr/>
          </p:nvSpPr>
          <p:spPr>
            <a:xfrm>
              <a:off x="7414379" y="1844278"/>
              <a:ext cx="6422231" cy="2241947"/>
            </a:xfrm>
            <a:prstGeom prst="roundRect">
              <a:avLst>
                <a:gd name="adj" fmla="val 3718"/>
              </a:avLst>
            </a:prstGeom>
            <a:solidFill>
              <a:srgbClr val="FFFFF4"/>
            </a:solidFill>
            <a:ln w="22860">
              <a:solidFill>
                <a:srgbClr val="FFE0CC"/>
              </a:solidFill>
              <a:prstDash val="solid"/>
            </a:ln>
          </p:spPr>
        </p:sp>
        <p:sp>
          <p:nvSpPr>
            <p:cNvPr id="9" name="Shape 6"/>
            <p:cNvSpPr/>
            <p:nvPr/>
          </p:nvSpPr>
          <p:spPr>
            <a:xfrm>
              <a:off x="7635597" y="2065496"/>
              <a:ext cx="595313" cy="595313"/>
            </a:xfrm>
            <a:prstGeom prst="roundRect">
              <a:avLst>
                <a:gd name="adj" fmla="val 15358451"/>
              </a:avLst>
            </a:prstGeom>
            <a:solidFill>
              <a:srgbClr val="FF954F"/>
            </a:solidFill>
            <a:ln/>
          </p:spPr>
        </p:sp>
        <p:pic>
          <p:nvPicPr>
            <p:cNvPr id="10"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799308" y="2229088"/>
              <a:ext cx="267891" cy="267891"/>
            </a:xfrm>
            <a:prstGeom prst="rect">
              <a:avLst/>
            </a:prstGeom>
          </p:spPr>
        </p:pic>
        <p:sp>
          <p:nvSpPr>
            <p:cNvPr id="11" name="Text 7"/>
            <p:cNvSpPr/>
            <p:nvPr/>
          </p:nvSpPr>
          <p:spPr>
            <a:xfrm>
              <a:off x="7635597" y="2859167"/>
              <a:ext cx="3577947"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Uncover Behavioral Clusters</a:t>
              </a:r>
              <a:endParaRPr lang="en-US" sz="2200" dirty="0"/>
            </a:p>
          </p:txBody>
        </p:sp>
        <p:sp>
          <p:nvSpPr>
            <p:cNvPr id="12" name="Text 8"/>
            <p:cNvSpPr/>
            <p:nvPr/>
          </p:nvSpPr>
          <p:spPr>
            <a:xfrm>
              <a:off x="7635597" y="3348990"/>
              <a:ext cx="5979795" cy="51601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Discover correlations between specific behavioral traits and ASD diagnosis</a:t>
              </a:r>
              <a:endParaRPr lang="en-US" sz="1550" dirty="0"/>
            </a:p>
          </p:txBody>
        </p:sp>
        <p:sp>
          <p:nvSpPr>
            <p:cNvPr id="13" name="Shape 9"/>
            <p:cNvSpPr/>
            <p:nvPr/>
          </p:nvSpPr>
          <p:spPr>
            <a:xfrm>
              <a:off x="793790" y="4284583"/>
              <a:ext cx="6422231" cy="2241947"/>
            </a:xfrm>
            <a:prstGeom prst="roundRect">
              <a:avLst>
                <a:gd name="adj" fmla="val 3718"/>
              </a:avLst>
            </a:prstGeom>
            <a:solidFill>
              <a:srgbClr val="FFFFF4"/>
            </a:solidFill>
            <a:ln w="22860">
              <a:solidFill>
                <a:srgbClr val="FFE0CC"/>
              </a:solidFill>
              <a:prstDash val="solid"/>
            </a:ln>
          </p:spPr>
        </p:sp>
        <p:sp>
          <p:nvSpPr>
            <p:cNvPr id="14" name="Shape 10"/>
            <p:cNvSpPr/>
            <p:nvPr/>
          </p:nvSpPr>
          <p:spPr>
            <a:xfrm>
              <a:off x="1015008" y="4505801"/>
              <a:ext cx="595313" cy="595313"/>
            </a:xfrm>
            <a:prstGeom prst="roundRect">
              <a:avLst>
                <a:gd name="adj" fmla="val 15358451"/>
              </a:avLst>
            </a:prstGeom>
            <a:solidFill>
              <a:srgbClr val="FF954F"/>
            </a:solidFill>
            <a:ln/>
          </p:spPr>
        </p:sp>
        <p:pic>
          <p:nvPicPr>
            <p:cNvPr id="15"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1178719" y="4669393"/>
              <a:ext cx="267891" cy="267891"/>
            </a:xfrm>
            <a:prstGeom prst="rect">
              <a:avLst/>
            </a:prstGeom>
          </p:spPr>
        </p:pic>
        <p:sp>
          <p:nvSpPr>
            <p:cNvPr id="16" name="Text 11"/>
            <p:cNvSpPr/>
            <p:nvPr/>
          </p:nvSpPr>
          <p:spPr>
            <a:xfrm>
              <a:off x="1015008" y="5299472"/>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Assess Risk Factors</a:t>
              </a:r>
              <a:endParaRPr lang="en-US" sz="2200" dirty="0"/>
            </a:p>
          </p:txBody>
        </p:sp>
        <p:sp>
          <p:nvSpPr>
            <p:cNvPr id="17" name="Text 12"/>
            <p:cNvSpPr/>
            <p:nvPr/>
          </p:nvSpPr>
          <p:spPr>
            <a:xfrm>
              <a:off x="1015008" y="5789295"/>
              <a:ext cx="5979795" cy="51601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Evaluate the impact of jaundice history and family genetics on ASD manifestation</a:t>
              </a:r>
              <a:endParaRPr lang="en-US" sz="1550" dirty="0"/>
            </a:p>
          </p:txBody>
        </p:sp>
        <p:sp>
          <p:nvSpPr>
            <p:cNvPr id="18" name="Shape 13"/>
            <p:cNvSpPr/>
            <p:nvPr/>
          </p:nvSpPr>
          <p:spPr>
            <a:xfrm>
              <a:off x="7414379" y="4284583"/>
              <a:ext cx="6422231" cy="2241947"/>
            </a:xfrm>
            <a:prstGeom prst="roundRect">
              <a:avLst>
                <a:gd name="adj" fmla="val 3718"/>
              </a:avLst>
            </a:prstGeom>
            <a:solidFill>
              <a:srgbClr val="FFFFF4"/>
            </a:solidFill>
            <a:ln w="22860">
              <a:solidFill>
                <a:srgbClr val="FFE0CC"/>
              </a:solidFill>
              <a:prstDash val="solid"/>
            </a:ln>
          </p:spPr>
        </p:sp>
        <p:sp>
          <p:nvSpPr>
            <p:cNvPr id="19" name="Shape 14"/>
            <p:cNvSpPr/>
            <p:nvPr/>
          </p:nvSpPr>
          <p:spPr>
            <a:xfrm>
              <a:off x="7635597" y="4505801"/>
              <a:ext cx="595313" cy="595313"/>
            </a:xfrm>
            <a:prstGeom prst="roundRect">
              <a:avLst>
                <a:gd name="adj" fmla="val 15358451"/>
              </a:avLst>
            </a:prstGeom>
            <a:solidFill>
              <a:srgbClr val="FF954F"/>
            </a:solidFill>
            <a:ln/>
          </p:spPr>
        </p:sp>
        <p:pic>
          <p:nvPicPr>
            <p:cNvPr id="20"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799308" y="4669393"/>
              <a:ext cx="267891" cy="267891"/>
            </a:xfrm>
            <a:prstGeom prst="rect">
              <a:avLst/>
            </a:prstGeom>
          </p:spPr>
        </p:pic>
        <p:sp>
          <p:nvSpPr>
            <p:cNvPr id="21" name="Text 15"/>
            <p:cNvSpPr/>
            <p:nvPr/>
          </p:nvSpPr>
          <p:spPr>
            <a:xfrm>
              <a:off x="7635597" y="5299472"/>
              <a:ext cx="370510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Generate Actionable Insights</a:t>
              </a:r>
              <a:endParaRPr lang="en-US" sz="2200" dirty="0"/>
            </a:p>
          </p:txBody>
        </p:sp>
        <p:sp>
          <p:nvSpPr>
            <p:cNvPr id="22" name="Text 16"/>
            <p:cNvSpPr/>
            <p:nvPr/>
          </p:nvSpPr>
          <p:spPr>
            <a:xfrm>
              <a:off x="7635597" y="5789295"/>
              <a:ext cx="5979795" cy="51601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Create comprehensive understanding through statistical and visual analysis</a:t>
              </a:r>
              <a:endParaRPr lang="en-US" sz="1550" dirty="0"/>
            </a:p>
          </p:txBody>
        </p:sp>
        <p:sp>
          <p:nvSpPr>
            <p:cNvPr id="23" name="Text 17"/>
            <p:cNvSpPr/>
            <p:nvPr/>
          </p:nvSpPr>
          <p:spPr>
            <a:xfrm>
              <a:off x="793790" y="6749772"/>
              <a:ext cx="13042821" cy="774025"/>
            </a:xfrm>
            <a:prstGeom prst="rect">
              <a:avLst/>
            </a:prstGeom>
            <a:noFill/>
            <a:ln/>
          </p:spPr>
          <p:txBody>
            <a:bodyPr wrap="squar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Project Vision:</a:t>
              </a:r>
              <a:r>
                <a:rPr lang="en-US" sz="1550" dirty="0">
                  <a:solidFill>
                    <a:srgbClr val="67534F"/>
                  </a:solidFill>
                  <a:latin typeface="Montserrat" pitchFamily="34" charset="0"/>
                  <a:ea typeface="Montserrat" pitchFamily="34" charset="-122"/>
                  <a:cs typeface="Montserrat" pitchFamily="34" charset="-120"/>
                </a:rPr>
                <a:t> To develop an end-to-end exploratory data analysis pipeline that transforms raw autism screening responses into actionable demographic and behavioral insights, enabling clinicians, researchers, and policymakers to understand ASD manifestations across diverse populations and identify high-risk demographic groups requiring targeted interventions.</a:t>
              </a:r>
              <a:endParaRPr lang="en-US" sz="1550" dirty="0"/>
            </a:p>
          </p:txBody>
        </p:sp>
        <p:sp>
          <p:nvSpPr>
            <p:cNvPr id="24" name="TextBox 23">
              <a:extLst>
                <a:ext uri="{FF2B5EF4-FFF2-40B4-BE49-F238E27FC236}">
                  <a16:creationId xmlns:a16="http://schemas.microsoft.com/office/drawing/2014/main" id="{68043221-FD3D-4B2E-BAAE-A051CF7AF004}"/>
                </a:ext>
              </a:extLst>
            </p:cNvPr>
            <p:cNvSpPr txBox="1"/>
            <p:nvPr/>
          </p:nvSpPr>
          <p:spPr>
            <a:xfrm>
              <a:off x="12801600" y="7670202"/>
              <a:ext cx="1721224" cy="559398"/>
            </a:xfrm>
            <a:prstGeom prst="rect">
              <a:avLst/>
            </a:prstGeom>
            <a:solidFill>
              <a:srgbClr val="FDFCF0"/>
            </a:solidFill>
          </p:spPr>
          <p:txBody>
            <a:bodyPr wrap="square" rtlCol="0">
              <a:spAutoFit/>
            </a:bodyPr>
            <a:lstStyle/>
            <a:p>
              <a:endParaRPr lang="en-IN"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B9935411-DE7A-4837-9662-C3B5202F03A1}"/>
              </a:ext>
            </a:extLst>
          </p:cNvPr>
          <p:cNvGrpSpPr/>
          <p:nvPr/>
        </p:nvGrpSpPr>
        <p:grpSpPr>
          <a:xfrm>
            <a:off x="793790" y="878562"/>
            <a:ext cx="13729034" cy="7351038"/>
            <a:chOff x="793790" y="878562"/>
            <a:chExt cx="13729034" cy="7351038"/>
          </a:xfrm>
        </p:grpSpPr>
        <p:sp>
          <p:nvSpPr>
            <p:cNvPr id="2" name="Text 0"/>
            <p:cNvSpPr/>
            <p:nvPr/>
          </p:nvSpPr>
          <p:spPr>
            <a:xfrm>
              <a:off x="793790" y="878562"/>
              <a:ext cx="8677275"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Comprehensive Dataset Overview</a:t>
              </a:r>
              <a:endParaRPr lang="en-US" sz="4450" dirty="0"/>
            </a:p>
          </p:txBody>
        </p:sp>
        <p:sp>
          <p:nvSpPr>
            <p:cNvPr id="3" name="Text 1"/>
            <p:cNvSpPr/>
            <p:nvPr/>
          </p:nvSpPr>
          <p:spPr>
            <a:xfrm>
              <a:off x="793790" y="2116336"/>
              <a:ext cx="3074670" cy="654963"/>
            </a:xfrm>
            <a:prstGeom prst="rect">
              <a:avLst/>
            </a:prstGeom>
            <a:noFill/>
            <a:ln/>
          </p:spPr>
          <p:txBody>
            <a:bodyPr wrap="none" lIns="0" tIns="0" rIns="0" bIns="0" rtlCol="0" anchor="t"/>
            <a:lstStyle/>
            <a:p>
              <a:pPr marL="0" indent="0" algn="ctr">
                <a:lnSpc>
                  <a:spcPts val="5150"/>
                </a:lnSpc>
                <a:buNone/>
              </a:pPr>
              <a:r>
                <a:rPr lang="en-US" sz="5150" dirty="0">
                  <a:solidFill>
                    <a:srgbClr val="67534F"/>
                  </a:solidFill>
                  <a:latin typeface="Marcellus" pitchFamily="34" charset="0"/>
                  <a:ea typeface="Marcellus" pitchFamily="34" charset="-122"/>
                  <a:cs typeface="Marcellus" pitchFamily="34" charset="-120"/>
                </a:rPr>
                <a:t>6,075</a:t>
              </a:r>
              <a:endParaRPr lang="en-US" sz="5150" dirty="0"/>
            </a:p>
          </p:txBody>
        </p:sp>
        <p:sp>
          <p:nvSpPr>
            <p:cNvPr id="4" name="Text 2"/>
            <p:cNvSpPr/>
            <p:nvPr/>
          </p:nvSpPr>
          <p:spPr>
            <a:xfrm>
              <a:off x="904637" y="3019306"/>
              <a:ext cx="2852976" cy="370761"/>
            </a:xfrm>
            <a:prstGeom prst="rect">
              <a:avLst/>
            </a:prstGeom>
            <a:noFill/>
            <a:ln/>
          </p:spPr>
          <p:txBody>
            <a:bodyPr wrap="none" lIns="0" tIns="0" rIns="0" bIns="0" rtlCol="0" anchor="t"/>
            <a:lstStyle/>
            <a:p>
              <a:pPr marL="0" indent="0" algn="ctr">
                <a:lnSpc>
                  <a:spcPts val="2900"/>
                </a:lnSpc>
                <a:buNone/>
              </a:pPr>
              <a:r>
                <a:rPr lang="en-US" sz="2200" dirty="0">
                  <a:solidFill>
                    <a:srgbClr val="67534F"/>
                  </a:solidFill>
                  <a:latin typeface="Marcellus" pitchFamily="34" charset="0"/>
                  <a:ea typeface="Marcellus" pitchFamily="34" charset="-122"/>
                  <a:cs typeface="Marcellus" pitchFamily="34" charset="-120"/>
                </a:rPr>
                <a:t>Individual Responses</a:t>
              </a:r>
              <a:endParaRPr lang="en-US" sz="2200" dirty="0"/>
            </a:p>
          </p:txBody>
        </p:sp>
        <p:sp>
          <p:nvSpPr>
            <p:cNvPr id="5" name="Text 3"/>
            <p:cNvSpPr/>
            <p:nvPr/>
          </p:nvSpPr>
          <p:spPr>
            <a:xfrm>
              <a:off x="793790" y="3509129"/>
              <a:ext cx="3074670" cy="516017"/>
            </a:xfrm>
            <a:prstGeom prst="rect">
              <a:avLst/>
            </a:prstGeom>
            <a:noFill/>
            <a:ln/>
          </p:spPr>
          <p:txBody>
            <a:bodyPr wrap="square" lIns="0" tIns="0" rIns="0" bIns="0" rtlCol="0" anchor="t"/>
            <a:lstStyle/>
            <a:p>
              <a:pPr marL="0" indent="0" algn="ctr">
                <a:lnSpc>
                  <a:spcPts val="2000"/>
                </a:lnSpc>
                <a:buNone/>
              </a:pPr>
              <a:r>
                <a:rPr lang="en-US" sz="1550" dirty="0">
                  <a:solidFill>
                    <a:srgbClr val="67534F"/>
                  </a:solidFill>
                  <a:latin typeface="Montserrat" pitchFamily="34" charset="0"/>
                  <a:ea typeface="Montserrat" pitchFamily="34" charset="-122"/>
                  <a:cs typeface="Montserrat" pitchFamily="34" charset="-120"/>
                </a:rPr>
                <a:t>Total screening records analyzed</a:t>
              </a:r>
              <a:endParaRPr lang="en-US" sz="1550" dirty="0"/>
            </a:p>
          </p:txBody>
        </p:sp>
        <p:sp>
          <p:nvSpPr>
            <p:cNvPr id="6" name="Text 4"/>
            <p:cNvSpPr/>
            <p:nvPr/>
          </p:nvSpPr>
          <p:spPr>
            <a:xfrm>
              <a:off x="4116467" y="2116336"/>
              <a:ext cx="3074670" cy="654963"/>
            </a:xfrm>
            <a:prstGeom prst="rect">
              <a:avLst/>
            </a:prstGeom>
            <a:noFill/>
            <a:ln/>
          </p:spPr>
          <p:txBody>
            <a:bodyPr wrap="none" lIns="0" tIns="0" rIns="0" bIns="0" rtlCol="0" anchor="t"/>
            <a:lstStyle/>
            <a:p>
              <a:pPr marL="0" indent="0" algn="ctr">
                <a:lnSpc>
                  <a:spcPts val="5150"/>
                </a:lnSpc>
                <a:buNone/>
              </a:pPr>
              <a:r>
                <a:rPr lang="en-US" sz="5150" dirty="0">
                  <a:solidFill>
                    <a:srgbClr val="67534F"/>
                  </a:solidFill>
                  <a:latin typeface="Marcellus" pitchFamily="34" charset="0"/>
                  <a:ea typeface="Marcellus" pitchFamily="34" charset="-122"/>
                  <a:cs typeface="Marcellus" pitchFamily="34" charset="-120"/>
                </a:rPr>
                <a:t>20</a:t>
              </a:r>
              <a:endParaRPr lang="en-US" sz="5150" dirty="0"/>
            </a:p>
          </p:txBody>
        </p:sp>
        <p:sp>
          <p:nvSpPr>
            <p:cNvPr id="7" name="Text 5"/>
            <p:cNvSpPr/>
            <p:nvPr/>
          </p:nvSpPr>
          <p:spPr>
            <a:xfrm>
              <a:off x="4227314" y="3019306"/>
              <a:ext cx="2852976" cy="370761"/>
            </a:xfrm>
            <a:prstGeom prst="rect">
              <a:avLst/>
            </a:prstGeom>
            <a:noFill/>
            <a:ln/>
          </p:spPr>
          <p:txBody>
            <a:bodyPr wrap="none" lIns="0" tIns="0" rIns="0" bIns="0" rtlCol="0" anchor="t"/>
            <a:lstStyle/>
            <a:p>
              <a:pPr marL="0" indent="0" algn="ctr">
                <a:lnSpc>
                  <a:spcPts val="2900"/>
                </a:lnSpc>
                <a:buNone/>
              </a:pPr>
              <a:r>
                <a:rPr lang="en-US" sz="2200" dirty="0">
                  <a:solidFill>
                    <a:srgbClr val="67534F"/>
                  </a:solidFill>
                  <a:latin typeface="Marcellus" pitchFamily="34" charset="0"/>
                  <a:ea typeface="Marcellus" pitchFamily="34" charset="-122"/>
                  <a:cs typeface="Marcellus" pitchFamily="34" charset="-120"/>
                </a:rPr>
                <a:t>Variables</a:t>
              </a:r>
              <a:endParaRPr lang="en-US" sz="2200" dirty="0"/>
            </a:p>
          </p:txBody>
        </p:sp>
        <p:sp>
          <p:nvSpPr>
            <p:cNvPr id="8" name="Text 6"/>
            <p:cNvSpPr/>
            <p:nvPr/>
          </p:nvSpPr>
          <p:spPr>
            <a:xfrm>
              <a:off x="4116467" y="3509129"/>
              <a:ext cx="3074670" cy="516017"/>
            </a:xfrm>
            <a:prstGeom prst="rect">
              <a:avLst/>
            </a:prstGeom>
            <a:noFill/>
            <a:ln/>
          </p:spPr>
          <p:txBody>
            <a:bodyPr wrap="square" lIns="0" tIns="0" rIns="0" bIns="0" rtlCol="0" anchor="t"/>
            <a:lstStyle/>
            <a:p>
              <a:pPr marL="0" indent="0" algn="ctr">
                <a:lnSpc>
                  <a:spcPts val="2000"/>
                </a:lnSpc>
                <a:buNone/>
              </a:pPr>
              <a:r>
                <a:rPr lang="en-US" sz="1550" dirty="0">
                  <a:solidFill>
                    <a:srgbClr val="67534F"/>
                  </a:solidFill>
                  <a:latin typeface="Montserrat" pitchFamily="34" charset="0"/>
                  <a:ea typeface="Montserrat" pitchFamily="34" charset="-122"/>
                  <a:cs typeface="Montserrat" pitchFamily="34" charset="-120"/>
                </a:rPr>
                <a:t>Core behavioral and demographic features</a:t>
              </a:r>
              <a:endParaRPr lang="en-US" sz="1550" dirty="0"/>
            </a:p>
          </p:txBody>
        </p:sp>
        <p:sp>
          <p:nvSpPr>
            <p:cNvPr id="9" name="Text 7"/>
            <p:cNvSpPr/>
            <p:nvPr/>
          </p:nvSpPr>
          <p:spPr>
            <a:xfrm>
              <a:off x="7439144" y="2116336"/>
              <a:ext cx="3074670" cy="654963"/>
            </a:xfrm>
            <a:prstGeom prst="rect">
              <a:avLst/>
            </a:prstGeom>
            <a:noFill/>
            <a:ln/>
          </p:spPr>
          <p:txBody>
            <a:bodyPr wrap="none" lIns="0" tIns="0" rIns="0" bIns="0" rtlCol="0" anchor="t"/>
            <a:lstStyle/>
            <a:p>
              <a:pPr marL="0" indent="0" algn="ctr">
                <a:lnSpc>
                  <a:spcPts val="5150"/>
                </a:lnSpc>
                <a:buNone/>
              </a:pPr>
              <a:r>
                <a:rPr lang="en-US" sz="5150" dirty="0">
                  <a:solidFill>
                    <a:srgbClr val="67534F"/>
                  </a:solidFill>
                  <a:latin typeface="Marcellus" pitchFamily="34" charset="0"/>
                  <a:ea typeface="Marcellus" pitchFamily="34" charset="-122"/>
                  <a:cs typeface="Marcellus" pitchFamily="34" charset="-120"/>
                </a:rPr>
                <a:t>1-80</a:t>
              </a:r>
              <a:endParaRPr lang="en-US" sz="5150" dirty="0"/>
            </a:p>
          </p:txBody>
        </p:sp>
        <p:sp>
          <p:nvSpPr>
            <p:cNvPr id="10" name="Text 8"/>
            <p:cNvSpPr/>
            <p:nvPr/>
          </p:nvSpPr>
          <p:spPr>
            <a:xfrm>
              <a:off x="7549991" y="3019306"/>
              <a:ext cx="2852976" cy="370761"/>
            </a:xfrm>
            <a:prstGeom prst="rect">
              <a:avLst/>
            </a:prstGeom>
            <a:noFill/>
            <a:ln/>
          </p:spPr>
          <p:txBody>
            <a:bodyPr wrap="none" lIns="0" tIns="0" rIns="0" bIns="0" rtlCol="0" anchor="t"/>
            <a:lstStyle/>
            <a:p>
              <a:pPr marL="0" indent="0" algn="ctr">
                <a:lnSpc>
                  <a:spcPts val="2900"/>
                </a:lnSpc>
                <a:buNone/>
              </a:pPr>
              <a:r>
                <a:rPr lang="en-US" sz="2200" dirty="0">
                  <a:solidFill>
                    <a:srgbClr val="67534F"/>
                  </a:solidFill>
                  <a:latin typeface="Marcellus" pitchFamily="34" charset="0"/>
                  <a:ea typeface="Marcellus" pitchFamily="34" charset="-122"/>
                  <a:cs typeface="Marcellus" pitchFamily="34" charset="-120"/>
                </a:rPr>
                <a:t>Age Range</a:t>
              </a:r>
              <a:endParaRPr lang="en-US" sz="2200" dirty="0"/>
            </a:p>
          </p:txBody>
        </p:sp>
        <p:sp>
          <p:nvSpPr>
            <p:cNvPr id="11" name="Text 9"/>
            <p:cNvSpPr/>
            <p:nvPr/>
          </p:nvSpPr>
          <p:spPr>
            <a:xfrm>
              <a:off x="7439144" y="3509129"/>
              <a:ext cx="3074670" cy="516017"/>
            </a:xfrm>
            <a:prstGeom prst="rect">
              <a:avLst/>
            </a:prstGeom>
            <a:noFill/>
            <a:ln/>
          </p:spPr>
          <p:txBody>
            <a:bodyPr wrap="square" lIns="0" tIns="0" rIns="0" bIns="0" rtlCol="0" anchor="t"/>
            <a:lstStyle/>
            <a:p>
              <a:pPr marL="0" indent="0" algn="ctr">
                <a:lnSpc>
                  <a:spcPts val="2000"/>
                </a:lnSpc>
                <a:buNone/>
              </a:pPr>
              <a:r>
                <a:rPr lang="en-US" sz="1550" dirty="0">
                  <a:solidFill>
                    <a:srgbClr val="67534F"/>
                  </a:solidFill>
                  <a:latin typeface="Montserrat" pitchFamily="34" charset="0"/>
                  <a:ea typeface="Montserrat" pitchFamily="34" charset="-122"/>
                  <a:cs typeface="Montserrat" pitchFamily="34" charset="-120"/>
                </a:rPr>
                <a:t>Years from youngest to oldest participant</a:t>
              </a:r>
              <a:endParaRPr lang="en-US" sz="1550" dirty="0"/>
            </a:p>
          </p:txBody>
        </p:sp>
        <p:sp>
          <p:nvSpPr>
            <p:cNvPr id="12" name="Text 10"/>
            <p:cNvSpPr/>
            <p:nvPr/>
          </p:nvSpPr>
          <p:spPr>
            <a:xfrm>
              <a:off x="10761821" y="2116336"/>
              <a:ext cx="3074789" cy="654963"/>
            </a:xfrm>
            <a:prstGeom prst="rect">
              <a:avLst/>
            </a:prstGeom>
            <a:noFill/>
            <a:ln/>
          </p:spPr>
          <p:txBody>
            <a:bodyPr wrap="none" lIns="0" tIns="0" rIns="0" bIns="0" rtlCol="0" anchor="t"/>
            <a:lstStyle/>
            <a:p>
              <a:pPr marL="0" indent="0" algn="ctr">
                <a:lnSpc>
                  <a:spcPts val="5150"/>
                </a:lnSpc>
                <a:buNone/>
              </a:pPr>
              <a:r>
                <a:rPr lang="en-US" sz="5150" dirty="0">
                  <a:solidFill>
                    <a:srgbClr val="67534F"/>
                  </a:solidFill>
                  <a:latin typeface="Marcellus" pitchFamily="34" charset="0"/>
                  <a:ea typeface="Marcellus" pitchFamily="34" charset="-122"/>
                  <a:cs typeface="Marcellus" pitchFamily="34" charset="-120"/>
                </a:rPr>
                <a:t>19.84</a:t>
              </a:r>
              <a:endParaRPr lang="en-US" sz="5150" dirty="0"/>
            </a:p>
          </p:txBody>
        </p:sp>
        <p:sp>
          <p:nvSpPr>
            <p:cNvPr id="13" name="Text 11"/>
            <p:cNvSpPr/>
            <p:nvPr/>
          </p:nvSpPr>
          <p:spPr>
            <a:xfrm>
              <a:off x="10872668" y="3019306"/>
              <a:ext cx="2852976" cy="370761"/>
            </a:xfrm>
            <a:prstGeom prst="rect">
              <a:avLst/>
            </a:prstGeom>
            <a:noFill/>
            <a:ln/>
          </p:spPr>
          <p:txBody>
            <a:bodyPr wrap="none" lIns="0" tIns="0" rIns="0" bIns="0" rtlCol="0" anchor="t"/>
            <a:lstStyle/>
            <a:p>
              <a:pPr marL="0" indent="0" algn="ctr">
                <a:lnSpc>
                  <a:spcPts val="2900"/>
                </a:lnSpc>
                <a:buNone/>
              </a:pPr>
              <a:r>
                <a:rPr lang="en-US" sz="2200" dirty="0">
                  <a:solidFill>
                    <a:srgbClr val="67534F"/>
                  </a:solidFill>
                  <a:latin typeface="Marcellus" pitchFamily="34" charset="0"/>
                  <a:ea typeface="Marcellus" pitchFamily="34" charset="-122"/>
                  <a:cs typeface="Marcellus" pitchFamily="34" charset="-120"/>
                </a:rPr>
                <a:t>Mean Age</a:t>
              </a:r>
              <a:endParaRPr lang="en-US" sz="2200" dirty="0"/>
            </a:p>
          </p:txBody>
        </p:sp>
        <p:sp>
          <p:nvSpPr>
            <p:cNvPr id="14" name="Text 12"/>
            <p:cNvSpPr/>
            <p:nvPr/>
          </p:nvSpPr>
          <p:spPr>
            <a:xfrm>
              <a:off x="10761821" y="3509129"/>
              <a:ext cx="3074789" cy="516017"/>
            </a:xfrm>
            <a:prstGeom prst="rect">
              <a:avLst/>
            </a:prstGeom>
            <a:noFill/>
            <a:ln/>
          </p:spPr>
          <p:txBody>
            <a:bodyPr wrap="square" lIns="0" tIns="0" rIns="0" bIns="0" rtlCol="0" anchor="t"/>
            <a:lstStyle/>
            <a:p>
              <a:pPr marL="0" indent="0" algn="ctr">
                <a:lnSpc>
                  <a:spcPts val="2000"/>
                </a:lnSpc>
                <a:buNone/>
              </a:pPr>
              <a:r>
                <a:rPr lang="en-US" sz="1550" dirty="0">
                  <a:solidFill>
                    <a:srgbClr val="67534F"/>
                  </a:solidFill>
                  <a:latin typeface="Montserrat" pitchFamily="34" charset="0"/>
                  <a:ea typeface="Montserrat" pitchFamily="34" charset="-122"/>
                  <a:cs typeface="Montserrat" pitchFamily="34" charset="-120"/>
                </a:rPr>
                <a:t>Average age across all participants</a:t>
              </a:r>
              <a:endParaRPr lang="en-US" sz="1550" dirty="0"/>
            </a:p>
          </p:txBody>
        </p:sp>
        <p:sp>
          <p:nvSpPr>
            <p:cNvPr id="15" name="Text 13"/>
            <p:cNvSpPr/>
            <p:nvPr/>
          </p:nvSpPr>
          <p:spPr>
            <a:xfrm>
              <a:off x="793790" y="4446746"/>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532418"/>
                  </a:solidFill>
                  <a:latin typeface="Marcellus" pitchFamily="34" charset="0"/>
                  <a:ea typeface="Marcellus" pitchFamily="34" charset="-122"/>
                  <a:cs typeface="Marcellus" pitchFamily="34" charset="-120"/>
                </a:rPr>
                <a:t>Gender Distribution</a:t>
              </a:r>
              <a:endParaRPr lang="en-US" sz="2200" dirty="0"/>
            </a:p>
          </p:txBody>
        </p:sp>
        <p:sp>
          <p:nvSpPr>
            <p:cNvPr id="16" name="Text 14"/>
            <p:cNvSpPr/>
            <p:nvPr/>
          </p:nvSpPr>
          <p:spPr>
            <a:xfrm>
              <a:off x="793790" y="5015865"/>
              <a:ext cx="6279356" cy="585430"/>
            </a:xfrm>
            <a:prstGeom prst="rect">
              <a:avLst/>
            </a:prstGeom>
            <a:noFill/>
            <a:ln/>
          </p:spPr>
          <p:txBody>
            <a:bodyPr wrap="square" lIns="0" tIns="0" rIns="0" bIns="0" rtlCol="0" anchor="t"/>
            <a:lstStyle/>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Male: 3,508 (57.8%)</a:t>
              </a:r>
              <a:endParaRPr lang="en-US" sz="1550" dirty="0"/>
            </a:p>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Female: 2,567 (42.2%)</a:t>
              </a:r>
              <a:endParaRPr lang="en-US" sz="1550" dirty="0"/>
            </a:p>
          </p:txBody>
        </p:sp>
        <p:sp>
          <p:nvSpPr>
            <p:cNvPr id="17" name="Text 15"/>
            <p:cNvSpPr/>
            <p:nvPr/>
          </p:nvSpPr>
          <p:spPr>
            <a:xfrm>
              <a:off x="793790" y="5799653"/>
              <a:ext cx="3013353" cy="370761"/>
            </a:xfrm>
            <a:prstGeom prst="rect">
              <a:avLst/>
            </a:prstGeom>
            <a:noFill/>
            <a:ln/>
          </p:spPr>
          <p:txBody>
            <a:bodyPr wrap="none" lIns="0" tIns="0" rIns="0" bIns="0" rtlCol="0" anchor="t"/>
            <a:lstStyle/>
            <a:p>
              <a:pPr marL="0" indent="0" algn="l">
                <a:lnSpc>
                  <a:spcPts val="2900"/>
                </a:lnSpc>
                <a:buNone/>
              </a:pPr>
              <a:r>
                <a:rPr lang="en-US" sz="2200" dirty="0">
                  <a:solidFill>
                    <a:srgbClr val="532418"/>
                  </a:solidFill>
                  <a:latin typeface="Marcellus" pitchFamily="34" charset="0"/>
                  <a:ea typeface="Marcellus" pitchFamily="34" charset="-122"/>
                  <a:cs typeface="Marcellus" pitchFamily="34" charset="-120"/>
                </a:rPr>
                <a:t>Age Group Distribution</a:t>
              </a:r>
              <a:endParaRPr lang="en-US" sz="2200" dirty="0"/>
            </a:p>
          </p:txBody>
        </p:sp>
        <p:sp>
          <p:nvSpPr>
            <p:cNvPr id="18" name="Text 16"/>
            <p:cNvSpPr/>
            <p:nvPr/>
          </p:nvSpPr>
          <p:spPr>
            <a:xfrm>
              <a:off x="793790" y="6368772"/>
              <a:ext cx="6279356" cy="912852"/>
            </a:xfrm>
            <a:prstGeom prst="rect">
              <a:avLst/>
            </a:prstGeom>
            <a:noFill/>
            <a:ln/>
          </p:spPr>
          <p:txBody>
            <a:bodyPr wrap="square" lIns="0" tIns="0" rIns="0" bIns="0" rtlCol="0" anchor="t"/>
            <a:lstStyle/>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Adult: 3,094 (50.9%)</a:t>
              </a:r>
              <a:endParaRPr lang="en-US" sz="1550" dirty="0"/>
            </a:p>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Child: 2,303 (37.9%)</a:t>
              </a:r>
              <a:endParaRPr lang="en-US" sz="1550" dirty="0"/>
            </a:p>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Adolescent: 678 (11.2%)</a:t>
              </a:r>
              <a:endParaRPr lang="en-US" sz="1550" dirty="0"/>
            </a:p>
          </p:txBody>
        </p:sp>
        <p:sp>
          <p:nvSpPr>
            <p:cNvPr id="19" name="Text 17"/>
            <p:cNvSpPr/>
            <p:nvPr/>
          </p:nvSpPr>
          <p:spPr>
            <a:xfrm>
              <a:off x="7564874" y="4446746"/>
              <a:ext cx="3392805" cy="370761"/>
            </a:xfrm>
            <a:prstGeom prst="rect">
              <a:avLst/>
            </a:prstGeom>
            <a:noFill/>
            <a:ln/>
          </p:spPr>
          <p:txBody>
            <a:bodyPr wrap="none" lIns="0" tIns="0" rIns="0" bIns="0" rtlCol="0" anchor="t"/>
            <a:lstStyle/>
            <a:p>
              <a:pPr marL="0" indent="0" algn="l">
                <a:lnSpc>
                  <a:spcPts val="2900"/>
                </a:lnSpc>
                <a:buNone/>
              </a:pPr>
              <a:r>
                <a:rPr lang="en-US" sz="2200" dirty="0">
                  <a:solidFill>
                    <a:srgbClr val="532418"/>
                  </a:solidFill>
                  <a:latin typeface="Marcellus" pitchFamily="34" charset="0"/>
                  <a:ea typeface="Marcellus" pitchFamily="34" charset="-122"/>
                  <a:cs typeface="Marcellus" pitchFamily="34" charset="-120"/>
                </a:rPr>
                <a:t>ASD Diagnosis Distribution</a:t>
              </a:r>
              <a:endParaRPr lang="en-US" sz="2200" dirty="0"/>
            </a:p>
          </p:txBody>
        </p:sp>
        <p:sp>
          <p:nvSpPr>
            <p:cNvPr id="20" name="Text 18"/>
            <p:cNvSpPr/>
            <p:nvPr/>
          </p:nvSpPr>
          <p:spPr>
            <a:xfrm>
              <a:off x="7564874" y="5015865"/>
              <a:ext cx="6279356" cy="585430"/>
            </a:xfrm>
            <a:prstGeom prst="rect">
              <a:avLst/>
            </a:prstGeom>
            <a:noFill/>
            <a:ln/>
          </p:spPr>
          <p:txBody>
            <a:bodyPr wrap="square" lIns="0" tIns="0" rIns="0" bIns="0" rtlCol="0" anchor="t"/>
            <a:lstStyle/>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ASD Positive: 1,804 (29.7%)</a:t>
              </a:r>
              <a:endParaRPr lang="en-US" sz="1550" dirty="0"/>
            </a:p>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ASD Negative: 4,271 (70.3%)</a:t>
              </a:r>
              <a:endParaRPr lang="en-US" sz="1550" dirty="0"/>
            </a:p>
          </p:txBody>
        </p:sp>
        <p:sp>
          <p:nvSpPr>
            <p:cNvPr id="21" name="Text 19"/>
            <p:cNvSpPr/>
            <p:nvPr/>
          </p:nvSpPr>
          <p:spPr>
            <a:xfrm>
              <a:off x="7564874" y="5799653"/>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532418"/>
                  </a:solidFill>
                  <a:latin typeface="Marcellus" pitchFamily="34" charset="0"/>
                  <a:ea typeface="Marcellus" pitchFamily="34" charset="-122"/>
                  <a:cs typeface="Marcellus" pitchFamily="34" charset="-120"/>
                </a:rPr>
                <a:t>Medical Risk Factors</a:t>
              </a:r>
              <a:endParaRPr lang="en-US" sz="2200" dirty="0"/>
            </a:p>
          </p:txBody>
        </p:sp>
        <p:sp>
          <p:nvSpPr>
            <p:cNvPr id="22" name="Text 20"/>
            <p:cNvSpPr/>
            <p:nvPr/>
          </p:nvSpPr>
          <p:spPr>
            <a:xfrm>
              <a:off x="7564874" y="6368772"/>
              <a:ext cx="6279356" cy="912852"/>
            </a:xfrm>
            <a:prstGeom prst="rect">
              <a:avLst/>
            </a:prstGeom>
            <a:noFill/>
            <a:ln/>
          </p:spPr>
          <p:txBody>
            <a:bodyPr wrap="square" lIns="0" tIns="0" rIns="0" bIns="0" rtlCol="0" anchor="t"/>
            <a:lstStyle/>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Jaundice History: 1,045 (17.2%)</a:t>
              </a:r>
              <a:endParaRPr lang="en-US" sz="1550" dirty="0"/>
            </a:p>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Family ASD History: 1,122 (18.5%)</a:t>
              </a:r>
              <a:endParaRPr lang="en-US" sz="1550" dirty="0"/>
            </a:p>
            <a:p>
              <a:pPr marL="342900" indent="-342900" algn="l">
                <a:lnSpc>
                  <a:spcPts val="2000"/>
                </a:lnSpc>
                <a:buSzPct val="100000"/>
                <a:buChar char="•"/>
              </a:pPr>
              <a:r>
                <a:rPr lang="en-US" sz="1550" dirty="0">
                  <a:solidFill>
                    <a:srgbClr val="67534F"/>
                  </a:solidFill>
                  <a:latin typeface="Montserrat" pitchFamily="34" charset="0"/>
                  <a:ea typeface="Montserrat" pitchFamily="34" charset="-122"/>
                  <a:cs typeface="Montserrat" pitchFamily="34" charset="-120"/>
                </a:rPr>
                <a:t>High-Risk Background: 267 (4.4%)</a:t>
              </a:r>
              <a:endParaRPr lang="en-US" sz="1550" dirty="0"/>
            </a:p>
          </p:txBody>
        </p:sp>
        <p:sp>
          <p:nvSpPr>
            <p:cNvPr id="23" name="TextBox 22">
              <a:extLst>
                <a:ext uri="{FF2B5EF4-FFF2-40B4-BE49-F238E27FC236}">
                  <a16:creationId xmlns:a16="http://schemas.microsoft.com/office/drawing/2014/main" id="{B0AFB534-C5DF-4EB2-9E75-3E4325BFD95D}"/>
                </a:ext>
              </a:extLst>
            </p:cNvPr>
            <p:cNvSpPr txBox="1"/>
            <p:nvPr/>
          </p:nvSpPr>
          <p:spPr>
            <a:xfrm>
              <a:off x="12801600" y="7670202"/>
              <a:ext cx="1721224" cy="559398"/>
            </a:xfrm>
            <a:prstGeom prst="rect">
              <a:avLst/>
            </a:prstGeom>
            <a:solidFill>
              <a:srgbClr val="FDFCF0"/>
            </a:solidFill>
          </p:spPr>
          <p:txBody>
            <a:bodyPr wrap="square" rtlCol="0">
              <a:spAutoFit/>
            </a:bodyPr>
            <a:lstStyle/>
            <a:p>
              <a:endParaRPr lang="en-IN"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F73F18AD-7A61-4A66-A371-4A1A81746439}"/>
              </a:ext>
            </a:extLst>
          </p:cNvPr>
          <p:cNvGrpSpPr/>
          <p:nvPr/>
        </p:nvGrpSpPr>
        <p:grpSpPr>
          <a:xfrm>
            <a:off x="1329690" y="1001197"/>
            <a:ext cx="13193134" cy="7228403"/>
            <a:chOff x="1329690" y="1001197"/>
            <a:chExt cx="13193134" cy="7228403"/>
          </a:xfrm>
        </p:grpSpPr>
        <p:sp>
          <p:nvSpPr>
            <p:cNvPr id="2" name="Text 0"/>
            <p:cNvSpPr/>
            <p:nvPr/>
          </p:nvSpPr>
          <p:spPr>
            <a:xfrm>
              <a:off x="1329690" y="1001197"/>
              <a:ext cx="6659285" cy="567333"/>
            </a:xfrm>
            <a:prstGeom prst="rect">
              <a:avLst/>
            </a:prstGeom>
            <a:noFill/>
            <a:ln/>
          </p:spPr>
          <p:txBody>
            <a:bodyPr wrap="none" lIns="0" tIns="0" rIns="0" bIns="0" rtlCol="0" anchor="t"/>
            <a:lstStyle/>
            <a:p>
              <a:pPr marL="0" indent="0" algn="l">
                <a:lnSpc>
                  <a:spcPts val="4450"/>
                </a:lnSpc>
                <a:buNone/>
              </a:pPr>
              <a:r>
                <a:rPr lang="en-US" sz="3400" dirty="0">
                  <a:solidFill>
                    <a:srgbClr val="532418"/>
                  </a:solidFill>
                  <a:latin typeface="Marcellus" pitchFamily="34" charset="0"/>
                  <a:ea typeface="Marcellus" pitchFamily="34" charset="-122"/>
                  <a:cs typeface="Marcellus" pitchFamily="34" charset="-120"/>
                </a:rPr>
                <a:t>Behavioral Assessment Framework</a:t>
              </a:r>
              <a:endParaRPr lang="en-US" sz="3400" dirty="0"/>
            </a:p>
          </p:txBody>
        </p:sp>
        <p:sp>
          <p:nvSpPr>
            <p:cNvPr id="3" name="Text 1"/>
            <p:cNvSpPr/>
            <p:nvPr/>
          </p:nvSpPr>
          <p:spPr>
            <a:xfrm>
              <a:off x="1329690" y="1800701"/>
              <a:ext cx="11971020" cy="348139"/>
            </a:xfrm>
            <a:prstGeom prst="rect">
              <a:avLst/>
            </a:prstGeom>
            <a:noFill/>
            <a:ln/>
          </p:spPr>
          <p:txBody>
            <a:bodyPr wrap="squar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The dataset comprises 10 binary questions (A1-A10) that assess key autism spectrum traits through yes/no responses. These questions evaluate core social interaction capabilities, communication skills, and behavioral patterns.</a:t>
              </a:r>
              <a:endParaRPr lang="en-US" sz="11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9690" y="2279452"/>
              <a:ext cx="303609" cy="303609"/>
            </a:xfrm>
            <a:prstGeom prst="rect">
              <a:avLst/>
            </a:prstGeom>
          </p:spPr>
        </p:pic>
        <p:sp>
          <p:nvSpPr>
            <p:cNvPr id="5" name="Text 2"/>
            <p:cNvSpPr/>
            <p:nvPr/>
          </p:nvSpPr>
          <p:spPr>
            <a:xfrm>
              <a:off x="1329690" y="2728198"/>
              <a:ext cx="2440067" cy="283607"/>
            </a:xfrm>
            <a:prstGeom prst="rect">
              <a:avLst/>
            </a:prstGeom>
            <a:noFill/>
            <a:ln/>
          </p:spPr>
          <p:txBody>
            <a:bodyPr wrap="none" lIns="0" tIns="0" rIns="0" bIns="0" rtlCol="0" anchor="t"/>
            <a:lstStyle/>
            <a:p>
              <a:pPr marL="0" indent="0" algn="l">
                <a:lnSpc>
                  <a:spcPts val="2200"/>
                </a:lnSpc>
                <a:buNone/>
              </a:pPr>
              <a:r>
                <a:rPr lang="en-US" sz="1700" dirty="0">
                  <a:solidFill>
                    <a:srgbClr val="67534F"/>
                  </a:solidFill>
                  <a:latin typeface="Marcellus" pitchFamily="34" charset="0"/>
                  <a:ea typeface="Marcellus" pitchFamily="34" charset="-122"/>
                  <a:cs typeface="Marcellus" pitchFamily="34" charset="-120"/>
                </a:rPr>
                <a:t>Eye Contact &amp; Attention</a:t>
              </a:r>
              <a:endParaRPr lang="en-US" sz="1700" dirty="0"/>
            </a:p>
          </p:txBody>
        </p:sp>
        <p:sp>
          <p:nvSpPr>
            <p:cNvPr id="6" name="Text 3"/>
            <p:cNvSpPr/>
            <p:nvPr/>
          </p:nvSpPr>
          <p:spPr>
            <a:xfrm>
              <a:off x="1329690" y="3081457"/>
              <a:ext cx="5912882" cy="348139"/>
            </a:xfrm>
            <a:prstGeom prst="rect">
              <a:avLst/>
            </a:prstGeom>
            <a:noFill/>
            <a:ln/>
          </p:spPr>
          <p:txBody>
            <a:bodyPr wrap="squar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A1-A2 assess responsive and spontaneous eye contact when called or approached</a:t>
              </a:r>
              <a:endParaRPr lang="en-US" sz="11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387709" y="2279452"/>
              <a:ext cx="303609" cy="303609"/>
            </a:xfrm>
            <a:prstGeom prst="rect">
              <a:avLst/>
            </a:prstGeom>
          </p:spPr>
        </p:pic>
        <p:sp>
          <p:nvSpPr>
            <p:cNvPr id="8" name="Text 4"/>
            <p:cNvSpPr/>
            <p:nvPr/>
          </p:nvSpPr>
          <p:spPr>
            <a:xfrm>
              <a:off x="7387709" y="2728198"/>
              <a:ext cx="2446853" cy="283607"/>
            </a:xfrm>
            <a:prstGeom prst="rect">
              <a:avLst/>
            </a:prstGeom>
            <a:noFill/>
            <a:ln/>
          </p:spPr>
          <p:txBody>
            <a:bodyPr wrap="none" lIns="0" tIns="0" rIns="0" bIns="0" rtlCol="0" anchor="t"/>
            <a:lstStyle/>
            <a:p>
              <a:pPr marL="0" indent="0" algn="l">
                <a:lnSpc>
                  <a:spcPts val="2200"/>
                </a:lnSpc>
                <a:buNone/>
              </a:pPr>
              <a:r>
                <a:rPr lang="en-US" sz="1700" dirty="0">
                  <a:solidFill>
                    <a:srgbClr val="67534F"/>
                  </a:solidFill>
                  <a:latin typeface="Marcellus" pitchFamily="34" charset="0"/>
                  <a:ea typeface="Marcellus" pitchFamily="34" charset="-122"/>
                  <a:cs typeface="Marcellus" pitchFamily="34" charset="-120"/>
                </a:rPr>
                <a:t>Pointing Communication</a:t>
              </a:r>
              <a:endParaRPr lang="en-US" sz="1700" dirty="0"/>
            </a:p>
          </p:txBody>
        </p:sp>
        <p:sp>
          <p:nvSpPr>
            <p:cNvPr id="9" name="Text 5"/>
            <p:cNvSpPr/>
            <p:nvPr/>
          </p:nvSpPr>
          <p:spPr>
            <a:xfrm>
              <a:off x="7387709" y="3081457"/>
              <a:ext cx="5913001" cy="174069"/>
            </a:xfrm>
            <a:prstGeom prst="rect">
              <a:avLst/>
            </a:prstGeom>
            <a:noFill/>
            <a:ln/>
          </p:spPr>
          <p:txBody>
            <a:bodyPr wrap="non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A3-A4 evaluate imperative and declarative pointing for requests and sharing</a:t>
              </a:r>
              <a:endParaRPr lang="en-US" sz="11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1329690" y="3661767"/>
              <a:ext cx="303609" cy="303609"/>
            </a:xfrm>
            <a:prstGeom prst="rect">
              <a:avLst/>
            </a:prstGeom>
          </p:spPr>
        </p:pic>
        <p:sp>
          <p:nvSpPr>
            <p:cNvPr id="11" name="Text 6"/>
            <p:cNvSpPr/>
            <p:nvPr/>
          </p:nvSpPr>
          <p:spPr>
            <a:xfrm>
              <a:off x="1329690" y="4110514"/>
              <a:ext cx="2182178" cy="283607"/>
            </a:xfrm>
            <a:prstGeom prst="rect">
              <a:avLst/>
            </a:prstGeom>
            <a:noFill/>
            <a:ln/>
          </p:spPr>
          <p:txBody>
            <a:bodyPr wrap="none" lIns="0" tIns="0" rIns="0" bIns="0" rtlCol="0" anchor="t"/>
            <a:lstStyle/>
            <a:p>
              <a:pPr marL="0" indent="0" algn="l">
                <a:lnSpc>
                  <a:spcPts val="2200"/>
                </a:lnSpc>
                <a:buNone/>
              </a:pPr>
              <a:r>
                <a:rPr lang="en-US" sz="1700" dirty="0">
                  <a:solidFill>
                    <a:srgbClr val="67534F"/>
                  </a:solidFill>
                  <a:latin typeface="Marcellus" pitchFamily="34" charset="0"/>
                  <a:ea typeface="Marcellus" pitchFamily="34" charset="-122"/>
                  <a:cs typeface="Marcellus" pitchFamily="34" charset="-120"/>
                </a:rPr>
                <a:t>Imaginative Play</a:t>
              </a:r>
              <a:endParaRPr lang="en-US" sz="1700" dirty="0"/>
            </a:p>
          </p:txBody>
        </p:sp>
        <p:sp>
          <p:nvSpPr>
            <p:cNvPr id="12" name="Text 7"/>
            <p:cNvSpPr/>
            <p:nvPr/>
          </p:nvSpPr>
          <p:spPr>
            <a:xfrm>
              <a:off x="1329690" y="4463772"/>
              <a:ext cx="5912882" cy="174069"/>
            </a:xfrm>
            <a:prstGeom prst="rect">
              <a:avLst/>
            </a:prstGeom>
            <a:noFill/>
            <a:ln/>
          </p:spPr>
          <p:txBody>
            <a:bodyPr wrap="non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A5 measures engagement in imaginative activities and role-playing scenarios</a:t>
              </a:r>
              <a:endParaRPr lang="en-US" sz="1150" dirty="0"/>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387709" y="3661767"/>
              <a:ext cx="303609" cy="303609"/>
            </a:xfrm>
            <a:prstGeom prst="rect">
              <a:avLst/>
            </a:prstGeom>
          </p:spPr>
        </p:pic>
        <p:sp>
          <p:nvSpPr>
            <p:cNvPr id="14" name="Text 8"/>
            <p:cNvSpPr/>
            <p:nvPr/>
          </p:nvSpPr>
          <p:spPr>
            <a:xfrm>
              <a:off x="7387709" y="4110514"/>
              <a:ext cx="2182178" cy="283607"/>
            </a:xfrm>
            <a:prstGeom prst="rect">
              <a:avLst/>
            </a:prstGeom>
            <a:noFill/>
            <a:ln/>
          </p:spPr>
          <p:txBody>
            <a:bodyPr wrap="none" lIns="0" tIns="0" rIns="0" bIns="0" rtlCol="0" anchor="t"/>
            <a:lstStyle/>
            <a:p>
              <a:pPr marL="0" indent="0" algn="l">
                <a:lnSpc>
                  <a:spcPts val="2200"/>
                </a:lnSpc>
                <a:buNone/>
              </a:pPr>
              <a:r>
                <a:rPr lang="en-US" sz="1700" dirty="0">
                  <a:solidFill>
                    <a:srgbClr val="67534F"/>
                  </a:solidFill>
                  <a:latin typeface="Marcellus" pitchFamily="34" charset="0"/>
                  <a:ea typeface="Marcellus" pitchFamily="34" charset="-122"/>
                  <a:cs typeface="Marcellus" pitchFamily="34" charset="-120"/>
                </a:rPr>
                <a:t>Gaze Following</a:t>
              </a:r>
              <a:endParaRPr lang="en-US" sz="1700" dirty="0"/>
            </a:p>
          </p:txBody>
        </p:sp>
        <p:sp>
          <p:nvSpPr>
            <p:cNvPr id="15" name="Text 9"/>
            <p:cNvSpPr/>
            <p:nvPr/>
          </p:nvSpPr>
          <p:spPr>
            <a:xfrm>
              <a:off x="7387709" y="4463772"/>
              <a:ext cx="5913001" cy="174069"/>
            </a:xfrm>
            <a:prstGeom prst="rect">
              <a:avLst/>
            </a:prstGeom>
            <a:noFill/>
            <a:ln/>
          </p:spPr>
          <p:txBody>
            <a:bodyPr wrap="non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A6 assesses joint attention and ability to follow others' gaze direction</a:t>
              </a:r>
              <a:endParaRPr lang="en-US" sz="1150" dirty="0"/>
            </a:p>
          </p:txBody>
        </p:sp>
        <p:pic>
          <p:nvPicPr>
            <p:cNvPr id="16" name="Image 4" descr="preencoded.png"/>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1329690" y="4870013"/>
              <a:ext cx="303609" cy="303609"/>
            </a:xfrm>
            <a:prstGeom prst="rect">
              <a:avLst/>
            </a:prstGeom>
          </p:spPr>
        </p:pic>
        <p:sp>
          <p:nvSpPr>
            <p:cNvPr id="17" name="Text 10"/>
            <p:cNvSpPr/>
            <p:nvPr/>
          </p:nvSpPr>
          <p:spPr>
            <a:xfrm>
              <a:off x="1329690" y="5318760"/>
              <a:ext cx="2182178" cy="283607"/>
            </a:xfrm>
            <a:prstGeom prst="rect">
              <a:avLst/>
            </a:prstGeom>
            <a:noFill/>
            <a:ln/>
          </p:spPr>
          <p:txBody>
            <a:bodyPr wrap="none" lIns="0" tIns="0" rIns="0" bIns="0" rtlCol="0" anchor="t"/>
            <a:lstStyle/>
            <a:p>
              <a:pPr marL="0" indent="0" algn="l">
                <a:lnSpc>
                  <a:spcPts val="2200"/>
                </a:lnSpc>
                <a:buNone/>
              </a:pPr>
              <a:r>
                <a:rPr lang="en-US" sz="1700" dirty="0">
                  <a:solidFill>
                    <a:srgbClr val="67534F"/>
                  </a:solidFill>
                  <a:latin typeface="Marcellus" pitchFamily="34" charset="0"/>
                  <a:ea typeface="Marcellus" pitchFamily="34" charset="-122"/>
                  <a:cs typeface="Marcellus" pitchFamily="34" charset="-120"/>
                </a:rPr>
                <a:t>Empathic Response</a:t>
              </a:r>
              <a:endParaRPr lang="en-US" sz="1700" dirty="0"/>
            </a:p>
          </p:txBody>
        </p:sp>
        <p:sp>
          <p:nvSpPr>
            <p:cNvPr id="18" name="Text 11"/>
            <p:cNvSpPr/>
            <p:nvPr/>
          </p:nvSpPr>
          <p:spPr>
            <a:xfrm>
              <a:off x="1329690" y="5672018"/>
              <a:ext cx="5912882" cy="174069"/>
            </a:xfrm>
            <a:prstGeom prst="rect">
              <a:avLst/>
            </a:prstGeom>
            <a:noFill/>
            <a:ln/>
          </p:spPr>
          <p:txBody>
            <a:bodyPr wrap="non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A7 evaluates comfort-seeking behavior and emotional awareness of others</a:t>
              </a:r>
              <a:endParaRPr lang="en-US" sz="1150" dirty="0"/>
            </a:p>
          </p:txBody>
        </p:sp>
        <p:pic>
          <p:nvPicPr>
            <p:cNvPr id="19" name="Image 5" descr="preencoded.png"/>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7387709" y="4870013"/>
              <a:ext cx="303609" cy="303609"/>
            </a:xfrm>
            <a:prstGeom prst="rect">
              <a:avLst/>
            </a:prstGeom>
          </p:spPr>
        </p:pic>
        <p:sp>
          <p:nvSpPr>
            <p:cNvPr id="20" name="Text 12"/>
            <p:cNvSpPr/>
            <p:nvPr/>
          </p:nvSpPr>
          <p:spPr>
            <a:xfrm>
              <a:off x="7387709" y="5318760"/>
              <a:ext cx="2182178" cy="283607"/>
            </a:xfrm>
            <a:prstGeom prst="rect">
              <a:avLst/>
            </a:prstGeom>
            <a:noFill/>
            <a:ln/>
          </p:spPr>
          <p:txBody>
            <a:bodyPr wrap="none" lIns="0" tIns="0" rIns="0" bIns="0" rtlCol="0" anchor="t"/>
            <a:lstStyle/>
            <a:p>
              <a:pPr marL="0" indent="0" algn="l">
                <a:lnSpc>
                  <a:spcPts val="2200"/>
                </a:lnSpc>
                <a:buNone/>
              </a:pPr>
              <a:r>
                <a:rPr lang="en-US" sz="1700" dirty="0">
                  <a:solidFill>
                    <a:srgbClr val="67534F"/>
                  </a:solidFill>
                  <a:latin typeface="Marcellus" pitchFamily="34" charset="0"/>
                  <a:ea typeface="Marcellus" pitchFamily="34" charset="-122"/>
                  <a:cs typeface="Marcellus" pitchFamily="34" charset="-120"/>
                </a:rPr>
                <a:t>Communication Style</a:t>
              </a:r>
              <a:endParaRPr lang="en-US" sz="1700" dirty="0"/>
            </a:p>
          </p:txBody>
        </p:sp>
        <p:sp>
          <p:nvSpPr>
            <p:cNvPr id="21" name="Text 13"/>
            <p:cNvSpPr/>
            <p:nvPr/>
          </p:nvSpPr>
          <p:spPr>
            <a:xfrm>
              <a:off x="7387709" y="5672018"/>
              <a:ext cx="5913001" cy="348139"/>
            </a:xfrm>
            <a:prstGeom prst="rect">
              <a:avLst/>
            </a:prstGeom>
            <a:noFill/>
            <a:ln/>
          </p:spPr>
          <p:txBody>
            <a:bodyPr wrap="squar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A8 captures self-assessment of typical versus atypical communication patterns</a:t>
              </a:r>
              <a:endParaRPr lang="en-US" sz="1150" dirty="0"/>
            </a:p>
          </p:txBody>
        </p:sp>
        <p:pic>
          <p:nvPicPr>
            <p:cNvPr id="22" name="Image 6" descr="preencoded.png"/>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1329690" y="6252329"/>
              <a:ext cx="303609" cy="303609"/>
            </a:xfrm>
            <a:prstGeom prst="rect">
              <a:avLst/>
            </a:prstGeom>
          </p:spPr>
        </p:pic>
        <p:sp>
          <p:nvSpPr>
            <p:cNvPr id="23" name="Text 14"/>
            <p:cNvSpPr/>
            <p:nvPr/>
          </p:nvSpPr>
          <p:spPr>
            <a:xfrm>
              <a:off x="1329690" y="6701076"/>
              <a:ext cx="2455783" cy="283607"/>
            </a:xfrm>
            <a:prstGeom prst="rect">
              <a:avLst/>
            </a:prstGeom>
            <a:noFill/>
            <a:ln/>
          </p:spPr>
          <p:txBody>
            <a:bodyPr wrap="none" lIns="0" tIns="0" rIns="0" bIns="0" rtlCol="0" anchor="t"/>
            <a:lstStyle/>
            <a:p>
              <a:pPr marL="0" indent="0" algn="l">
                <a:lnSpc>
                  <a:spcPts val="2200"/>
                </a:lnSpc>
                <a:buNone/>
              </a:pPr>
              <a:r>
                <a:rPr lang="en-US" sz="1700" dirty="0">
                  <a:solidFill>
                    <a:srgbClr val="67534F"/>
                  </a:solidFill>
                  <a:latin typeface="Marcellus" pitchFamily="34" charset="0"/>
                  <a:ea typeface="Marcellus" pitchFamily="34" charset="-122"/>
                  <a:cs typeface="Marcellus" pitchFamily="34" charset="-120"/>
                </a:rPr>
                <a:t>Gestural Communication</a:t>
              </a:r>
              <a:endParaRPr lang="en-US" sz="1700" dirty="0"/>
            </a:p>
          </p:txBody>
        </p:sp>
        <p:sp>
          <p:nvSpPr>
            <p:cNvPr id="24" name="Text 15"/>
            <p:cNvSpPr/>
            <p:nvPr/>
          </p:nvSpPr>
          <p:spPr>
            <a:xfrm>
              <a:off x="1329690" y="7054334"/>
              <a:ext cx="5912882" cy="174069"/>
            </a:xfrm>
            <a:prstGeom prst="rect">
              <a:avLst/>
            </a:prstGeom>
            <a:noFill/>
            <a:ln/>
          </p:spPr>
          <p:txBody>
            <a:bodyPr wrap="non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A9 evaluates proficiency in common gestures like waving goodbye</a:t>
              </a:r>
              <a:endParaRPr lang="en-US" sz="1150" dirty="0"/>
            </a:p>
          </p:txBody>
        </p:sp>
        <p:pic>
          <p:nvPicPr>
            <p:cNvPr id="25" name="Image 7" descr="preencoded.png"/>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7387709" y="6252329"/>
              <a:ext cx="303609" cy="303609"/>
            </a:xfrm>
            <a:prstGeom prst="rect">
              <a:avLst/>
            </a:prstGeom>
          </p:spPr>
        </p:pic>
        <p:sp>
          <p:nvSpPr>
            <p:cNvPr id="26" name="Text 16"/>
            <p:cNvSpPr/>
            <p:nvPr/>
          </p:nvSpPr>
          <p:spPr>
            <a:xfrm>
              <a:off x="7387709" y="6701076"/>
              <a:ext cx="2182178" cy="283607"/>
            </a:xfrm>
            <a:prstGeom prst="rect">
              <a:avLst/>
            </a:prstGeom>
            <a:noFill/>
            <a:ln/>
          </p:spPr>
          <p:txBody>
            <a:bodyPr wrap="none" lIns="0" tIns="0" rIns="0" bIns="0" rtlCol="0" anchor="t"/>
            <a:lstStyle/>
            <a:p>
              <a:pPr marL="0" indent="0" algn="l">
                <a:lnSpc>
                  <a:spcPts val="2200"/>
                </a:lnSpc>
                <a:buNone/>
              </a:pPr>
              <a:r>
                <a:rPr lang="en-US" sz="1700" dirty="0">
                  <a:solidFill>
                    <a:srgbClr val="67534F"/>
                  </a:solidFill>
                  <a:latin typeface="Marcellus" pitchFamily="34" charset="0"/>
                  <a:ea typeface="Marcellus" pitchFamily="34" charset="-122"/>
                  <a:cs typeface="Marcellus" pitchFamily="34" charset="-120"/>
                </a:rPr>
                <a:t>Attention Patterns</a:t>
              </a:r>
              <a:endParaRPr lang="en-US" sz="1700" dirty="0"/>
            </a:p>
          </p:txBody>
        </p:sp>
        <p:sp>
          <p:nvSpPr>
            <p:cNvPr id="27" name="Text 17"/>
            <p:cNvSpPr/>
            <p:nvPr/>
          </p:nvSpPr>
          <p:spPr>
            <a:xfrm>
              <a:off x="7387709" y="7054334"/>
              <a:ext cx="5913001" cy="174069"/>
            </a:xfrm>
            <a:prstGeom prst="rect">
              <a:avLst/>
            </a:prstGeom>
            <a:noFill/>
            <a:ln/>
          </p:spPr>
          <p:txBody>
            <a:bodyPr wrap="none" lIns="0" tIns="0" rIns="0" bIns="0" rtlCol="0" anchor="t"/>
            <a:lstStyle/>
            <a:p>
              <a:pPr marL="0" indent="0" algn="l">
                <a:lnSpc>
                  <a:spcPts val="1350"/>
                </a:lnSpc>
                <a:buNone/>
              </a:pPr>
              <a:r>
                <a:rPr lang="en-US" sz="1150" dirty="0">
                  <a:solidFill>
                    <a:srgbClr val="67534F"/>
                  </a:solidFill>
                  <a:latin typeface="Montserrat" pitchFamily="34" charset="0"/>
                  <a:ea typeface="Montserrat" pitchFamily="34" charset="-122"/>
                  <a:cs typeface="Montserrat" pitchFamily="34" charset="-120"/>
                </a:rPr>
                <a:t>A10 assesses atypical space-staring behaviors without focused attention</a:t>
              </a:r>
              <a:endParaRPr lang="en-US" sz="1150" dirty="0"/>
            </a:p>
          </p:txBody>
        </p:sp>
        <p:sp>
          <p:nvSpPr>
            <p:cNvPr id="28" name="TextBox 27">
              <a:extLst>
                <a:ext uri="{FF2B5EF4-FFF2-40B4-BE49-F238E27FC236}">
                  <a16:creationId xmlns:a16="http://schemas.microsoft.com/office/drawing/2014/main" id="{F188B6AA-F245-4C2F-9A3D-03A4150874EC}"/>
                </a:ext>
              </a:extLst>
            </p:cNvPr>
            <p:cNvSpPr txBox="1"/>
            <p:nvPr/>
          </p:nvSpPr>
          <p:spPr>
            <a:xfrm>
              <a:off x="12801600" y="7670202"/>
              <a:ext cx="1721224" cy="559398"/>
            </a:xfrm>
            <a:prstGeom prst="rect">
              <a:avLst/>
            </a:prstGeom>
            <a:solidFill>
              <a:srgbClr val="FDFCF0"/>
            </a:solidFill>
          </p:spPr>
          <p:txBody>
            <a:bodyPr wrap="square" rtlCol="0">
              <a:spAutoFit/>
            </a:bodyPr>
            <a:lstStyle/>
            <a:p>
              <a:endParaRPr lang="en-IN"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8542F4AE-8763-4E6D-81FB-1D2DA2113A97}"/>
              </a:ext>
            </a:extLst>
          </p:cNvPr>
          <p:cNvGrpSpPr/>
          <p:nvPr/>
        </p:nvGrpSpPr>
        <p:grpSpPr>
          <a:xfrm>
            <a:off x="793790" y="688538"/>
            <a:ext cx="13729034" cy="7541062"/>
            <a:chOff x="793790" y="688538"/>
            <a:chExt cx="13729034" cy="7541062"/>
          </a:xfrm>
        </p:grpSpPr>
        <p:sp>
          <p:nvSpPr>
            <p:cNvPr id="2" name="Text 0"/>
            <p:cNvSpPr/>
            <p:nvPr/>
          </p:nvSpPr>
          <p:spPr>
            <a:xfrm>
              <a:off x="793790" y="688538"/>
              <a:ext cx="10014466"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Feature Engineering: Composite Scores</a:t>
              </a:r>
              <a:endParaRPr lang="en-US" sz="4450" dirty="0"/>
            </a:p>
          </p:txBody>
        </p:sp>
        <p:sp>
          <p:nvSpPr>
            <p:cNvPr id="3" name="Text 1"/>
            <p:cNvSpPr/>
            <p:nvPr/>
          </p:nvSpPr>
          <p:spPr>
            <a:xfrm>
              <a:off x="793790" y="1827133"/>
              <a:ext cx="13042821" cy="51601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Three meaningful composite scores were developed to characterize ASD presentations beyond binary classifications, providing continuous measures of autism spectrum traits.</a:t>
              </a:r>
              <a:endParaRPr lang="en-US" sz="1550" dirty="0"/>
            </a:p>
          </p:txBody>
        </p:sp>
        <p:sp>
          <p:nvSpPr>
            <p:cNvPr id="4" name="Shape 2"/>
            <p:cNvSpPr/>
            <p:nvPr/>
          </p:nvSpPr>
          <p:spPr>
            <a:xfrm>
              <a:off x="793790" y="2566392"/>
              <a:ext cx="4215289" cy="4974550"/>
            </a:xfrm>
            <a:prstGeom prst="roundRect">
              <a:avLst>
                <a:gd name="adj" fmla="val 1978"/>
              </a:avLst>
            </a:prstGeom>
            <a:solidFill>
              <a:srgbClr val="FFFFF4">
                <a:alpha val="95000"/>
              </a:srgbClr>
            </a:solidFill>
            <a:ln w="22860">
              <a:solidFill>
                <a:srgbClr val="FFE0CC"/>
              </a:solidFill>
              <a:prstDash val="solid"/>
            </a:ln>
          </p:spPr>
        </p:sp>
        <p:sp>
          <p:nvSpPr>
            <p:cNvPr id="5" name="Shape 3"/>
            <p:cNvSpPr/>
            <p:nvPr/>
          </p:nvSpPr>
          <p:spPr>
            <a:xfrm>
              <a:off x="816650" y="2589252"/>
              <a:ext cx="4169569" cy="595313"/>
            </a:xfrm>
            <a:prstGeom prst="roundRect">
              <a:avLst>
                <a:gd name="adj" fmla="val 9395"/>
              </a:avLst>
            </a:prstGeom>
            <a:solidFill>
              <a:srgbClr val="FFFFF4"/>
            </a:solidFill>
            <a:ln/>
          </p:spPr>
        </p:sp>
        <p:sp>
          <p:nvSpPr>
            <p:cNvPr id="6" name="Text 4"/>
            <p:cNvSpPr/>
            <p:nvPr/>
          </p:nvSpPr>
          <p:spPr>
            <a:xfrm>
              <a:off x="2752606" y="2682002"/>
              <a:ext cx="297656" cy="386953"/>
            </a:xfrm>
            <a:prstGeom prst="rect">
              <a:avLst/>
            </a:prstGeom>
            <a:noFill/>
            <a:ln/>
          </p:spPr>
          <p:txBody>
            <a:bodyPr wrap="none" lIns="0" tIns="0" rIns="0" bIns="0" rtlCol="0" anchor="t"/>
            <a:lstStyle/>
            <a:p>
              <a:pPr marL="0" indent="0" algn="l">
                <a:lnSpc>
                  <a:spcPts val="2300"/>
                </a:lnSpc>
                <a:buNone/>
              </a:pPr>
              <a:r>
                <a:rPr lang="en-US" sz="2300" dirty="0">
                  <a:solidFill>
                    <a:srgbClr val="67534F"/>
                  </a:solidFill>
                  <a:latin typeface="Marcellus" pitchFamily="34" charset="0"/>
                  <a:ea typeface="Marcellus" pitchFamily="34" charset="-122"/>
                  <a:cs typeface="Marcellus" pitchFamily="34" charset="-120"/>
                </a:rPr>
                <a:t>1</a:t>
              </a:r>
              <a:endParaRPr lang="en-US" sz="2300" dirty="0"/>
            </a:p>
          </p:txBody>
        </p:sp>
        <p:sp>
          <p:nvSpPr>
            <p:cNvPr id="7" name="Text 5"/>
            <p:cNvSpPr/>
            <p:nvPr/>
          </p:nvSpPr>
          <p:spPr>
            <a:xfrm>
              <a:off x="1015008" y="3382923"/>
              <a:ext cx="3024545"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Social Interaction Score</a:t>
              </a:r>
              <a:endParaRPr lang="en-US" sz="2200" dirty="0"/>
            </a:p>
          </p:txBody>
        </p:sp>
        <p:sp>
          <p:nvSpPr>
            <p:cNvPr id="8" name="Text 6"/>
            <p:cNvSpPr/>
            <p:nvPr/>
          </p:nvSpPr>
          <p:spPr>
            <a:xfrm>
              <a:off x="1015008" y="3872746"/>
              <a:ext cx="3772853" cy="258008"/>
            </a:xfrm>
            <a:prstGeom prst="rect">
              <a:avLst/>
            </a:prstGeom>
            <a:noFill/>
            <a:ln/>
          </p:spPr>
          <p:txBody>
            <a:bodyPr wrap="non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Calculation:</a:t>
              </a:r>
              <a:r>
                <a:rPr lang="en-US" sz="1550" dirty="0">
                  <a:solidFill>
                    <a:srgbClr val="67534F"/>
                  </a:solidFill>
                  <a:latin typeface="Montserrat" pitchFamily="34" charset="0"/>
                  <a:ea typeface="Montserrat" pitchFamily="34" charset="-122"/>
                  <a:cs typeface="Montserrat" pitchFamily="34" charset="-120"/>
                </a:rPr>
                <a:t> A1 + A2 + A6</a:t>
              </a:r>
              <a:endParaRPr lang="en-US" sz="1550" dirty="0"/>
            </a:p>
          </p:txBody>
        </p:sp>
        <p:sp>
          <p:nvSpPr>
            <p:cNvPr id="9" name="Text 7"/>
            <p:cNvSpPr/>
            <p:nvPr/>
          </p:nvSpPr>
          <p:spPr>
            <a:xfrm>
              <a:off x="1015008" y="4249817"/>
              <a:ext cx="3772853" cy="258008"/>
            </a:xfrm>
            <a:prstGeom prst="rect">
              <a:avLst/>
            </a:prstGeom>
            <a:noFill/>
            <a:ln/>
          </p:spPr>
          <p:txBody>
            <a:bodyPr wrap="non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Range:</a:t>
              </a:r>
              <a:r>
                <a:rPr lang="en-US" sz="1550" dirty="0">
                  <a:solidFill>
                    <a:srgbClr val="67534F"/>
                  </a:solidFill>
                  <a:latin typeface="Montserrat" pitchFamily="34" charset="0"/>
                  <a:ea typeface="Montserrat" pitchFamily="34" charset="-122"/>
                  <a:cs typeface="Montserrat" pitchFamily="34" charset="-120"/>
                </a:rPr>
                <a:t> 0-3</a:t>
              </a:r>
              <a:endParaRPr lang="en-US" sz="1550" dirty="0"/>
            </a:p>
          </p:txBody>
        </p:sp>
        <p:sp>
          <p:nvSpPr>
            <p:cNvPr id="10" name="Text 8"/>
            <p:cNvSpPr/>
            <p:nvPr/>
          </p:nvSpPr>
          <p:spPr>
            <a:xfrm>
              <a:off x="1015008" y="4626888"/>
              <a:ext cx="3772853" cy="2322076"/>
            </a:xfrm>
            <a:prstGeom prst="rect">
              <a:avLst/>
            </a:prstGeom>
            <a:noFill/>
            <a:ln/>
          </p:spPr>
          <p:txBody>
            <a:bodyPr wrap="squar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Interpretation:</a:t>
              </a:r>
              <a:r>
                <a:rPr lang="en-US" sz="1550" dirty="0">
                  <a:solidFill>
                    <a:srgbClr val="67534F"/>
                  </a:solidFill>
                  <a:latin typeface="Montserrat" pitchFamily="34" charset="0"/>
                  <a:ea typeface="Montserrat" pitchFamily="34" charset="-122"/>
                  <a:cs typeface="Montserrat" pitchFamily="34" charset="-120"/>
                </a:rPr>
                <a:t> Aggregates responsive eye contact (A1), spontaneous eye contact (A2), and joint attention through gaze-following (A6). Higher scores indicate stronger social interaction abilities; lower scores suggest social interaction deficits commonly observed in ASD.</a:t>
              </a:r>
              <a:endParaRPr lang="en-US" sz="1550" dirty="0"/>
            </a:p>
          </p:txBody>
        </p:sp>
        <p:sp>
          <p:nvSpPr>
            <p:cNvPr id="11" name="Shape 9"/>
            <p:cNvSpPr/>
            <p:nvPr/>
          </p:nvSpPr>
          <p:spPr>
            <a:xfrm>
              <a:off x="5207437" y="2566392"/>
              <a:ext cx="4215408" cy="4974550"/>
            </a:xfrm>
            <a:prstGeom prst="roundRect">
              <a:avLst>
                <a:gd name="adj" fmla="val 1977"/>
              </a:avLst>
            </a:prstGeom>
            <a:solidFill>
              <a:srgbClr val="FFFFF4">
                <a:alpha val="95000"/>
              </a:srgbClr>
            </a:solidFill>
            <a:ln w="22860">
              <a:solidFill>
                <a:srgbClr val="FFE0CC"/>
              </a:solidFill>
              <a:prstDash val="solid"/>
            </a:ln>
          </p:spPr>
        </p:sp>
        <p:sp>
          <p:nvSpPr>
            <p:cNvPr id="12" name="Shape 10"/>
            <p:cNvSpPr/>
            <p:nvPr/>
          </p:nvSpPr>
          <p:spPr>
            <a:xfrm>
              <a:off x="5230297" y="2589252"/>
              <a:ext cx="4169688" cy="595313"/>
            </a:xfrm>
            <a:prstGeom prst="roundRect">
              <a:avLst>
                <a:gd name="adj" fmla="val 9395"/>
              </a:avLst>
            </a:prstGeom>
            <a:solidFill>
              <a:srgbClr val="FFFFF4"/>
            </a:solidFill>
            <a:ln/>
          </p:spPr>
        </p:sp>
        <p:sp>
          <p:nvSpPr>
            <p:cNvPr id="13" name="Text 11"/>
            <p:cNvSpPr/>
            <p:nvPr/>
          </p:nvSpPr>
          <p:spPr>
            <a:xfrm>
              <a:off x="7166253" y="2682002"/>
              <a:ext cx="297656" cy="386953"/>
            </a:xfrm>
            <a:prstGeom prst="rect">
              <a:avLst/>
            </a:prstGeom>
            <a:noFill/>
            <a:ln/>
          </p:spPr>
          <p:txBody>
            <a:bodyPr wrap="none" lIns="0" tIns="0" rIns="0" bIns="0" rtlCol="0" anchor="t"/>
            <a:lstStyle/>
            <a:p>
              <a:pPr marL="0" indent="0" algn="l">
                <a:lnSpc>
                  <a:spcPts val="2300"/>
                </a:lnSpc>
                <a:buNone/>
              </a:pPr>
              <a:r>
                <a:rPr lang="en-US" sz="2300" dirty="0">
                  <a:solidFill>
                    <a:srgbClr val="67534F"/>
                  </a:solidFill>
                  <a:latin typeface="Marcellus" pitchFamily="34" charset="0"/>
                  <a:ea typeface="Marcellus" pitchFamily="34" charset="-122"/>
                  <a:cs typeface="Marcellus" pitchFamily="34" charset="-120"/>
                </a:rPr>
                <a:t>2</a:t>
              </a:r>
              <a:endParaRPr lang="en-US" sz="2300" dirty="0"/>
            </a:p>
          </p:txBody>
        </p:sp>
        <p:sp>
          <p:nvSpPr>
            <p:cNvPr id="14" name="Text 12"/>
            <p:cNvSpPr/>
            <p:nvPr/>
          </p:nvSpPr>
          <p:spPr>
            <a:xfrm>
              <a:off x="5428655" y="3382923"/>
              <a:ext cx="3772972" cy="741521"/>
            </a:xfrm>
            <a:prstGeom prst="rect">
              <a:avLst/>
            </a:prstGeom>
            <a:noFill/>
            <a:ln/>
          </p:spPr>
          <p:txBody>
            <a:bodyPr wrap="squar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Communication Deficit Score</a:t>
              </a:r>
              <a:endParaRPr lang="en-US" sz="2200" dirty="0"/>
            </a:p>
          </p:txBody>
        </p:sp>
        <p:sp>
          <p:nvSpPr>
            <p:cNvPr id="15" name="Text 13"/>
            <p:cNvSpPr/>
            <p:nvPr/>
          </p:nvSpPr>
          <p:spPr>
            <a:xfrm>
              <a:off x="5428655" y="4243507"/>
              <a:ext cx="3772972" cy="258008"/>
            </a:xfrm>
            <a:prstGeom prst="rect">
              <a:avLst/>
            </a:prstGeom>
            <a:noFill/>
            <a:ln/>
          </p:spPr>
          <p:txBody>
            <a:bodyPr wrap="non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Calculation:</a:t>
              </a:r>
              <a:r>
                <a:rPr lang="en-US" sz="1550" dirty="0">
                  <a:solidFill>
                    <a:srgbClr val="67534F"/>
                  </a:solidFill>
                  <a:latin typeface="Montserrat" pitchFamily="34" charset="0"/>
                  <a:ea typeface="Montserrat" pitchFamily="34" charset="-122"/>
                  <a:cs typeface="Montserrat" pitchFamily="34" charset="-120"/>
                </a:rPr>
                <a:t> (1-A3) + (1-A4) + (1-A9)</a:t>
              </a:r>
              <a:endParaRPr lang="en-US" sz="1550" dirty="0"/>
            </a:p>
          </p:txBody>
        </p:sp>
        <p:sp>
          <p:nvSpPr>
            <p:cNvPr id="16" name="Text 14"/>
            <p:cNvSpPr/>
            <p:nvPr/>
          </p:nvSpPr>
          <p:spPr>
            <a:xfrm>
              <a:off x="5428655" y="4620578"/>
              <a:ext cx="3772972" cy="258008"/>
            </a:xfrm>
            <a:prstGeom prst="rect">
              <a:avLst/>
            </a:prstGeom>
            <a:noFill/>
            <a:ln/>
          </p:spPr>
          <p:txBody>
            <a:bodyPr wrap="non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Range:</a:t>
              </a:r>
              <a:r>
                <a:rPr lang="en-US" sz="1550" dirty="0">
                  <a:solidFill>
                    <a:srgbClr val="67534F"/>
                  </a:solidFill>
                  <a:latin typeface="Montserrat" pitchFamily="34" charset="0"/>
                  <a:ea typeface="Montserrat" pitchFamily="34" charset="-122"/>
                  <a:cs typeface="Montserrat" pitchFamily="34" charset="-120"/>
                </a:rPr>
                <a:t> 0-3</a:t>
              </a:r>
              <a:endParaRPr lang="en-US" sz="1550" dirty="0"/>
            </a:p>
          </p:txBody>
        </p:sp>
        <p:sp>
          <p:nvSpPr>
            <p:cNvPr id="17" name="Text 15"/>
            <p:cNvSpPr/>
            <p:nvPr/>
          </p:nvSpPr>
          <p:spPr>
            <a:xfrm>
              <a:off x="5428655" y="4997648"/>
              <a:ext cx="3772972" cy="2322076"/>
            </a:xfrm>
            <a:prstGeom prst="rect">
              <a:avLst/>
            </a:prstGeom>
            <a:noFill/>
            <a:ln/>
          </p:spPr>
          <p:txBody>
            <a:bodyPr wrap="squar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Interpretation:</a:t>
              </a:r>
              <a:r>
                <a:rPr lang="en-US" sz="1550" dirty="0">
                  <a:solidFill>
                    <a:srgbClr val="67534F"/>
                  </a:solidFill>
                  <a:latin typeface="Montserrat" pitchFamily="34" charset="0"/>
                  <a:ea typeface="Montserrat" pitchFamily="34" charset="-122"/>
                  <a:cs typeface="Montserrat" pitchFamily="34" charset="-120"/>
                </a:rPr>
                <a:t> Uses inverse coding for pointing and gestural communication. When ability is present (1), inverse = 0 (no deficit). When ability is absent (0), inverse = 1 (deficit present). Higher scores indicate greater communication deficits; lower scores suggest functional communicative abilities.</a:t>
              </a:r>
              <a:endParaRPr lang="en-US" sz="1550" dirty="0"/>
            </a:p>
          </p:txBody>
        </p:sp>
        <p:sp>
          <p:nvSpPr>
            <p:cNvPr id="18" name="Shape 16"/>
            <p:cNvSpPr/>
            <p:nvPr/>
          </p:nvSpPr>
          <p:spPr>
            <a:xfrm>
              <a:off x="9621203" y="2566392"/>
              <a:ext cx="4215289" cy="4974550"/>
            </a:xfrm>
            <a:prstGeom prst="roundRect">
              <a:avLst>
                <a:gd name="adj" fmla="val 1978"/>
              </a:avLst>
            </a:prstGeom>
            <a:solidFill>
              <a:srgbClr val="FFFFF4">
                <a:alpha val="95000"/>
              </a:srgbClr>
            </a:solidFill>
            <a:ln w="22860">
              <a:solidFill>
                <a:srgbClr val="FFE0CC"/>
              </a:solidFill>
              <a:prstDash val="solid"/>
            </a:ln>
          </p:spPr>
        </p:sp>
        <p:sp>
          <p:nvSpPr>
            <p:cNvPr id="19" name="Shape 17"/>
            <p:cNvSpPr/>
            <p:nvPr/>
          </p:nvSpPr>
          <p:spPr>
            <a:xfrm>
              <a:off x="9644063" y="2589252"/>
              <a:ext cx="4169569" cy="595313"/>
            </a:xfrm>
            <a:prstGeom prst="roundRect">
              <a:avLst>
                <a:gd name="adj" fmla="val 9395"/>
              </a:avLst>
            </a:prstGeom>
            <a:solidFill>
              <a:srgbClr val="FFFFF4"/>
            </a:solidFill>
            <a:ln/>
          </p:spPr>
        </p:sp>
        <p:sp>
          <p:nvSpPr>
            <p:cNvPr id="20" name="Text 18"/>
            <p:cNvSpPr/>
            <p:nvPr/>
          </p:nvSpPr>
          <p:spPr>
            <a:xfrm>
              <a:off x="11580019" y="2682002"/>
              <a:ext cx="297656" cy="386953"/>
            </a:xfrm>
            <a:prstGeom prst="rect">
              <a:avLst/>
            </a:prstGeom>
            <a:noFill/>
            <a:ln/>
          </p:spPr>
          <p:txBody>
            <a:bodyPr wrap="none" lIns="0" tIns="0" rIns="0" bIns="0" rtlCol="0" anchor="t"/>
            <a:lstStyle/>
            <a:p>
              <a:pPr marL="0" indent="0" algn="l">
                <a:lnSpc>
                  <a:spcPts val="2300"/>
                </a:lnSpc>
                <a:buNone/>
              </a:pPr>
              <a:r>
                <a:rPr lang="en-US" sz="2300" dirty="0">
                  <a:solidFill>
                    <a:srgbClr val="67534F"/>
                  </a:solidFill>
                  <a:latin typeface="Marcellus" pitchFamily="34" charset="0"/>
                  <a:ea typeface="Marcellus" pitchFamily="34" charset="-122"/>
                  <a:cs typeface="Marcellus" pitchFamily="34" charset="-120"/>
                </a:rPr>
                <a:t>3</a:t>
              </a:r>
              <a:endParaRPr lang="en-US" sz="2300" dirty="0"/>
            </a:p>
          </p:txBody>
        </p:sp>
        <p:sp>
          <p:nvSpPr>
            <p:cNvPr id="21" name="Text 19"/>
            <p:cNvSpPr/>
            <p:nvPr/>
          </p:nvSpPr>
          <p:spPr>
            <a:xfrm>
              <a:off x="9842421" y="3382923"/>
              <a:ext cx="3568541"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Behavioral Atypicality Score</a:t>
              </a:r>
              <a:endParaRPr lang="en-US" sz="2200" dirty="0"/>
            </a:p>
          </p:txBody>
        </p:sp>
        <p:sp>
          <p:nvSpPr>
            <p:cNvPr id="22" name="Text 20"/>
            <p:cNvSpPr/>
            <p:nvPr/>
          </p:nvSpPr>
          <p:spPr>
            <a:xfrm>
              <a:off x="9842421" y="3872746"/>
              <a:ext cx="3772853" cy="516017"/>
            </a:xfrm>
            <a:prstGeom prst="rect">
              <a:avLst/>
            </a:prstGeom>
            <a:noFill/>
            <a:ln/>
          </p:spPr>
          <p:txBody>
            <a:bodyPr wrap="squar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Calculation:</a:t>
              </a:r>
              <a:r>
                <a:rPr lang="en-US" sz="1550" dirty="0">
                  <a:solidFill>
                    <a:srgbClr val="67534F"/>
                  </a:solidFill>
                  <a:latin typeface="Montserrat" pitchFamily="34" charset="0"/>
                  <a:ea typeface="Montserrat" pitchFamily="34" charset="-122"/>
                  <a:cs typeface="Montserrat" pitchFamily="34" charset="-120"/>
                </a:rPr>
                <a:t> (1-A5) + (1-A7) + (1-A8) + A10</a:t>
              </a:r>
              <a:endParaRPr lang="en-US" sz="1550" dirty="0"/>
            </a:p>
          </p:txBody>
        </p:sp>
        <p:sp>
          <p:nvSpPr>
            <p:cNvPr id="23" name="Text 21"/>
            <p:cNvSpPr/>
            <p:nvPr/>
          </p:nvSpPr>
          <p:spPr>
            <a:xfrm>
              <a:off x="9842421" y="4507825"/>
              <a:ext cx="3772853" cy="258008"/>
            </a:xfrm>
            <a:prstGeom prst="rect">
              <a:avLst/>
            </a:prstGeom>
            <a:noFill/>
            <a:ln/>
          </p:spPr>
          <p:txBody>
            <a:bodyPr wrap="non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Range:</a:t>
              </a:r>
              <a:r>
                <a:rPr lang="en-US" sz="1550" dirty="0">
                  <a:solidFill>
                    <a:srgbClr val="67534F"/>
                  </a:solidFill>
                  <a:latin typeface="Montserrat" pitchFamily="34" charset="0"/>
                  <a:ea typeface="Montserrat" pitchFamily="34" charset="-122"/>
                  <a:cs typeface="Montserrat" pitchFamily="34" charset="-120"/>
                </a:rPr>
                <a:t> 0-4</a:t>
              </a:r>
              <a:endParaRPr lang="en-US" sz="1550" dirty="0"/>
            </a:p>
          </p:txBody>
        </p:sp>
        <p:sp>
          <p:nvSpPr>
            <p:cNvPr id="24" name="Text 22"/>
            <p:cNvSpPr/>
            <p:nvPr/>
          </p:nvSpPr>
          <p:spPr>
            <a:xfrm>
              <a:off x="9842421" y="4884896"/>
              <a:ext cx="3772853" cy="2322076"/>
            </a:xfrm>
            <a:prstGeom prst="rect">
              <a:avLst/>
            </a:prstGeom>
            <a:noFill/>
            <a:ln/>
          </p:spPr>
          <p:txBody>
            <a:bodyPr wrap="square" lIns="0" tIns="0" rIns="0" bIns="0" rtlCol="0" anchor="t"/>
            <a:lstStyle/>
            <a:p>
              <a:pPr marL="0" indent="0" algn="l">
                <a:lnSpc>
                  <a:spcPts val="2000"/>
                </a:lnSpc>
                <a:buNone/>
              </a:pPr>
              <a:r>
                <a:rPr lang="en-US" sz="1550" b="1" dirty="0">
                  <a:solidFill>
                    <a:srgbClr val="67534F"/>
                  </a:solidFill>
                  <a:latin typeface="Montserrat" pitchFamily="34" charset="0"/>
                  <a:ea typeface="Montserrat" pitchFamily="34" charset="-122"/>
                  <a:cs typeface="Montserrat" pitchFamily="34" charset="-120"/>
                </a:rPr>
                <a:t>Interpretation:</a:t>
              </a:r>
              <a:r>
                <a:rPr lang="en-US" sz="1550" dirty="0">
                  <a:solidFill>
                    <a:srgbClr val="67534F"/>
                  </a:solidFill>
                  <a:latin typeface="Montserrat" pitchFamily="34" charset="0"/>
                  <a:ea typeface="Montserrat" pitchFamily="34" charset="-122"/>
                  <a:cs typeface="Montserrat" pitchFamily="34" charset="-120"/>
                </a:rPr>
                <a:t> Combines inverse-scored normative behaviors (imagination, empathy, communication style) with direct-scored atypical behavior (space-staring). Higher scores indicate greater behavioral atypicality; lower scores suggest more typical behavioral patterns.</a:t>
              </a:r>
              <a:endParaRPr lang="en-US" sz="1550" dirty="0"/>
            </a:p>
          </p:txBody>
        </p:sp>
        <p:sp>
          <p:nvSpPr>
            <p:cNvPr id="25" name="TextBox 24">
              <a:extLst>
                <a:ext uri="{FF2B5EF4-FFF2-40B4-BE49-F238E27FC236}">
                  <a16:creationId xmlns:a16="http://schemas.microsoft.com/office/drawing/2014/main" id="{2F67DC8A-909E-490F-9212-6886BEF42EF9}"/>
                </a:ext>
              </a:extLst>
            </p:cNvPr>
            <p:cNvSpPr txBox="1"/>
            <p:nvPr/>
          </p:nvSpPr>
          <p:spPr>
            <a:xfrm>
              <a:off x="12801600" y="7670202"/>
              <a:ext cx="1721224" cy="559398"/>
            </a:xfrm>
            <a:prstGeom prst="rect">
              <a:avLst/>
            </a:prstGeom>
            <a:solidFill>
              <a:srgbClr val="FDFCF0"/>
            </a:solidFill>
          </p:spPr>
          <p:txBody>
            <a:bodyPr wrap="square" rtlCol="0">
              <a:spAutoFit/>
            </a:bodyPr>
            <a:lstStyle/>
            <a:p>
              <a:endParaRPr lang="en-IN"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78BCBB66-C588-4266-A855-3BDE71CE80FD}"/>
              </a:ext>
            </a:extLst>
          </p:cNvPr>
          <p:cNvGrpSpPr/>
          <p:nvPr/>
        </p:nvGrpSpPr>
        <p:grpSpPr>
          <a:xfrm>
            <a:off x="743545" y="584240"/>
            <a:ext cx="13779279" cy="7645360"/>
            <a:chOff x="743545" y="584240"/>
            <a:chExt cx="13779279" cy="7645360"/>
          </a:xfrm>
        </p:grpSpPr>
        <p:sp>
          <p:nvSpPr>
            <p:cNvPr id="2" name="Text 0"/>
            <p:cNvSpPr/>
            <p:nvPr/>
          </p:nvSpPr>
          <p:spPr>
            <a:xfrm>
              <a:off x="743545" y="584240"/>
              <a:ext cx="8696801" cy="694730"/>
            </a:xfrm>
            <a:prstGeom prst="rect">
              <a:avLst/>
            </a:prstGeom>
            <a:noFill/>
            <a:ln/>
          </p:spPr>
          <p:txBody>
            <a:bodyPr wrap="none" lIns="0" tIns="0" rIns="0" bIns="0" rtlCol="0" anchor="t"/>
            <a:lstStyle/>
            <a:p>
              <a:pPr marL="0" indent="0" algn="l">
                <a:lnSpc>
                  <a:spcPts val="5450"/>
                </a:lnSpc>
                <a:buNone/>
              </a:pPr>
              <a:r>
                <a:rPr lang="en-US" sz="4200" dirty="0">
                  <a:solidFill>
                    <a:srgbClr val="532418"/>
                  </a:solidFill>
                  <a:latin typeface="Marcellus" pitchFamily="34" charset="0"/>
                  <a:ea typeface="Marcellus" pitchFamily="34" charset="-122"/>
                  <a:cs typeface="Marcellus" pitchFamily="34" charset="-120"/>
                </a:rPr>
                <a:t>Methodology: Systematic Approach</a:t>
              </a:r>
              <a:endParaRPr lang="en-US" sz="4200" dirty="0"/>
            </a:p>
          </p:txBody>
        </p:sp>
        <p:sp>
          <p:nvSpPr>
            <p:cNvPr id="3" name="Text 1"/>
            <p:cNvSpPr/>
            <p:nvPr/>
          </p:nvSpPr>
          <p:spPr>
            <a:xfrm>
              <a:off x="743545" y="1627227"/>
              <a:ext cx="185857" cy="241578"/>
            </a:xfrm>
            <a:prstGeom prst="rect">
              <a:avLst/>
            </a:prstGeom>
            <a:noFill/>
            <a:ln/>
          </p:spPr>
          <p:txBody>
            <a:bodyPr wrap="none" lIns="0" tIns="0" rIns="0" bIns="0" rtlCol="0" anchor="t"/>
            <a:lstStyle/>
            <a:p>
              <a:pPr marL="0" indent="0" algn="l">
                <a:lnSpc>
                  <a:spcPts val="1800"/>
                </a:lnSpc>
                <a:buNone/>
              </a:pPr>
              <a:r>
                <a:rPr lang="en-US" sz="1450" dirty="0">
                  <a:solidFill>
                    <a:srgbClr val="67534F"/>
                  </a:solidFill>
                  <a:latin typeface="Marcellus Light" pitchFamily="34" charset="0"/>
                  <a:ea typeface="Marcellus Light" pitchFamily="34" charset="-122"/>
                  <a:cs typeface="Marcellus Light" pitchFamily="34" charset="-120"/>
                </a:rPr>
                <a:t>01</a:t>
              </a:r>
              <a:endParaRPr lang="en-US" sz="1450" dirty="0"/>
            </a:p>
          </p:txBody>
        </p:sp>
        <p:sp>
          <p:nvSpPr>
            <p:cNvPr id="4" name="Shape 2"/>
            <p:cNvSpPr/>
            <p:nvPr/>
          </p:nvSpPr>
          <p:spPr>
            <a:xfrm>
              <a:off x="743545" y="1929527"/>
              <a:ext cx="4265057" cy="22860"/>
            </a:xfrm>
            <a:prstGeom prst="rect">
              <a:avLst/>
            </a:prstGeom>
            <a:solidFill>
              <a:srgbClr val="FF954F"/>
            </a:solidFill>
            <a:ln/>
          </p:spPr>
        </p:sp>
        <p:sp>
          <p:nvSpPr>
            <p:cNvPr id="5" name="Text 3"/>
            <p:cNvSpPr/>
            <p:nvPr/>
          </p:nvSpPr>
          <p:spPr>
            <a:xfrm>
              <a:off x="743545" y="2068116"/>
              <a:ext cx="3313390" cy="347424"/>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Data Integration &amp; Loading</a:t>
              </a:r>
              <a:endParaRPr lang="en-US" sz="2100" dirty="0"/>
            </a:p>
          </p:txBody>
        </p:sp>
        <p:sp>
          <p:nvSpPr>
            <p:cNvPr id="6" name="Text 4"/>
            <p:cNvSpPr/>
            <p:nvPr/>
          </p:nvSpPr>
          <p:spPr>
            <a:xfrm>
              <a:off x="743545" y="2519958"/>
              <a:ext cx="4265057" cy="701873"/>
            </a:xfrm>
            <a:prstGeom prst="rect">
              <a:avLst/>
            </a:prstGeom>
            <a:noFill/>
            <a:ln/>
          </p:spPr>
          <p:txBody>
            <a:bodyPr wrap="square" lIns="0" tIns="0" rIns="0" bIns="0" rtlCol="0" anchor="t"/>
            <a:lstStyle/>
            <a:p>
              <a:pPr marL="0" indent="0" algn="l">
                <a:lnSpc>
                  <a:spcPts val="1800"/>
                </a:lnSpc>
                <a:buNone/>
              </a:pPr>
              <a:r>
                <a:rPr lang="en-US" sz="1450" dirty="0">
                  <a:solidFill>
                    <a:srgbClr val="67534F"/>
                  </a:solidFill>
                  <a:latin typeface="Montserrat" pitchFamily="34" charset="0"/>
                  <a:ea typeface="Montserrat" pitchFamily="34" charset="-122"/>
                  <a:cs typeface="Montserrat" pitchFamily="34" charset="-120"/>
                </a:rPr>
                <a:t>Import combined autism screening dataset containing 6,075 individual responses with 15 core behavioral and demographic variables</a:t>
              </a:r>
              <a:endParaRPr lang="en-US" sz="1450" dirty="0"/>
            </a:p>
          </p:txBody>
        </p:sp>
        <p:sp>
          <p:nvSpPr>
            <p:cNvPr id="7" name="Text 5"/>
            <p:cNvSpPr/>
            <p:nvPr/>
          </p:nvSpPr>
          <p:spPr>
            <a:xfrm>
              <a:off x="5182672" y="1627227"/>
              <a:ext cx="185857" cy="241578"/>
            </a:xfrm>
            <a:prstGeom prst="rect">
              <a:avLst/>
            </a:prstGeom>
            <a:noFill/>
            <a:ln/>
          </p:spPr>
          <p:txBody>
            <a:bodyPr wrap="none" lIns="0" tIns="0" rIns="0" bIns="0" rtlCol="0" anchor="t"/>
            <a:lstStyle/>
            <a:p>
              <a:pPr marL="0" indent="0" algn="l">
                <a:lnSpc>
                  <a:spcPts val="1800"/>
                </a:lnSpc>
                <a:buNone/>
              </a:pPr>
              <a:r>
                <a:rPr lang="en-US" sz="1450" dirty="0">
                  <a:solidFill>
                    <a:srgbClr val="67534F"/>
                  </a:solidFill>
                  <a:latin typeface="Marcellus Light" pitchFamily="34" charset="0"/>
                  <a:ea typeface="Marcellus Light" pitchFamily="34" charset="-122"/>
                  <a:cs typeface="Marcellus Light" pitchFamily="34" charset="-120"/>
                </a:rPr>
                <a:t>02</a:t>
              </a:r>
              <a:endParaRPr lang="en-US" sz="1450" dirty="0"/>
            </a:p>
          </p:txBody>
        </p:sp>
        <p:sp>
          <p:nvSpPr>
            <p:cNvPr id="8" name="Shape 6"/>
            <p:cNvSpPr/>
            <p:nvPr/>
          </p:nvSpPr>
          <p:spPr>
            <a:xfrm>
              <a:off x="5182672" y="1929527"/>
              <a:ext cx="4265057" cy="22860"/>
            </a:xfrm>
            <a:prstGeom prst="rect">
              <a:avLst/>
            </a:prstGeom>
            <a:solidFill>
              <a:srgbClr val="FF954F"/>
            </a:solidFill>
            <a:ln/>
          </p:spPr>
        </p:sp>
        <p:sp>
          <p:nvSpPr>
            <p:cNvPr id="9" name="Text 7"/>
            <p:cNvSpPr/>
            <p:nvPr/>
          </p:nvSpPr>
          <p:spPr>
            <a:xfrm>
              <a:off x="5182672" y="2068116"/>
              <a:ext cx="3372803" cy="347424"/>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Data Exploration &amp; Profiling</a:t>
              </a:r>
              <a:endParaRPr lang="en-US" sz="2100" dirty="0"/>
            </a:p>
          </p:txBody>
        </p:sp>
        <p:sp>
          <p:nvSpPr>
            <p:cNvPr id="10" name="Text 8"/>
            <p:cNvSpPr/>
            <p:nvPr/>
          </p:nvSpPr>
          <p:spPr>
            <a:xfrm>
              <a:off x="5182672" y="2519958"/>
              <a:ext cx="4265057" cy="935831"/>
            </a:xfrm>
            <a:prstGeom prst="rect">
              <a:avLst/>
            </a:prstGeom>
            <a:noFill/>
            <a:ln/>
          </p:spPr>
          <p:txBody>
            <a:bodyPr wrap="square" lIns="0" tIns="0" rIns="0" bIns="0" rtlCol="0" anchor="t"/>
            <a:lstStyle/>
            <a:p>
              <a:pPr marL="0" indent="0" algn="l">
                <a:lnSpc>
                  <a:spcPts val="1800"/>
                </a:lnSpc>
                <a:buNone/>
              </a:pPr>
              <a:r>
                <a:rPr lang="en-US" sz="1450" dirty="0">
                  <a:solidFill>
                    <a:srgbClr val="67534F"/>
                  </a:solidFill>
                  <a:latin typeface="Montserrat" pitchFamily="34" charset="0"/>
                  <a:ea typeface="Montserrat" pitchFamily="34" charset="-122"/>
                  <a:cs typeface="Montserrat" pitchFamily="34" charset="-120"/>
                </a:rPr>
                <a:t>Perform initial exploratory analysis to understand data distribution, identify missing values, and assess data quality across all variables</a:t>
              </a:r>
              <a:endParaRPr lang="en-US" sz="1450" dirty="0"/>
            </a:p>
          </p:txBody>
        </p:sp>
        <p:sp>
          <p:nvSpPr>
            <p:cNvPr id="11" name="Text 9"/>
            <p:cNvSpPr/>
            <p:nvPr/>
          </p:nvSpPr>
          <p:spPr>
            <a:xfrm>
              <a:off x="9621798" y="1627227"/>
              <a:ext cx="185857" cy="241578"/>
            </a:xfrm>
            <a:prstGeom prst="rect">
              <a:avLst/>
            </a:prstGeom>
            <a:noFill/>
            <a:ln/>
          </p:spPr>
          <p:txBody>
            <a:bodyPr wrap="none" lIns="0" tIns="0" rIns="0" bIns="0" rtlCol="0" anchor="t"/>
            <a:lstStyle/>
            <a:p>
              <a:pPr marL="0" indent="0" algn="l">
                <a:lnSpc>
                  <a:spcPts val="1800"/>
                </a:lnSpc>
                <a:buNone/>
              </a:pPr>
              <a:r>
                <a:rPr lang="en-US" sz="1450" dirty="0">
                  <a:solidFill>
                    <a:srgbClr val="67534F"/>
                  </a:solidFill>
                  <a:latin typeface="Marcellus Light" pitchFamily="34" charset="0"/>
                  <a:ea typeface="Marcellus Light" pitchFamily="34" charset="-122"/>
                  <a:cs typeface="Marcellus Light" pitchFamily="34" charset="-120"/>
                </a:rPr>
                <a:t>03</a:t>
              </a:r>
              <a:endParaRPr lang="en-US" sz="1450" dirty="0"/>
            </a:p>
          </p:txBody>
        </p:sp>
        <p:sp>
          <p:nvSpPr>
            <p:cNvPr id="12" name="Shape 10"/>
            <p:cNvSpPr/>
            <p:nvPr/>
          </p:nvSpPr>
          <p:spPr>
            <a:xfrm>
              <a:off x="9621798" y="1929527"/>
              <a:ext cx="4265057" cy="22860"/>
            </a:xfrm>
            <a:prstGeom prst="rect">
              <a:avLst/>
            </a:prstGeom>
            <a:solidFill>
              <a:srgbClr val="FF954F"/>
            </a:solidFill>
            <a:ln/>
          </p:spPr>
        </p:sp>
        <p:sp>
          <p:nvSpPr>
            <p:cNvPr id="13" name="Text 11"/>
            <p:cNvSpPr/>
            <p:nvPr/>
          </p:nvSpPr>
          <p:spPr>
            <a:xfrm>
              <a:off x="9621798" y="2068116"/>
              <a:ext cx="2847499" cy="347424"/>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Variable Categorization</a:t>
              </a:r>
              <a:endParaRPr lang="en-US" sz="2100" dirty="0"/>
            </a:p>
          </p:txBody>
        </p:sp>
        <p:sp>
          <p:nvSpPr>
            <p:cNvPr id="14" name="Text 12"/>
            <p:cNvSpPr/>
            <p:nvPr/>
          </p:nvSpPr>
          <p:spPr>
            <a:xfrm>
              <a:off x="9621798" y="2519958"/>
              <a:ext cx="4265057" cy="935831"/>
            </a:xfrm>
            <a:prstGeom prst="rect">
              <a:avLst/>
            </a:prstGeom>
            <a:noFill/>
            <a:ln/>
          </p:spPr>
          <p:txBody>
            <a:bodyPr wrap="square" lIns="0" tIns="0" rIns="0" bIns="0" rtlCol="0" anchor="t"/>
            <a:lstStyle/>
            <a:p>
              <a:pPr marL="0" indent="0" algn="l">
                <a:lnSpc>
                  <a:spcPts val="1800"/>
                </a:lnSpc>
                <a:buNone/>
              </a:pPr>
              <a:r>
                <a:rPr lang="en-US" sz="1450" dirty="0">
                  <a:solidFill>
                    <a:srgbClr val="67534F"/>
                  </a:solidFill>
                  <a:latin typeface="Montserrat" pitchFamily="34" charset="0"/>
                  <a:ea typeface="Montserrat" pitchFamily="34" charset="-122"/>
                  <a:cs typeface="Montserrat" pitchFamily="34" charset="-120"/>
                </a:rPr>
                <a:t>Transform continuous age variables into meaningful age groups (Child: &lt;13, Adolescent: 13-17, Adult: 18+) to facilitate demographic segmentation</a:t>
              </a:r>
              <a:endParaRPr lang="en-US" sz="1450" dirty="0"/>
            </a:p>
          </p:txBody>
        </p:sp>
        <p:sp>
          <p:nvSpPr>
            <p:cNvPr id="15" name="Text 13"/>
            <p:cNvSpPr/>
            <p:nvPr/>
          </p:nvSpPr>
          <p:spPr>
            <a:xfrm>
              <a:off x="743545" y="3769281"/>
              <a:ext cx="185857" cy="241578"/>
            </a:xfrm>
            <a:prstGeom prst="rect">
              <a:avLst/>
            </a:prstGeom>
            <a:noFill/>
            <a:ln/>
          </p:spPr>
          <p:txBody>
            <a:bodyPr wrap="none" lIns="0" tIns="0" rIns="0" bIns="0" rtlCol="0" anchor="t"/>
            <a:lstStyle/>
            <a:p>
              <a:pPr marL="0" indent="0" algn="l">
                <a:lnSpc>
                  <a:spcPts val="1800"/>
                </a:lnSpc>
                <a:buNone/>
              </a:pPr>
              <a:r>
                <a:rPr lang="en-US" sz="1450" dirty="0">
                  <a:solidFill>
                    <a:srgbClr val="67534F"/>
                  </a:solidFill>
                  <a:latin typeface="Marcellus Light" pitchFamily="34" charset="0"/>
                  <a:ea typeface="Marcellus Light" pitchFamily="34" charset="-122"/>
                  <a:cs typeface="Marcellus Light" pitchFamily="34" charset="-120"/>
                </a:rPr>
                <a:t>04</a:t>
              </a:r>
              <a:endParaRPr lang="en-US" sz="1450" dirty="0"/>
            </a:p>
          </p:txBody>
        </p:sp>
        <p:sp>
          <p:nvSpPr>
            <p:cNvPr id="16" name="Shape 14"/>
            <p:cNvSpPr/>
            <p:nvPr/>
          </p:nvSpPr>
          <p:spPr>
            <a:xfrm>
              <a:off x="743545" y="4071580"/>
              <a:ext cx="4265057" cy="22860"/>
            </a:xfrm>
            <a:prstGeom prst="rect">
              <a:avLst/>
            </a:prstGeom>
            <a:solidFill>
              <a:srgbClr val="FF954F"/>
            </a:solidFill>
            <a:ln/>
          </p:spPr>
        </p:sp>
        <p:sp>
          <p:nvSpPr>
            <p:cNvPr id="17" name="Text 15"/>
            <p:cNvSpPr/>
            <p:nvPr/>
          </p:nvSpPr>
          <p:spPr>
            <a:xfrm>
              <a:off x="743545" y="4210169"/>
              <a:ext cx="2959656" cy="347424"/>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Risk Factor Identification</a:t>
              </a:r>
              <a:endParaRPr lang="en-US" sz="2100" dirty="0"/>
            </a:p>
          </p:txBody>
        </p:sp>
        <p:sp>
          <p:nvSpPr>
            <p:cNvPr id="18" name="Text 16"/>
            <p:cNvSpPr/>
            <p:nvPr/>
          </p:nvSpPr>
          <p:spPr>
            <a:xfrm>
              <a:off x="743545" y="4662011"/>
              <a:ext cx="4265057" cy="935831"/>
            </a:xfrm>
            <a:prstGeom prst="rect">
              <a:avLst/>
            </a:prstGeom>
            <a:noFill/>
            <a:ln/>
          </p:spPr>
          <p:txBody>
            <a:bodyPr wrap="square" lIns="0" tIns="0" rIns="0" bIns="0" rtlCol="0" anchor="t"/>
            <a:lstStyle/>
            <a:p>
              <a:pPr marL="0" indent="0" algn="l">
                <a:lnSpc>
                  <a:spcPts val="1800"/>
                </a:lnSpc>
                <a:buNone/>
              </a:pPr>
              <a:r>
                <a:rPr lang="en-US" sz="1450" dirty="0">
                  <a:solidFill>
                    <a:srgbClr val="67534F"/>
                  </a:solidFill>
                  <a:latin typeface="Montserrat" pitchFamily="34" charset="0"/>
                  <a:ea typeface="Montserrat" pitchFamily="34" charset="-122"/>
                  <a:cs typeface="Montserrat" pitchFamily="34" charset="-120"/>
                </a:rPr>
                <a:t>Create composite risk indicators by identifying individuals with combined risk factors (jaundice + family history) to assess cumulative risk effects</a:t>
              </a:r>
              <a:endParaRPr lang="en-US" sz="1450" dirty="0"/>
            </a:p>
          </p:txBody>
        </p:sp>
        <p:sp>
          <p:nvSpPr>
            <p:cNvPr id="19" name="Text 17"/>
            <p:cNvSpPr/>
            <p:nvPr/>
          </p:nvSpPr>
          <p:spPr>
            <a:xfrm>
              <a:off x="5182672" y="3769281"/>
              <a:ext cx="185857" cy="241578"/>
            </a:xfrm>
            <a:prstGeom prst="rect">
              <a:avLst/>
            </a:prstGeom>
            <a:noFill/>
            <a:ln/>
          </p:spPr>
          <p:txBody>
            <a:bodyPr wrap="none" lIns="0" tIns="0" rIns="0" bIns="0" rtlCol="0" anchor="t"/>
            <a:lstStyle/>
            <a:p>
              <a:pPr marL="0" indent="0" algn="l">
                <a:lnSpc>
                  <a:spcPts val="1800"/>
                </a:lnSpc>
                <a:buNone/>
              </a:pPr>
              <a:r>
                <a:rPr lang="en-US" sz="1450" dirty="0">
                  <a:solidFill>
                    <a:srgbClr val="67534F"/>
                  </a:solidFill>
                  <a:latin typeface="Marcellus Light" pitchFamily="34" charset="0"/>
                  <a:ea typeface="Marcellus Light" pitchFamily="34" charset="-122"/>
                  <a:cs typeface="Marcellus Light" pitchFamily="34" charset="-120"/>
                </a:rPr>
                <a:t>05</a:t>
              </a:r>
              <a:endParaRPr lang="en-US" sz="1450" dirty="0"/>
            </a:p>
          </p:txBody>
        </p:sp>
        <p:sp>
          <p:nvSpPr>
            <p:cNvPr id="20" name="Shape 18"/>
            <p:cNvSpPr/>
            <p:nvPr/>
          </p:nvSpPr>
          <p:spPr>
            <a:xfrm>
              <a:off x="5182672" y="4071580"/>
              <a:ext cx="4265057" cy="22860"/>
            </a:xfrm>
            <a:prstGeom prst="rect">
              <a:avLst/>
            </a:prstGeom>
            <a:solidFill>
              <a:srgbClr val="FF954F"/>
            </a:solidFill>
            <a:ln/>
          </p:spPr>
        </p:sp>
        <p:sp>
          <p:nvSpPr>
            <p:cNvPr id="21" name="Text 19"/>
            <p:cNvSpPr/>
            <p:nvPr/>
          </p:nvSpPr>
          <p:spPr>
            <a:xfrm>
              <a:off x="5182672" y="4210169"/>
              <a:ext cx="2672358" cy="347424"/>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Feature Engineering</a:t>
              </a:r>
              <a:endParaRPr lang="en-US" sz="2100" dirty="0"/>
            </a:p>
          </p:txBody>
        </p:sp>
        <p:sp>
          <p:nvSpPr>
            <p:cNvPr id="22" name="Text 20"/>
            <p:cNvSpPr/>
            <p:nvPr/>
          </p:nvSpPr>
          <p:spPr>
            <a:xfrm>
              <a:off x="5182672" y="4662011"/>
              <a:ext cx="4265057" cy="701873"/>
            </a:xfrm>
            <a:prstGeom prst="rect">
              <a:avLst/>
            </a:prstGeom>
            <a:noFill/>
            <a:ln/>
          </p:spPr>
          <p:txBody>
            <a:bodyPr wrap="square" lIns="0" tIns="0" rIns="0" bIns="0" rtlCol="0" anchor="t"/>
            <a:lstStyle/>
            <a:p>
              <a:pPr marL="0" indent="0" algn="l">
                <a:lnSpc>
                  <a:spcPts val="1800"/>
                </a:lnSpc>
                <a:buNone/>
              </a:pPr>
              <a:r>
                <a:rPr lang="en-US" sz="1450" dirty="0">
                  <a:solidFill>
                    <a:srgbClr val="67534F"/>
                  </a:solidFill>
                  <a:latin typeface="Montserrat" pitchFamily="34" charset="0"/>
                  <a:ea typeface="Montserrat" pitchFamily="34" charset="-122"/>
                  <a:cs typeface="Montserrat" pitchFamily="34" charset="-120"/>
                </a:rPr>
                <a:t>Develop three meaningful composite scores: Social Interaction, Communication Deficit, and Behavioral Atypicality scores</a:t>
              </a:r>
              <a:endParaRPr lang="en-US" sz="1450" dirty="0"/>
            </a:p>
          </p:txBody>
        </p:sp>
        <p:sp>
          <p:nvSpPr>
            <p:cNvPr id="23" name="Text 21"/>
            <p:cNvSpPr/>
            <p:nvPr/>
          </p:nvSpPr>
          <p:spPr>
            <a:xfrm>
              <a:off x="9621798" y="3769281"/>
              <a:ext cx="185857" cy="241578"/>
            </a:xfrm>
            <a:prstGeom prst="rect">
              <a:avLst/>
            </a:prstGeom>
            <a:noFill/>
            <a:ln/>
          </p:spPr>
          <p:txBody>
            <a:bodyPr wrap="none" lIns="0" tIns="0" rIns="0" bIns="0" rtlCol="0" anchor="t"/>
            <a:lstStyle/>
            <a:p>
              <a:pPr marL="0" indent="0" algn="l">
                <a:lnSpc>
                  <a:spcPts val="1800"/>
                </a:lnSpc>
                <a:buNone/>
              </a:pPr>
              <a:r>
                <a:rPr lang="en-US" sz="1450" dirty="0">
                  <a:solidFill>
                    <a:srgbClr val="67534F"/>
                  </a:solidFill>
                  <a:latin typeface="Marcellus Light" pitchFamily="34" charset="0"/>
                  <a:ea typeface="Marcellus Light" pitchFamily="34" charset="-122"/>
                  <a:cs typeface="Marcellus Light" pitchFamily="34" charset="-120"/>
                </a:rPr>
                <a:t>06</a:t>
              </a:r>
              <a:endParaRPr lang="en-US" sz="1450" dirty="0"/>
            </a:p>
          </p:txBody>
        </p:sp>
        <p:sp>
          <p:nvSpPr>
            <p:cNvPr id="24" name="Shape 22"/>
            <p:cNvSpPr/>
            <p:nvPr/>
          </p:nvSpPr>
          <p:spPr>
            <a:xfrm>
              <a:off x="9621798" y="4071580"/>
              <a:ext cx="4265057" cy="22860"/>
            </a:xfrm>
            <a:prstGeom prst="rect">
              <a:avLst/>
            </a:prstGeom>
            <a:solidFill>
              <a:srgbClr val="FF954F"/>
            </a:solidFill>
            <a:ln/>
          </p:spPr>
        </p:sp>
        <p:sp>
          <p:nvSpPr>
            <p:cNvPr id="25" name="Text 23"/>
            <p:cNvSpPr/>
            <p:nvPr/>
          </p:nvSpPr>
          <p:spPr>
            <a:xfrm>
              <a:off x="9621798" y="4210169"/>
              <a:ext cx="2672358" cy="347424"/>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Statistical Analysis</a:t>
              </a:r>
              <a:endParaRPr lang="en-US" sz="2100" dirty="0"/>
            </a:p>
          </p:txBody>
        </p:sp>
        <p:sp>
          <p:nvSpPr>
            <p:cNvPr id="26" name="Text 24"/>
            <p:cNvSpPr/>
            <p:nvPr/>
          </p:nvSpPr>
          <p:spPr>
            <a:xfrm>
              <a:off x="9621798" y="4662011"/>
              <a:ext cx="4265057" cy="1169789"/>
            </a:xfrm>
            <a:prstGeom prst="rect">
              <a:avLst/>
            </a:prstGeom>
            <a:noFill/>
            <a:ln/>
          </p:spPr>
          <p:txBody>
            <a:bodyPr wrap="square" lIns="0" tIns="0" rIns="0" bIns="0" rtlCol="0" anchor="t"/>
            <a:lstStyle/>
            <a:p>
              <a:pPr marL="0" indent="0" algn="l">
                <a:lnSpc>
                  <a:spcPts val="1800"/>
                </a:lnSpc>
                <a:buNone/>
              </a:pPr>
              <a:r>
                <a:rPr lang="en-US" sz="1450" dirty="0">
                  <a:solidFill>
                    <a:srgbClr val="67534F"/>
                  </a:solidFill>
                  <a:latin typeface="Montserrat" pitchFamily="34" charset="0"/>
                  <a:ea typeface="Montserrat" pitchFamily="34" charset="-122"/>
                  <a:cs typeface="Montserrat" pitchFamily="34" charset="-120"/>
                </a:rPr>
                <a:t>Conduct correlation analysis, chi-square tests, and demographic cross-tabulations to identify significant associations between behavioral traits, demographic factors, and ASD diagnosis</a:t>
              </a:r>
              <a:endParaRPr lang="en-US" sz="1450" dirty="0"/>
            </a:p>
          </p:txBody>
        </p:sp>
        <p:sp>
          <p:nvSpPr>
            <p:cNvPr id="27" name="Text 25"/>
            <p:cNvSpPr/>
            <p:nvPr/>
          </p:nvSpPr>
          <p:spPr>
            <a:xfrm>
              <a:off x="743545" y="6145292"/>
              <a:ext cx="185857" cy="241578"/>
            </a:xfrm>
            <a:prstGeom prst="rect">
              <a:avLst/>
            </a:prstGeom>
            <a:noFill/>
            <a:ln/>
          </p:spPr>
          <p:txBody>
            <a:bodyPr wrap="none" lIns="0" tIns="0" rIns="0" bIns="0" rtlCol="0" anchor="t"/>
            <a:lstStyle/>
            <a:p>
              <a:pPr marL="0" indent="0" algn="l">
                <a:lnSpc>
                  <a:spcPts val="1800"/>
                </a:lnSpc>
                <a:buNone/>
              </a:pPr>
              <a:r>
                <a:rPr lang="en-US" sz="1450" dirty="0">
                  <a:solidFill>
                    <a:srgbClr val="67534F"/>
                  </a:solidFill>
                  <a:latin typeface="Marcellus Light" pitchFamily="34" charset="0"/>
                  <a:ea typeface="Marcellus Light" pitchFamily="34" charset="-122"/>
                  <a:cs typeface="Marcellus Light" pitchFamily="34" charset="-120"/>
                </a:rPr>
                <a:t>07</a:t>
              </a:r>
              <a:endParaRPr lang="en-US" sz="1450" dirty="0"/>
            </a:p>
          </p:txBody>
        </p:sp>
        <p:sp>
          <p:nvSpPr>
            <p:cNvPr id="28" name="Shape 26"/>
            <p:cNvSpPr/>
            <p:nvPr/>
          </p:nvSpPr>
          <p:spPr>
            <a:xfrm>
              <a:off x="743545" y="6447592"/>
              <a:ext cx="13143309" cy="22860"/>
            </a:xfrm>
            <a:prstGeom prst="rect">
              <a:avLst/>
            </a:prstGeom>
            <a:solidFill>
              <a:srgbClr val="FF954F"/>
            </a:solidFill>
            <a:ln/>
          </p:spPr>
        </p:sp>
        <p:sp>
          <p:nvSpPr>
            <p:cNvPr id="29" name="Text 27"/>
            <p:cNvSpPr/>
            <p:nvPr/>
          </p:nvSpPr>
          <p:spPr>
            <a:xfrm>
              <a:off x="743545" y="6586180"/>
              <a:ext cx="3613666" cy="347424"/>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Exploratory Data Visualization</a:t>
              </a:r>
              <a:endParaRPr lang="en-US" sz="2100" dirty="0"/>
            </a:p>
          </p:txBody>
        </p:sp>
        <p:sp>
          <p:nvSpPr>
            <p:cNvPr id="30" name="Text 28"/>
            <p:cNvSpPr/>
            <p:nvPr/>
          </p:nvSpPr>
          <p:spPr>
            <a:xfrm>
              <a:off x="743545" y="7038022"/>
              <a:ext cx="13143309" cy="467916"/>
            </a:xfrm>
            <a:prstGeom prst="rect">
              <a:avLst/>
            </a:prstGeom>
            <a:noFill/>
            <a:ln/>
          </p:spPr>
          <p:txBody>
            <a:bodyPr wrap="square" lIns="0" tIns="0" rIns="0" bIns="0" rtlCol="0" anchor="t"/>
            <a:lstStyle/>
            <a:p>
              <a:pPr marL="0" indent="0" algn="l">
                <a:lnSpc>
                  <a:spcPts val="1800"/>
                </a:lnSpc>
                <a:buNone/>
              </a:pPr>
              <a:r>
                <a:rPr lang="en-US" sz="1450" dirty="0">
                  <a:solidFill>
                    <a:srgbClr val="67534F"/>
                  </a:solidFill>
                  <a:latin typeface="Montserrat" pitchFamily="34" charset="0"/>
                  <a:ea typeface="Montserrat" pitchFamily="34" charset="-122"/>
                  <a:cs typeface="Montserrat" pitchFamily="34" charset="-120"/>
                </a:rPr>
                <a:t>Create interactive visualizations mapping behavioral patterns across demographics using demographic segmentation and distribution analysis</a:t>
              </a:r>
              <a:endParaRPr lang="en-US" sz="1450" dirty="0"/>
            </a:p>
          </p:txBody>
        </p:sp>
        <p:sp>
          <p:nvSpPr>
            <p:cNvPr id="31" name="TextBox 30">
              <a:extLst>
                <a:ext uri="{FF2B5EF4-FFF2-40B4-BE49-F238E27FC236}">
                  <a16:creationId xmlns:a16="http://schemas.microsoft.com/office/drawing/2014/main" id="{1FE18C83-DED7-40A0-A428-C0918D731B80}"/>
                </a:ext>
              </a:extLst>
            </p:cNvPr>
            <p:cNvSpPr txBox="1"/>
            <p:nvPr/>
          </p:nvSpPr>
          <p:spPr>
            <a:xfrm>
              <a:off x="12801600" y="7670202"/>
              <a:ext cx="1721224" cy="559398"/>
            </a:xfrm>
            <a:prstGeom prst="rect">
              <a:avLst/>
            </a:prstGeom>
            <a:solidFill>
              <a:srgbClr val="FDFCF0"/>
            </a:solidFill>
          </p:spPr>
          <p:txBody>
            <a:bodyPr wrap="square" rtlCol="0">
              <a:spAutoFit/>
            </a:bodyPr>
            <a:lstStyle/>
            <a:p>
              <a:endParaRPr lang="en-IN"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87839B9-319A-4BBB-AE52-5B57B1D1EC9A}"/>
              </a:ext>
            </a:extLst>
          </p:cNvPr>
          <p:cNvGrpSpPr/>
          <p:nvPr/>
        </p:nvGrpSpPr>
        <p:grpSpPr>
          <a:xfrm>
            <a:off x="2671405" y="821412"/>
            <a:ext cx="11851419" cy="7408188"/>
            <a:chOff x="2671405" y="821412"/>
            <a:chExt cx="11851419" cy="7408188"/>
          </a:xfrm>
        </p:grpSpPr>
        <p:sp>
          <p:nvSpPr>
            <p:cNvPr id="2" name="Text 0"/>
            <p:cNvSpPr/>
            <p:nvPr/>
          </p:nvSpPr>
          <p:spPr>
            <a:xfrm>
              <a:off x="2671405" y="821412"/>
              <a:ext cx="5471517" cy="440174"/>
            </a:xfrm>
            <a:prstGeom prst="rect">
              <a:avLst/>
            </a:prstGeom>
            <a:noFill/>
            <a:ln/>
          </p:spPr>
          <p:txBody>
            <a:bodyPr wrap="none" lIns="0" tIns="0" rIns="0" bIns="0" rtlCol="0" anchor="t"/>
            <a:lstStyle/>
            <a:p>
              <a:pPr marL="0" indent="0" algn="l">
                <a:lnSpc>
                  <a:spcPts val="3450"/>
                </a:lnSpc>
                <a:buNone/>
              </a:pPr>
              <a:r>
                <a:rPr lang="en-US" sz="2650" dirty="0">
                  <a:solidFill>
                    <a:srgbClr val="532418"/>
                  </a:solidFill>
                  <a:latin typeface="Marcellus" pitchFamily="34" charset="0"/>
                  <a:ea typeface="Marcellus" pitchFamily="34" charset="-122"/>
                  <a:cs typeface="Marcellus" pitchFamily="34" charset="-120"/>
                </a:rPr>
                <a:t>Key Findings: Demographic Patterns</a:t>
              </a:r>
              <a:endParaRPr lang="en-US" sz="2650" dirty="0"/>
            </a:p>
          </p:txBody>
        </p:sp>
        <p:sp>
          <p:nvSpPr>
            <p:cNvPr id="3" name="Text 1"/>
            <p:cNvSpPr/>
            <p:nvPr/>
          </p:nvSpPr>
          <p:spPr>
            <a:xfrm>
              <a:off x="2671405" y="1436132"/>
              <a:ext cx="1692950" cy="220028"/>
            </a:xfrm>
            <a:prstGeom prst="rect">
              <a:avLst/>
            </a:prstGeom>
            <a:noFill/>
            <a:ln/>
          </p:spPr>
          <p:txBody>
            <a:bodyPr wrap="none" lIns="0" tIns="0" rIns="0" bIns="0" rtlCol="0" anchor="t"/>
            <a:lstStyle/>
            <a:p>
              <a:pPr marL="0" indent="0" algn="l">
                <a:lnSpc>
                  <a:spcPts val="1700"/>
                </a:lnSpc>
                <a:buNone/>
              </a:pPr>
              <a:r>
                <a:rPr lang="en-US" sz="1300" dirty="0">
                  <a:solidFill>
                    <a:srgbClr val="532418"/>
                  </a:solidFill>
                  <a:latin typeface="Marcellus" pitchFamily="34" charset="0"/>
                  <a:ea typeface="Marcellus" pitchFamily="34" charset="-122"/>
                  <a:cs typeface="Marcellus" pitchFamily="34" charset="-120"/>
                </a:rPr>
                <a:t>Gender Distribution</a:t>
              </a:r>
              <a:endParaRPr lang="en-US" sz="1300" dirty="0"/>
            </a:p>
          </p:txBody>
        </p:sp>
        <p:sp>
          <p:nvSpPr>
            <p:cNvPr id="4" name="Text 2"/>
            <p:cNvSpPr/>
            <p:nvPr/>
          </p:nvSpPr>
          <p:spPr>
            <a:xfrm>
              <a:off x="2671405" y="1725930"/>
              <a:ext cx="4500086" cy="268248"/>
            </a:xfrm>
            <a:prstGeom prst="rect">
              <a:avLst/>
            </a:prstGeom>
            <a:noFill/>
            <a:ln/>
          </p:spPr>
          <p:txBody>
            <a:bodyPr wrap="square" lIns="0" tIns="0" rIns="0" bIns="0" rtlCol="0" anchor="t"/>
            <a:lstStyle/>
            <a:p>
              <a:pPr marL="342900" indent="-342900" algn="l">
                <a:lnSpc>
                  <a:spcPts val="950"/>
                </a:lnSpc>
                <a:buSzPct val="100000"/>
                <a:buChar char="•"/>
              </a:pPr>
              <a:r>
                <a:rPr lang="en-US" sz="900" dirty="0">
                  <a:solidFill>
                    <a:srgbClr val="67534F"/>
                  </a:solidFill>
                  <a:latin typeface="Montserrat" pitchFamily="34" charset="0"/>
                  <a:ea typeface="Montserrat" pitchFamily="34" charset="-122"/>
                  <a:cs typeface="Montserrat" pitchFamily="34" charset="-120"/>
                </a:rPr>
                <a:t>Male: 3,508 individuals (57.8%)</a:t>
              </a:r>
              <a:endParaRPr lang="en-US" sz="900" dirty="0"/>
            </a:p>
            <a:p>
              <a:pPr marL="342900" indent="-342900" algn="l">
                <a:lnSpc>
                  <a:spcPts val="950"/>
                </a:lnSpc>
                <a:buSzPct val="100000"/>
                <a:buChar char="•"/>
              </a:pPr>
              <a:r>
                <a:rPr lang="en-US" sz="900" dirty="0">
                  <a:solidFill>
                    <a:srgbClr val="67534F"/>
                  </a:solidFill>
                  <a:latin typeface="Montserrat" pitchFamily="34" charset="0"/>
                  <a:ea typeface="Montserrat" pitchFamily="34" charset="-122"/>
                  <a:cs typeface="Montserrat" pitchFamily="34" charset="-120"/>
                </a:rPr>
                <a:t>Female: 2,567 individuals (42.2%)</a:t>
              </a:r>
              <a:endParaRPr lang="en-US" sz="900" dirty="0"/>
            </a:p>
          </p:txBody>
        </p:sp>
        <p:sp>
          <p:nvSpPr>
            <p:cNvPr id="5" name="Text 3"/>
            <p:cNvSpPr/>
            <p:nvPr/>
          </p:nvSpPr>
          <p:spPr>
            <a:xfrm>
              <a:off x="2671405" y="2057043"/>
              <a:ext cx="4500086" cy="243840"/>
            </a:xfrm>
            <a:prstGeom prst="rect">
              <a:avLst/>
            </a:prstGeom>
            <a:noFill/>
            <a:ln/>
          </p:spPr>
          <p:txBody>
            <a:bodyPr wrap="square" lIns="0" tIns="0" rIns="0" bIns="0" rtlCol="0" anchor="t"/>
            <a:lstStyle/>
            <a:p>
              <a:pPr marL="0" indent="0" algn="l">
                <a:lnSpc>
                  <a:spcPts val="950"/>
                </a:lnSpc>
                <a:buNone/>
              </a:pPr>
              <a:r>
                <a:rPr lang="en-US" sz="900" dirty="0">
                  <a:solidFill>
                    <a:srgbClr val="67534F"/>
                  </a:solidFill>
                  <a:latin typeface="Montserrat" pitchFamily="34" charset="0"/>
                  <a:ea typeface="Montserrat" pitchFamily="34" charset="-122"/>
                  <a:cs typeface="Montserrat" pitchFamily="34" charset="-120"/>
                </a:rPr>
                <a:t>The dataset shows a male predominance consistent with general ASD prevalence patterns in clinical populations.</a:t>
              </a:r>
              <a:endParaRPr lang="en-US" sz="900" dirty="0"/>
            </a:p>
          </p:txBody>
        </p:sp>
        <p:sp>
          <p:nvSpPr>
            <p:cNvPr id="6" name="Text 4"/>
            <p:cNvSpPr/>
            <p:nvPr/>
          </p:nvSpPr>
          <p:spPr>
            <a:xfrm>
              <a:off x="7466290" y="1436132"/>
              <a:ext cx="1692950" cy="220028"/>
            </a:xfrm>
            <a:prstGeom prst="rect">
              <a:avLst/>
            </a:prstGeom>
            <a:noFill/>
            <a:ln/>
          </p:spPr>
          <p:txBody>
            <a:bodyPr wrap="none" lIns="0" tIns="0" rIns="0" bIns="0" rtlCol="0" anchor="t"/>
            <a:lstStyle/>
            <a:p>
              <a:pPr marL="0" indent="0" algn="l">
                <a:lnSpc>
                  <a:spcPts val="1700"/>
                </a:lnSpc>
                <a:buNone/>
              </a:pPr>
              <a:r>
                <a:rPr lang="en-US" sz="1300" dirty="0">
                  <a:solidFill>
                    <a:srgbClr val="532418"/>
                  </a:solidFill>
                  <a:latin typeface="Marcellus" pitchFamily="34" charset="0"/>
                  <a:ea typeface="Marcellus" pitchFamily="34" charset="-122"/>
                  <a:cs typeface="Marcellus" pitchFamily="34" charset="-120"/>
                </a:rPr>
                <a:t>Age Distribution</a:t>
              </a:r>
              <a:endParaRPr lang="en-US" sz="1300" dirty="0"/>
            </a:p>
          </p:txBody>
        </p:sp>
        <p:sp>
          <p:nvSpPr>
            <p:cNvPr id="7" name="Text 5"/>
            <p:cNvSpPr/>
            <p:nvPr/>
          </p:nvSpPr>
          <p:spPr>
            <a:xfrm>
              <a:off x="7466290" y="1725930"/>
              <a:ext cx="4500086" cy="414576"/>
            </a:xfrm>
            <a:prstGeom prst="rect">
              <a:avLst/>
            </a:prstGeom>
            <a:noFill/>
            <a:ln/>
          </p:spPr>
          <p:txBody>
            <a:bodyPr wrap="square" lIns="0" tIns="0" rIns="0" bIns="0" rtlCol="0" anchor="t"/>
            <a:lstStyle/>
            <a:p>
              <a:pPr marL="342900" indent="-342900" algn="l">
                <a:lnSpc>
                  <a:spcPts val="950"/>
                </a:lnSpc>
                <a:buSzPct val="100000"/>
                <a:buChar char="•"/>
              </a:pPr>
              <a:r>
                <a:rPr lang="en-US" sz="900" dirty="0">
                  <a:solidFill>
                    <a:srgbClr val="67534F"/>
                  </a:solidFill>
                  <a:latin typeface="Montserrat" pitchFamily="34" charset="0"/>
                  <a:ea typeface="Montserrat" pitchFamily="34" charset="-122"/>
                  <a:cs typeface="Montserrat" pitchFamily="34" charset="-120"/>
                </a:rPr>
                <a:t>Adult: 3,094 (50.9%)</a:t>
              </a:r>
              <a:endParaRPr lang="en-US" sz="900" dirty="0"/>
            </a:p>
            <a:p>
              <a:pPr marL="342900" indent="-342900" algn="l">
                <a:lnSpc>
                  <a:spcPts val="950"/>
                </a:lnSpc>
                <a:buSzPct val="100000"/>
                <a:buChar char="•"/>
              </a:pPr>
              <a:r>
                <a:rPr lang="en-US" sz="900" dirty="0">
                  <a:solidFill>
                    <a:srgbClr val="67534F"/>
                  </a:solidFill>
                  <a:latin typeface="Montserrat" pitchFamily="34" charset="0"/>
                  <a:ea typeface="Montserrat" pitchFamily="34" charset="-122"/>
                  <a:cs typeface="Montserrat" pitchFamily="34" charset="-120"/>
                </a:rPr>
                <a:t>Child: 2,303 (37.9%)</a:t>
              </a:r>
              <a:endParaRPr lang="en-US" sz="900" dirty="0"/>
            </a:p>
            <a:p>
              <a:pPr marL="342900" indent="-342900" algn="l">
                <a:lnSpc>
                  <a:spcPts val="950"/>
                </a:lnSpc>
                <a:buSzPct val="100000"/>
                <a:buChar char="•"/>
              </a:pPr>
              <a:r>
                <a:rPr lang="en-US" sz="900" dirty="0">
                  <a:solidFill>
                    <a:srgbClr val="67534F"/>
                  </a:solidFill>
                  <a:latin typeface="Montserrat" pitchFamily="34" charset="0"/>
                  <a:ea typeface="Montserrat" pitchFamily="34" charset="-122"/>
                  <a:cs typeface="Montserrat" pitchFamily="34" charset="-120"/>
                </a:rPr>
                <a:t>Adolescent: 678 (11.2%)</a:t>
              </a:r>
              <a:endParaRPr lang="en-US" sz="900" dirty="0"/>
            </a:p>
          </p:txBody>
        </p:sp>
        <p:sp>
          <p:nvSpPr>
            <p:cNvPr id="8" name="Text 6"/>
            <p:cNvSpPr/>
            <p:nvPr/>
          </p:nvSpPr>
          <p:spPr>
            <a:xfrm>
              <a:off x="7466290" y="2203371"/>
              <a:ext cx="4500086" cy="243840"/>
            </a:xfrm>
            <a:prstGeom prst="rect">
              <a:avLst/>
            </a:prstGeom>
            <a:noFill/>
            <a:ln/>
          </p:spPr>
          <p:txBody>
            <a:bodyPr wrap="square" lIns="0" tIns="0" rIns="0" bIns="0" rtlCol="0" anchor="t"/>
            <a:lstStyle/>
            <a:p>
              <a:pPr marL="0" indent="0" algn="l">
                <a:lnSpc>
                  <a:spcPts val="950"/>
                </a:lnSpc>
                <a:buNone/>
              </a:pPr>
              <a:r>
                <a:rPr lang="en-US" sz="900" dirty="0">
                  <a:solidFill>
                    <a:srgbClr val="67534F"/>
                  </a:solidFill>
                  <a:latin typeface="Montserrat" pitchFamily="34" charset="0"/>
                  <a:ea typeface="Montserrat" pitchFamily="34" charset="-122"/>
                  <a:cs typeface="Montserrat" pitchFamily="34" charset="-120"/>
                </a:rPr>
                <a:t>Adults represent the largest demographic segment, followed by children and adolescents.</a:t>
              </a:r>
              <a:endParaRPr lang="en-US" sz="900" dirty="0"/>
            </a:p>
          </p:txBody>
        </p:sp>
        <p:sp>
          <p:nvSpPr>
            <p:cNvPr id="9" name="Text 7"/>
            <p:cNvSpPr/>
            <p:nvPr/>
          </p:nvSpPr>
          <p:spPr>
            <a:xfrm>
              <a:off x="3465909" y="3354110"/>
              <a:ext cx="1448514" cy="294323"/>
            </a:xfrm>
            <a:prstGeom prst="rect">
              <a:avLst/>
            </a:prstGeom>
            <a:noFill/>
            <a:ln/>
          </p:spPr>
          <p:txBody>
            <a:bodyPr wrap="none" lIns="0" tIns="0" rIns="0" bIns="0" rtlCol="0" anchor="t"/>
            <a:lstStyle/>
            <a:p>
              <a:pPr marL="0" indent="0" algn="ctr">
                <a:lnSpc>
                  <a:spcPts val="2300"/>
                </a:lnSpc>
                <a:buNone/>
              </a:pPr>
              <a:r>
                <a:rPr lang="en-US" sz="2300" dirty="0">
                  <a:solidFill>
                    <a:srgbClr val="67534F"/>
                  </a:solidFill>
                  <a:latin typeface="Marcellus" pitchFamily="34" charset="0"/>
                  <a:ea typeface="Marcellus" pitchFamily="34" charset="-122"/>
                  <a:cs typeface="Marcellus" pitchFamily="34" charset="-120"/>
                </a:rPr>
                <a:t>29.7%</a:t>
              </a:r>
              <a:endParaRPr lang="en-US" sz="2300" dirty="0"/>
            </a:p>
          </p:txBody>
        </p:sp>
        <p:pic>
          <p:nvPicPr>
            <p:cNvPr id="10" name="Image 0" descr="preencoded.png"/>
            <p:cNvPicPr>
              <a:picLocks noChangeAspect="1"/>
            </p:cNvPicPr>
            <p:nvPr/>
          </p:nvPicPr>
          <p:blipFill>
            <a:blip r:embed="rId3"/>
            <a:stretch>
              <a:fillRect/>
            </a:stretch>
          </p:blipFill>
          <p:spPr>
            <a:xfrm>
              <a:off x="3306961" y="2618065"/>
              <a:ext cx="1766530" cy="1766530"/>
            </a:xfrm>
            <a:prstGeom prst="rect">
              <a:avLst/>
            </a:prstGeom>
          </p:spPr>
        </p:pic>
        <p:sp>
          <p:nvSpPr>
            <p:cNvPr id="11" name="Text 8"/>
            <p:cNvSpPr/>
            <p:nvPr/>
          </p:nvSpPr>
          <p:spPr>
            <a:xfrm>
              <a:off x="3343751" y="4483775"/>
              <a:ext cx="1692950" cy="220028"/>
            </a:xfrm>
            <a:prstGeom prst="rect">
              <a:avLst/>
            </a:prstGeom>
            <a:noFill/>
            <a:ln/>
          </p:spPr>
          <p:txBody>
            <a:bodyPr wrap="none" lIns="0" tIns="0" rIns="0" bIns="0" rtlCol="0" anchor="t"/>
            <a:lstStyle/>
            <a:p>
              <a:pPr marL="0" indent="0" algn="ctr">
                <a:lnSpc>
                  <a:spcPts val="1700"/>
                </a:lnSpc>
                <a:buNone/>
              </a:pPr>
              <a:r>
                <a:rPr lang="en-US" sz="1300" dirty="0">
                  <a:solidFill>
                    <a:srgbClr val="67534F"/>
                  </a:solidFill>
                  <a:latin typeface="Marcellus" pitchFamily="34" charset="0"/>
                  <a:ea typeface="Marcellus" pitchFamily="34" charset="-122"/>
                  <a:cs typeface="Marcellus" pitchFamily="34" charset="-120"/>
                </a:rPr>
                <a:t>ASD Positive</a:t>
              </a:r>
              <a:endParaRPr lang="en-US" sz="1300" dirty="0"/>
            </a:p>
          </p:txBody>
        </p:sp>
        <p:sp>
          <p:nvSpPr>
            <p:cNvPr id="12" name="Text 9"/>
            <p:cNvSpPr/>
            <p:nvPr/>
          </p:nvSpPr>
          <p:spPr>
            <a:xfrm>
              <a:off x="2671405" y="4745712"/>
              <a:ext cx="3037642" cy="121920"/>
            </a:xfrm>
            <a:prstGeom prst="rect">
              <a:avLst/>
            </a:prstGeom>
            <a:noFill/>
            <a:ln/>
          </p:spPr>
          <p:txBody>
            <a:bodyPr wrap="none" lIns="0" tIns="0" rIns="0" bIns="0" rtlCol="0" anchor="t"/>
            <a:lstStyle/>
            <a:p>
              <a:pPr marL="0" indent="0" algn="ctr">
                <a:lnSpc>
                  <a:spcPts val="950"/>
                </a:lnSpc>
                <a:buNone/>
              </a:pPr>
              <a:r>
                <a:rPr lang="en-US" sz="900" dirty="0">
                  <a:solidFill>
                    <a:srgbClr val="67534F"/>
                  </a:solidFill>
                  <a:latin typeface="Montserrat" pitchFamily="34" charset="0"/>
                  <a:ea typeface="Montserrat" pitchFamily="34" charset="-122"/>
                  <a:cs typeface="Montserrat" pitchFamily="34" charset="-120"/>
                </a:rPr>
                <a:t>1,804 individuals diagnosed with ASD</a:t>
              </a:r>
              <a:endParaRPr lang="en-US" sz="900" dirty="0"/>
            </a:p>
          </p:txBody>
        </p:sp>
        <p:sp>
          <p:nvSpPr>
            <p:cNvPr id="13" name="Text 10"/>
            <p:cNvSpPr/>
            <p:nvPr/>
          </p:nvSpPr>
          <p:spPr>
            <a:xfrm>
              <a:off x="6590824" y="3354110"/>
              <a:ext cx="1448514" cy="294323"/>
            </a:xfrm>
            <a:prstGeom prst="rect">
              <a:avLst/>
            </a:prstGeom>
            <a:noFill/>
            <a:ln/>
          </p:spPr>
          <p:txBody>
            <a:bodyPr wrap="none" lIns="0" tIns="0" rIns="0" bIns="0" rtlCol="0" anchor="t"/>
            <a:lstStyle/>
            <a:p>
              <a:pPr marL="0" indent="0" algn="ctr">
                <a:lnSpc>
                  <a:spcPts val="2300"/>
                </a:lnSpc>
                <a:buNone/>
              </a:pPr>
              <a:r>
                <a:rPr lang="en-US" sz="2300" dirty="0">
                  <a:solidFill>
                    <a:srgbClr val="67534F"/>
                  </a:solidFill>
                  <a:latin typeface="Marcellus" pitchFamily="34" charset="0"/>
                  <a:ea typeface="Marcellus" pitchFamily="34" charset="-122"/>
                  <a:cs typeface="Marcellus" pitchFamily="34" charset="-120"/>
                </a:rPr>
                <a:t>70.3%</a:t>
              </a:r>
              <a:endParaRPr lang="en-US" sz="2300" dirty="0"/>
            </a:p>
          </p:txBody>
        </p:sp>
        <p:pic>
          <p:nvPicPr>
            <p:cNvPr id="14" name="Image 1" descr="preencoded.png"/>
            <p:cNvPicPr>
              <a:picLocks noChangeAspect="1"/>
            </p:cNvPicPr>
            <p:nvPr/>
          </p:nvPicPr>
          <p:blipFill>
            <a:blip r:embed="rId4"/>
            <a:stretch>
              <a:fillRect/>
            </a:stretch>
          </p:blipFill>
          <p:spPr>
            <a:xfrm>
              <a:off x="6431875" y="2618065"/>
              <a:ext cx="1766530" cy="1766530"/>
            </a:xfrm>
            <a:prstGeom prst="rect">
              <a:avLst/>
            </a:prstGeom>
          </p:spPr>
        </p:pic>
        <p:sp>
          <p:nvSpPr>
            <p:cNvPr id="15" name="Text 11"/>
            <p:cNvSpPr/>
            <p:nvPr/>
          </p:nvSpPr>
          <p:spPr>
            <a:xfrm>
              <a:off x="6468666" y="4483775"/>
              <a:ext cx="1692950" cy="220028"/>
            </a:xfrm>
            <a:prstGeom prst="rect">
              <a:avLst/>
            </a:prstGeom>
            <a:noFill/>
            <a:ln/>
          </p:spPr>
          <p:txBody>
            <a:bodyPr wrap="none" lIns="0" tIns="0" rIns="0" bIns="0" rtlCol="0" anchor="t"/>
            <a:lstStyle/>
            <a:p>
              <a:pPr marL="0" indent="0" algn="ctr">
                <a:lnSpc>
                  <a:spcPts val="1700"/>
                </a:lnSpc>
                <a:buNone/>
              </a:pPr>
              <a:r>
                <a:rPr lang="en-US" sz="1300" dirty="0">
                  <a:solidFill>
                    <a:srgbClr val="67534F"/>
                  </a:solidFill>
                  <a:latin typeface="Marcellus" pitchFamily="34" charset="0"/>
                  <a:ea typeface="Marcellus" pitchFamily="34" charset="-122"/>
                  <a:cs typeface="Marcellus" pitchFamily="34" charset="-120"/>
                </a:rPr>
                <a:t>ASD Negative</a:t>
              </a:r>
              <a:endParaRPr lang="en-US" sz="1300" dirty="0"/>
            </a:p>
          </p:txBody>
        </p:sp>
        <p:sp>
          <p:nvSpPr>
            <p:cNvPr id="16" name="Text 12"/>
            <p:cNvSpPr/>
            <p:nvPr/>
          </p:nvSpPr>
          <p:spPr>
            <a:xfrm>
              <a:off x="5796320" y="4745712"/>
              <a:ext cx="3037642" cy="121920"/>
            </a:xfrm>
            <a:prstGeom prst="rect">
              <a:avLst/>
            </a:prstGeom>
            <a:noFill/>
            <a:ln/>
          </p:spPr>
          <p:txBody>
            <a:bodyPr wrap="none" lIns="0" tIns="0" rIns="0" bIns="0" rtlCol="0" anchor="t"/>
            <a:lstStyle/>
            <a:p>
              <a:pPr marL="0" indent="0" algn="ctr">
                <a:lnSpc>
                  <a:spcPts val="950"/>
                </a:lnSpc>
                <a:buNone/>
              </a:pPr>
              <a:r>
                <a:rPr lang="en-US" sz="900" dirty="0">
                  <a:solidFill>
                    <a:srgbClr val="67534F"/>
                  </a:solidFill>
                  <a:latin typeface="Montserrat" pitchFamily="34" charset="0"/>
                  <a:ea typeface="Montserrat" pitchFamily="34" charset="-122"/>
                  <a:cs typeface="Montserrat" pitchFamily="34" charset="-120"/>
                </a:rPr>
                <a:t>4,271 individuals without ASD diagnosis</a:t>
              </a:r>
              <a:endParaRPr lang="en-US" sz="900" dirty="0"/>
            </a:p>
          </p:txBody>
        </p:sp>
        <p:sp>
          <p:nvSpPr>
            <p:cNvPr id="17" name="Text 13"/>
            <p:cNvSpPr/>
            <p:nvPr/>
          </p:nvSpPr>
          <p:spPr>
            <a:xfrm>
              <a:off x="9715738" y="3354110"/>
              <a:ext cx="1448514" cy="294323"/>
            </a:xfrm>
            <a:prstGeom prst="rect">
              <a:avLst/>
            </a:prstGeom>
            <a:noFill/>
            <a:ln/>
          </p:spPr>
          <p:txBody>
            <a:bodyPr wrap="none" lIns="0" tIns="0" rIns="0" bIns="0" rtlCol="0" anchor="t"/>
            <a:lstStyle/>
            <a:p>
              <a:pPr marL="0" indent="0" algn="ctr">
                <a:lnSpc>
                  <a:spcPts val="2300"/>
                </a:lnSpc>
                <a:buNone/>
              </a:pPr>
              <a:r>
                <a:rPr lang="en-US" sz="2300" dirty="0">
                  <a:solidFill>
                    <a:srgbClr val="67534F"/>
                  </a:solidFill>
                  <a:latin typeface="Marcellus" pitchFamily="34" charset="0"/>
                  <a:ea typeface="Marcellus" pitchFamily="34" charset="-122"/>
                  <a:cs typeface="Marcellus" pitchFamily="34" charset="-120"/>
                </a:rPr>
                <a:t>17.2%</a:t>
              </a:r>
              <a:endParaRPr lang="en-US" sz="2300" dirty="0"/>
            </a:p>
          </p:txBody>
        </p:sp>
        <p:pic>
          <p:nvPicPr>
            <p:cNvPr id="18" name="Image 2" descr="preencoded.png"/>
            <p:cNvPicPr>
              <a:picLocks noChangeAspect="1"/>
            </p:cNvPicPr>
            <p:nvPr/>
          </p:nvPicPr>
          <p:blipFill>
            <a:blip r:embed="rId5"/>
            <a:stretch>
              <a:fillRect/>
            </a:stretch>
          </p:blipFill>
          <p:spPr>
            <a:xfrm>
              <a:off x="9556790" y="2618065"/>
              <a:ext cx="1766530" cy="1766530"/>
            </a:xfrm>
            <a:prstGeom prst="rect">
              <a:avLst/>
            </a:prstGeom>
          </p:spPr>
        </p:pic>
        <p:sp>
          <p:nvSpPr>
            <p:cNvPr id="19" name="Text 14"/>
            <p:cNvSpPr/>
            <p:nvPr/>
          </p:nvSpPr>
          <p:spPr>
            <a:xfrm>
              <a:off x="9593580" y="4483775"/>
              <a:ext cx="1692950" cy="220028"/>
            </a:xfrm>
            <a:prstGeom prst="rect">
              <a:avLst/>
            </a:prstGeom>
            <a:noFill/>
            <a:ln/>
          </p:spPr>
          <p:txBody>
            <a:bodyPr wrap="none" lIns="0" tIns="0" rIns="0" bIns="0" rtlCol="0" anchor="t"/>
            <a:lstStyle/>
            <a:p>
              <a:pPr marL="0" indent="0" algn="ctr">
                <a:lnSpc>
                  <a:spcPts val="1700"/>
                </a:lnSpc>
                <a:buNone/>
              </a:pPr>
              <a:r>
                <a:rPr lang="en-US" sz="1300" dirty="0">
                  <a:solidFill>
                    <a:srgbClr val="67534F"/>
                  </a:solidFill>
                  <a:latin typeface="Marcellus" pitchFamily="34" charset="0"/>
                  <a:ea typeface="Marcellus" pitchFamily="34" charset="-122"/>
                  <a:cs typeface="Marcellus" pitchFamily="34" charset="-120"/>
                </a:rPr>
                <a:t>Jaundice History</a:t>
              </a:r>
              <a:endParaRPr lang="en-US" sz="1300" dirty="0"/>
            </a:p>
          </p:txBody>
        </p:sp>
        <p:sp>
          <p:nvSpPr>
            <p:cNvPr id="20" name="Text 15"/>
            <p:cNvSpPr/>
            <p:nvPr/>
          </p:nvSpPr>
          <p:spPr>
            <a:xfrm>
              <a:off x="8921234" y="4745712"/>
              <a:ext cx="3037642" cy="121920"/>
            </a:xfrm>
            <a:prstGeom prst="rect">
              <a:avLst/>
            </a:prstGeom>
            <a:noFill/>
            <a:ln/>
          </p:spPr>
          <p:txBody>
            <a:bodyPr wrap="none" lIns="0" tIns="0" rIns="0" bIns="0" rtlCol="0" anchor="t"/>
            <a:lstStyle/>
            <a:p>
              <a:pPr marL="0" indent="0" algn="ctr">
                <a:lnSpc>
                  <a:spcPts val="950"/>
                </a:lnSpc>
                <a:buNone/>
              </a:pPr>
              <a:r>
                <a:rPr lang="en-US" sz="900" dirty="0">
                  <a:solidFill>
                    <a:srgbClr val="67534F"/>
                  </a:solidFill>
                  <a:latin typeface="Montserrat" pitchFamily="34" charset="0"/>
                  <a:ea typeface="Montserrat" pitchFamily="34" charset="-122"/>
                  <a:cs typeface="Montserrat" pitchFamily="34" charset="-120"/>
                </a:rPr>
                <a:t>1,045 individuals with history of jaundice at birth</a:t>
              </a:r>
              <a:endParaRPr lang="en-US" sz="900" dirty="0"/>
            </a:p>
          </p:txBody>
        </p:sp>
        <p:sp>
          <p:nvSpPr>
            <p:cNvPr id="21" name="Text 16"/>
            <p:cNvSpPr/>
            <p:nvPr/>
          </p:nvSpPr>
          <p:spPr>
            <a:xfrm>
              <a:off x="5028367" y="5772745"/>
              <a:ext cx="1448514" cy="294323"/>
            </a:xfrm>
            <a:prstGeom prst="rect">
              <a:avLst/>
            </a:prstGeom>
            <a:noFill/>
            <a:ln/>
          </p:spPr>
          <p:txBody>
            <a:bodyPr wrap="none" lIns="0" tIns="0" rIns="0" bIns="0" rtlCol="0" anchor="t"/>
            <a:lstStyle/>
            <a:p>
              <a:pPr marL="0" indent="0" algn="ctr">
                <a:lnSpc>
                  <a:spcPts val="2300"/>
                </a:lnSpc>
                <a:buNone/>
              </a:pPr>
              <a:r>
                <a:rPr lang="en-US" sz="2300" dirty="0">
                  <a:solidFill>
                    <a:srgbClr val="67534F"/>
                  </a:solidFill>
                  <a:latin typeface="Marcellus" pitchFamily="34" charset="0"/>
                  <a:ea typeface="Marcellus" pitchFamily="34" charset="-122"/>
                  <a:cs typeface="Marcellus" pitchFamily="34" charset="-120"/>
                </a:rPr>
                <a:t>18.5%</a:t>
              </a:r>
              <a:endParaRPr lang="en-US" sz="2300" dirty="0"/>
            </a:p>
          </p:txBody>
        </p:sp>
        <p:pic>
          <p:nvPicPr>
            <p:cNvPr id="22" name="Image 3" descr="preencoded.png"/>
            <p:cNvPicPr>
              <a:picLocks noChangeAspect="1"/>
            </p:cNvPicPr>
            <p:nvPr/>
          </p:nvPicPr>
          <p:blipFill>
            <a:blip r:embed="rId6"/>
            <a:stretch>
              <a:fillRect/>
            </a:stretch>
          </p:blipFill>
          <p:spPr>
            <a:xfrm>
              <a:off x="4869418" y="5036701"/>
              <a:ext cx="1766530" cy="1766530"/>
            </a:xfrm>
            <a:prstGeom prst="rect">
              <a:avLst/>
            </a:prstGeom>
          </p:spPr>
        </p:pic>
        <p:sp>
          <p:nvSpPr>
            <p:cNvPr id="23" name="Text 17"/>
            <p:cNvSpPr/>
            <p:nvPr/>
          </p:nvSpPr>
          <p:spPr>
            <a:xfrm>
              <a:off x="4906208" y="6902410"/>
              <a:ext cx="1692950" cy="220028"/>
            </a:xfrm>
            <a:prstGeom prst="rect">
              <a:avLst/>
            </a:prstGeom>
            <a:noFill/>
            <a:ln/>
          </p:spPr>
          <p:txBody>
            <a:bodyPr wrap="none" lIns="0" tIns="0" rIns="0" bIns="0" rtlCol="0" anchor="t"/>
            <a:lstStyle/>
            <a:p>
              <a:pPr marL="0" indent="0" algn="ctr">
                <a:lnSpc>
                  <a:spcPts val="1700"/>
                </a:lnSpc>
                <a:buNone/>
              </a:pPr>
              <a:r>
                <a:rPr lang="en-US" sz="1300" dirty="0">
                  <a:solidFill>
                    <a:srgbClr val="67534F"/>
                  </a:solidFill>
                  <a:latin typeface="Marcellus" pitchFamily="34" charset="0"/>
                  <a:ea typeface="Marcellus" pitchFamily="34" charset="-122"/>
                  <a:cs typeface="Marcellus" pitchFamily="34" charset="-120"/>
                </a:rPr>
                <a:t>Family ASD History</a:t>
              </a:r>
              <a:endParaRPr lang="en-US" sz="1300" dirty="0"/>
            </a:p>
          </p:txBody>
        </p:sp>
        <p:sp>
          <p:nvSpPr>
            <p:cNvPr id="24" name="Text 18"/>
            <p:cNvSpPr/>
            <p:nvPr/>
          </p:nvSpPr>
          <p:spPr>
            <a:xfrm>
              <a:off x="4233863" y="7164348"/>
              <a:ext cx="3037642" cy="243840"/>
            </a:xfrm>
            <a:prstGeom prst="rect">
              <a:avLst/>
            </a:prstGeom>
            <a:noFill/>
            <a:ln/>
          </p:spPr>
          <p:txBody>
            <a:bodyPr wrap="square" lIns="0" tIns="0" rIns="0" bIns="0" rtlCol="0" anchor="t"/>
            <a:lstStyle/>
            <a:p>
              <a:pPr marL="0" indent="0" algn="ctr">
                <a:lnSpc>
                  <a:spcPts val="950"/>
                </a:lnSpc>
                <a:buNone/>
              </a:pPr>
              <a:r>
                <a:rPr lang="en-US" sz="900" dirty="0">
                  <a:solidFill>
                    <a:srgbClr val="67534F"/>
                  </a:solidFill>
                  <a:latin typeface="Montserrat" pitchFamily="34" charset="0"/>
                  <a:ea typeface="Montserrat" pitchFamily="34" charset="-122"/>
                  <a:cs typeface="Montserrat" pitchFamily="34" charset="-120"/>
                </a:rPr>
                <a:t>1,122 individuals with family history of autism spectrum disorder</a:t>
              </a:r>
              <a:endParaRPr lang="en-US" sz="900" dirty="0"/>
            </a:p>
          </p:txBody>
        </p:sp>
        <p:sp>
          <p:nvSpPr>
            <p:cNvPr id="25" name="Text 19"/>
            <p:cNvSpPr/>
            <p:nvPr/>
          </p:nvSpPr>
          <p:spPr>
            <a:xfrm>
              <a:off x="8153281" y="5772745"/>
              <a:ext cx="1448514" cy="294323"/>
            </a:xfrm>
            <a:prstGeom prst="rect">
              <a:avLst/>
            </a:prstGeom>
            <a:noFill/>
            <a:ln/>
          </p:spPr>
          <p:txBody>
            <a:bodyPr wrap="none" lIns="0" tIns="0" rIns="0" bIns="0" rtlCol="0" anchor="t"/>
            <a:lstStyle/>
            <a:p>
              <a:pPr marL="0" indent="0" algn="ctr">
                <a:lnSpc>
                  <a:spcPts val="2300"/>
                </a:lnSpc>
                <a:buNone/>
              </a:pPr>
              <a:r>
                <a:rPr lang="en-US" sz="2300" dirty="0">
                  <a:solidFill>
                    <a:srgbClr val="67534F"/>
                  </a:solidFill>
                  <a:latin typeface="Marcellus" pitchFamily="34" charset="0"/>
                  <a:ea typeface="Marcellus" pitchFamily="34" charset="-122"/>
                  <a:cs typeface="Marcellus" pitchFamily="34" charset="-120"/>
                </a:rPr>
                <a:t>4.4%</a:t>
              </a:r>
              <a:endParaRPr lang="en-US" sz="2300" dirty="0"/>
            </a:p>
          </p:txBody>
        </p:sp>
        <p:pic>
          <p:nvPicPr>
            <p:cNvPr id="26" name="Image 4" descr="preencoded.png"/>
            <p:cNvPicPr>
              <a:picLocks noChangeAspect="1"/>
            </p:cNvPicPr>
            <p:nvPr/>
          </p:nvPicPr>
          <p:blipFill>
            <a:blip r:embed="rId7"/>
            <a:stretch>
              <a:fillRect/>
            </a:stretch>
          </p:blipFill>
          <p:spPr>
            <a:xfrm>
              <a:off x="7994333" y="5036701"/>
              <a:ext cx="1766530" cy="1766530"/>
            </a:xfrm>
            <a:prstGeom prst="rect">
              <a:avLst/>
            </a:prstGeom>
          </p:spPr>
        </p:pic>
        <p:sp>
          <p:nvSpPr>
            <p:cNvPr id="27" name="Text 20"/>
            <p:cNvSpPr/>
            <p:nvPr/>
          </p:nvSpPr>
          <p:spPr>
            <a:xfrm>
              <a:off x="8031123" y="6902410"/>
              <a:ext cx="1692950" cy="220028"/>
            </a:xfrm>
            <a:prstGeom prst="rect">
              <a:avLst/>
            </a:prstGeom>
            <a:noFill/>
            <a:ln/>
          </p:spPr>
          <p:txBody>
            <a:bodyPr wrap="none" lIns="0" tIns="0" rIns="0" bIns="0" rtlCol="0" anchor="t"/>
            <a:lstStyle/>
            <a:p>
              <a:pPr marL="0" indent="0" algn="ctr">
                <a:lnSpc>
                  <a:spcPts val="1700"/>
                </a:lnSpc>
                <a:buNone/>
              </a:pPr>
              <a:r>
                <a:rPr lang="en-US" sz="1300" dirty="0">
                  <a:solidFill>
                    <a:srgbClr val="67534F"/>
                  </a:solidFill>
                  <a:latin typeface="Marcellus" pitchFamily="34" charset="0"/>
                  <a:ea typeface="Marcellus" pitchFamily="34" charset="-122"/>
                  <a:cs typeface="Marcellus" pitchFamily="34" charset="-120"/>
                </a:rPr>
                <a:t>High-Risk Background</a:t>
              </a:r>
              <a:endParaRPr lang="en-US" sz="1300" dirty="0"/>
            </a:p>
          </p:txBody>
        </p:sp>
        <p:sp>
          <p:nvSpPr>
            <p:cNvPr id="28" name="Text 21"/>
            <p:cNvSpPr/>
            <p:nvPr/>
          </p:nvSpPr>
          <p:spPr>
            <a:xfrm>
              <a:off x="7358777" y="7164348"/>
              <a:ext cx="3037642" cy="243840"/>
            </a:xfrm>
            <a:prstGeom prst="rect">
              <a:avLst/>
            </a:prstGeom>
            <a:noFill/>
            <a:ln/>
          </p:spPr>
          <p:txBody>
            <a:bodyPr wrap="square" lIns="0" tIns="0" rIns="0" bIns="0" rtlCol="0" anchor="t"/>
            <a:lstStyle/>
            <a:p>
              <a:pPr marL="0" indent="0" algn="ctr">
                <a:lnSpc>
                  <a:spcPts val="950"/>
                </a:lnSpc>
                <a:buNone/>
              </a:pPr>
              <a:r>
                <a:rPr lang="en-US" sz="900" dirty="0">
                  <a:solidFill>
                    <a:srgbClr val="67534F"/>
                  </a:solidFill>
                  <a:latin typeface="Montserrat" pitchFamily="34" charset="0"/>
                  <a:ea typeface="Montserrat" pitchFamily="34" charset="-122"/>
                  <a:cs typeface="Montserrat" pitchFamily="34" charset="-120"/>
                </a:rPr>
                <a:t>267 individuals with both jaundice and family ASD history</a:t>
              </a:r>
              <a:endParaRPr lang="en-US" sz="900" dirty="0"/>
            </a:p>
          </p:txBody>
        </p:sp>
        <p:sp>
          <p:nvSpPr>
            <p:cNvPr id="29" name="TextBox 28">
              <a:extLst>
                <a:ext uri="{FF2B5EF4-FFF2-40B4-BE49-F238E27FC236}">
                  <a16:creationId xmlns:a16="http://schemas.microsoft.com/office/drawing/2014/main" id="{7EB1F2CC-3E5F-47C4-9352-A8301560979B}"/>
                </a:ext>
              </a:extLst>
            </p:cNvPr>
            <p:cNvSpPr txBox="1"/>
            <p:nvPr/>
          </p:nvSpPr>
          <p:spPr>
            <a:xfrm>
              <a:off x="12801600" y="7670202"/>
              <a:ext cx="1721224" cy="559398"/>
            </a:xfrm>
            <a:prstGeom prst="rect">
              <a:avLst/>
            </a:prstGeom>
            <a:solidFill>
              <a:srgbClr val="FDFCF0"/>
            </a:solidFill>
          </p:spPr>
          <p:txBody>
            <a:bodyPr wrap="square" rtlCol="0">
              <a:spAutoFit/>
            </a:bodyPr>
            <a:lstStyle/>
            <a:p>
              <a:endParaRPr lang="en-IN"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1161931"/>
            <a:ext cx="7142798"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Medical Risk Factor Analysis</a:t>
            </a:r>
            <a:endParaRPr lang="en-US" sz="4450" dirty="0"/>
          </a:p>
        </p:txBody>
      </p:sp>
      <p:sp>
        <p:nvSpPr>
          <p:cNvPr id="4" name="Shape 1"/>
          <p:cNvSpPr/>
          <p:nvPr/>
        </p:nvSpPr>
        <p:spPr>
          <a:xfrm>
            <a:off x="793790" y="2201347"/>
            <a:ext cx="3679031" cy="1706285"/>
          </a:xfrm>
          <a:prstGeom prst="roundRect">
            <a:avLst>
              <a:gd name="adj" fmla="val 4885"/>
            </a:avLst>
          </a:prstGeom>
          <a:solidFill>
            <a:srgbClr val="FFFFF4"/>
          </a:solidFill>
          <a:ln w="22860">
            <a:solidFill>
              <a:srgbClr val="FFE0CC"/>
            </a:solidFill>
            <a:prstDash val="solid"/>
          </a:ln>
        </p:spPr>
      </p:sp>
      <p:sp>
        <p:nvSpPr>
          <p:cNvPr id="5" name="Text 2"/>
          <p:cNvSpPr/>
          <p:nvPr/>
        </p:nvSpPr>
        <p:spPr>
          <a:xfrm>
            <a:off x="1015008" y="2422565"/>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Jaundice History</a:t>
            </a:r>
            <a:endParaRPr lang="en-US" sz="2200" dirty="0"/>
          </a:p>
        </p:txBody>
      </p:sp>
      <p:sp>
        <p:nvSpPr>
          <p:cNvPr id="6" name="Text 3"/>
          <p:cNvSpPr/>
          <p:nvPr/>
        </p:nvSpPr>
        <p:spPr>
          <a:xfrm>
            <a:off x="1015008" y="2912388"/>
            <a:ext cx="3236595" cy="774025"/>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1,045 individuals (17.2% prevalence) with history of jaundice at birth</a:t>
            </a:r>
            <a:endParaRPr lang="en-US" sz="1550" dirty="0"/>
          </a:p>
        </p:txBody>
      </p:sp>
      <p:sp>
        <p:nvSpPr>
          <p:cNvPr id="7" name="Shape 4"/>
          <p:cNvSpPr/>
          <p:nvPr/>
        </p:nvSpPr>
        <p:spPr>
          <a:xfrm>
            <a:off x="4671179" y="2201347"/>
            <a:ext cx="3679031" cy="1706285"/>
          </a:xfrm>
          <a:prstGeom prst="roundRect">
            <a:avLst>
              <a:gd name="adj" fmla="val 4885"/>
            </a:avLst>
          </a:prstGeom>
          <a:solidFill>
            <a:srgbClr val="FFFFF4"/>
          </a:solidFill>
          <a:ln w="22860">
            <a:solidFill>
              <a:srgbClr val="FFE0CC"/>
            </a:solidFill>
            <a:prstDash val="solid"/>
          </a:ln>
        </p:spPr>
      </p:sp>
      <p:sp>
        <p:nvSpPr>
          <p:cNvPr id="8" name="Text 5"/>
          <p:cNvSpPr/>
          <p:nvPr/>
        </p:nvSpPr>
        <p:spPr>
          <a:xfrm>
            <a:off x="4892397" y="2422565"/>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Family ASD History</a:t>
            </a:r>
            <a:endParaRPr lang="en-US" sz="2200" dirty="0"/>
          </a:p>
        </p:txBody>
      </p:sp>
      <p:sp>
        <p:nvSpPr>
          <p:cNvPr id="9" name="Text 6"/>
          <p:cNvSpPr/>
          <p:nvPr/>
        </p:nvSpPr>
        <p:spPr>
          <a:xfrm>
            <a:off x="4892397" y="2912388"/>
            <a:ext cx="3236595" cy="774025"/>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1,122 individuals (18.5% prevalence) with family history of autism spectrum disorder</a:t>
            </a:r>
            <a:endParaRPr lang="en-US" sz="1550" dirty="0"/>
          </a:p>
        </p:txBody>
      </p:sp>
      <p:sp>
        <p:nvSpPr>
          <p:cNvPr id="10" name="Shape 7"/>
          <p:cNvSpPr/>
          <p:nvPr/>
        </p:nvSpPr>
        <p:spPr>
          <a:xfrm>
            <a:off x="793790" y="4105989"/>
            <a:ext cx="7556421" cy="1448276"/>
          </a:xfrm>
          <a:prstGeom prst="roundRect">
            <a:avLst>
              <a:gd name="adj" fmla="val 5756"/>
            </a:avLst>
          </a:prstGeom>
          <a:solidFill>
            <a:srgbClr val="FFFFF4"/>
          </a:solidFill>
          <a:ln w="22860">
            <a:solidFill>
              <a:srgbClr val="FFE0CC"/>
            </a:solidFill>
            <a:prstDash val="solid"/>
          </a:ln>
        </p:spPr>
      </p:sp>
      <p:sp>
        <p:nvSpPr>
          <p:cNvPr id="11" name="Text 8"/>
          <p:cNvSpPr/>
          <p:nvPr/>
        </p:nvSpPr>
        <p:spPr>
          <a:xfrm>
            <a:off x="1015008" y="4327208"/>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Combined High-Risk</a:t>
            </a:r>
            <a:endParaRPr lang="en-US" sz="2200" dirty="0"/>
          </a:p>
        </p:txBody>
      </p:sp>
      <p:sp>
        <p:nvSpPr>
          <p:cNvPr id="12" name="Text 9"/>
          <p:cNvSpPr/>
          <p:nvPr/>
        </p:nvSpPr>
        <p:spPr>
          <a:xfrm>
            <a:off x="1015008" y="4817031"/>
            <a:ext cx="7113984" cy="51601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267 individuals (4.4%) with both risk factors identified for cumulative risk assessment</a:t>
            </a:r>
            <a:endParaRPr lang="en-US" sz="1550" dirty="0"/>
          </a:p>
        </p:txBody>
      </p:sp>
      <p:sp>
        <p:nvSpPr>
          <p:cNvPr id="13" name="Text 10"/>
          <p:cNvSpPr/>
          <p:nvPr/>
        </p:nvSpPr>
        <p:spPr>
          <a:xfrm>
            <a:off x="793790" y="5777508"/>
            <a:ext cx="7556421" cy="1290042"/>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The analysis separated low-risk (5,808 individuals) from high-risk (267 individuals) populations for comparative analysis. This segmentation enables identification of demographic clusters showing distinct behavioral profiles and facilitates statistical testing of high-risk background effects on ASD presentation.</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50438" y="899993"/>
            <a:ext cx="7843123" cy="1215628"/>
          </a:xfrm>
          <a:prstGeom prst="rect">
            <a:avLst/>
          </a:prstGeom>
          <a:noFill/>
          <a:ln/>
        </p:spPr>
        <p:txBody>
          <a:bodyPr wrap="square" lIns="0" tIns="0" rIns="0" bIns="0" rtlCol="0" anchor="t"/>
          <a:lstStyle/>
          <a:p>
            <a:pPr marL="0" indent="0" algn="l">
              <a:lnSpc>
                <a:spcPts val="4750"/>
              </a:lnSpc>
              <a:buNone/>
            </a:pPr>
            <a:r>
              <a:rPr lang="en-US" sz="3650" dirty="0">
                <a:solidFill>
                  <a:srgbClr val="532418"/>
                </a:solidFill>
                <a:latin typeface="Marcellus" pitchFamily="34" charset="0"/>
                <a:ea typeface="Marcellus" pitchFamily="34" charset="-122"/>
                <a:cs typeface="Marcellus" pitchFamily="34" charset="-120"/>
              </a:rPr>
              <a:t>Next Steps: Exploratory Data Analysis Phase</a:t>
            </a:r>
            <a:endParaRPr lang="en-US" sz="3650" dirty="0"/>
          </a:p>
        </p:txBody>
      </p:sp>
      <p:pic>
        <p:nvPicPr>
          <p:cNvPr id="4" name="Image 1" descr="preencoded.png"/>
          <p:cNvPicPr>
            <a:picLocks noChangeAspect="1"/>
          </p:cNvPicPr>
          <p:nvPr/>
        </p:nvPicPr>
        <p:blipFill>
          <a:blip r:embed="rId4"/>
          <a:stretch>
            <a:fillRect/>
          </a:stretch>
        </p:blipFill>
        <p:spPr>
          <a:xfrm>
            <a:off x="650438" y="2315408"/>
            <a:ext cx="813078" cy="975717"/>
          </a:xfrm>
          <a:prstGeom prst="rect">
            <a:avLst/>
          </a:prstGeom>
        </p:spPr>
      </p:pic>
      <p:sp>
        <p:nvSpPr>
          <p:cNvPr id="5" name="Text 1"/>
          <p:cNvSpPr/>
          <p:nvPr/>
        </p:nvSpPr>
        <p:spPr>
          <a:xfrm>
            <a:off x="1596747" y="2477929"/>
            <a:ext cx="2337792" cy="303967"/>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Correlation Analysis</a:t>
            </a:r>
            <a:endParaRPr lang="en-US" sz="1800" dirty="0"/>
          </a:p>
        </p:txBody>
      </p:sp>
      <p:sp>
        <p:nvSpPr>
          <p:cNvPr id="6" name="Text 2"/>
          <p:cNvSpPr/>
          <p:nvPr/>
        </p:nvSpPr>
        <p:spPr>
          <a:xfrm>
            <a:off x="1596747" y="2861786"/>
            <a:ext cx="6896814" cy="192286"/>
          </a:xfrm>
          <a:prstGeom prst="rect">
            <a:avLst/>
          </a:prstGeom>
          <a:noFill/>
          <a:ln/>
        </p:spPr>
        <p:txBody>
          <a:bodyPr wrap="none" lIns="0" tIns="0" rIns="0" bIns="0" rtlCol="0" anchor="t"/>
          <a:lstStyle/>
          <a:p>
            <a:pPr marL="0" indent="0" algn="l">
              <a:lnSpc>
                <a:spcPts val="1500"/>
              </a:lnSpc>
              <a:buNone/>
            </a:pPr>
            <a:r>
              <a:rPr lang="en-US" sz="1250" dirty="0">
                <a:solidFill>
                  <a:srgbClr val="67534F"/>
                </a:solidFill>
                <a:latin typeface="Montserrat" pitchFamily="34" charset="0"/>
                <a:ea typeface="Montserrat" pitchFamily="34" charset="-122"/>
                <a:cs typeface="Montserrat" pitchFamily="34" charset="-120"/>
              </a:rPr>
              <a:t>Examine relationships between behavioral traits and ASD diagnosis</a:t>
            </a:r>
            <a:endParaRPr lang="en-US" sz="1250" dirty="0"/>
          </a:p>
        </p:txBody>
      </p:sp>
      <p:pic>
        <p:nvPicPr>
          <p:cNvPr id="7" name="Image 2" descr="preencoded.png"/>
          <p:cNvPicPr>
            <a:picLocks noChangeAspect="1"/>
          </p:cNvPicPr>
          <p:nvPr/>
        </p:nvPicPr>
        <p:blipFill>
          <a:blip r:embed="rId5"/>
          <a:stretch>
            <a:fillRect/>
          </a:stretch>
        </p:blipFill>
        <p:spPr>
          <a:xfrm>
            <a:off x="650438" y="3291126"/>
            <a:ext cx="813078" cy="975717"/>
          </a:xfrm>
          <a:prstGeom prst="rect">
            <a:avLst/>
          </a:prstGeom>
        </p:spPr>
      </p:pic>
      <p:sp>
        <p:nvSpPr>
          <p:cNvPr id="8" name="Text 3"/>
          <p:cNvSpPr/>
          <p:nvPr/>
        </p:nvSpPr>
        <p:spPr>
          <a:xfrm>
            <a:off x="1596747" y="3453646"/>
            <a:ext cx="2337792" cy="303967"/>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Cross-Tabulation</a:t>
            </a:r>
            <a:endParaRPr lang="en-US" sz="1800" dirty="0"/>
          </a:p>
        </p:txBody>
      </p:sp>
      <p:sp>
        <p:nvSpPr>
          <p:cNvPr id="9" name="Text 4"/>
          <p:cNvSpPr/>
          <p:nvPr/>
        </p:nvSpPr>
        <p:spPr>
          <a:xfrm>
            <a:off x="1596747" y="3837503"/>
            <a:ext cx="6896814" cy="192286"/>
          </a:xfrm>
          <a:prstGeom prst="rect">
            <a:avLst/>
          </a:prstGeom>
          <a:noFill/>
          <a:ln/>
        </p:spPr>
        <p:txBody>
          <a:bodyPr wrap="none" lIns="0" tIns="0" rIns="0" bIns="0" rtlCol="0" anchor="t"/>
          <a:lstStyle/>
          <a:p>
            <a:pPr marL="0" indent="0" algn="l">
              <a:lnSpc>
                <a:spcPts val="1500"/>
              </a:lnSpc>
              <a:buNone/>
            </a:pPr>
            <a:r>
              <a:rPr lang="en-US" sz="1250" dirty="0">
                <a:solidFill>
                  <a:srgbClr val="67534F"/>
                </a:solidFill>
                <a:latin typeface="Montserrat" pitchFamily="34" charset="0"/>
                <a:ea typeface="Montserrat" pitchFamily="34" charset="-122"/>
                <a:cs typeface="Montserrat" pitchFamily="34" charset="-120"/>
              </a:rPr>
              <a:t>Conduct demographic cross-tabulation and chi-square tests for independence</a:t>
            </a:r>
            <a:endParaRPr lang="en-US" sz="1250" dirty="0"/>
          </a:p>
        </p:txBody>
      </p:sp>
      <p:pic>
        <p:nvPicPr>
          <p:cNvPr id="10" name="Image 3" descr="preencoded.png"/>
          <p:cNvPicPr>
            <a:picLocks noChangeAspect="1"/>
          </p:cNvPicPr>
          <p:nvPr/>
        </p:nvPicPr>
        <p:blipFill>
          <a:blip r:embed="rId6"/>
          <a:stretch>
            <a:fillRect/>
          </a:stretch>
        </p:blipFill>
        <p:spPr>
          <a:xfrm>
            <a:off x="650438" y="4266843"/>
            <a:ext cx="813078" cy="975717"/>
          </a:xfrm>
          <a:prstGeom prst="rect">
            <a:avLst/>
          </a:prstGeom>
        </p:spPr>
      </p:pic>
      <p:sp>
        <p:nvSpPr>
          <p:cNvPr id="11" name="Text 5"/>
          <p:cNvSpPr/>
          <p:nvPr/>
        </p:nvSpPr>
        <p:spPr>
          <a:xfrm>
            <a:off x="1596747" y="4429363"/>
            <a:ext cx="2337792" cy="303967"/>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Distribution Analysis</a:t>
            </a:r>
            <a:endParaRPr lang="en-US" sz="1800" dirty="0"/>
          </a:p>
        </p:txBody>
      </p:sp>
      <p:sp>
        <p:nvSpPr>
          <p:cNvPr id="12" name="Text 6"/>
          <p:cNvSpPr/>
          <p:nvPr/>
        </p:nvSpPr>
        <p:spPr>
          <a:xfrm>
            <a:off x="1596747" y="4813221"/>
            <a:ext cx="6896814" cy="192286"/>
          </a:xfrm>
          <a:prstGeom prst="rect">
            <a:avLst/>
          </a:prstGeom>
          <a:noFill/>
          <a:ln/>
        </p:spPr>
        <p:txBody>
          <a:bodyPr wrap="none" lIns="0" tIns="0" rIns="0" bIns="0" rtlCol="0" anchor="t"/>
          <a:lstStyle/>
          <a:p>
            <a:pPr marL="0" indent="0" algn="l">
              <a:lnSpc>
                <a:spcPts val="1500"/>
              </a:lnSpc>
              <a:buNone/>
            </a:pPr>
            <a:r>
              <a:rPr lang="en-US" sz="1250" dirty="0">
                <a:solidFill>
                  <a:srgbClr val="67534F"/>
                </a:solidFill>
                <a:latin typeface="Montserrat" pitchFamily="34" charset="0"/>
                <a:ea typeface="Montserrat" pitchFamily="34" charset="-122"/>
                <a:cs typeface="Montserrat" pitchFamily="34" charset="-120"/>
              </a:rPr>
              <a:t>Analyze composite scores across demographic groups</a:t>
            </a:r>
            <a:endParaRPr lang="en-US" sz="1250" dirty="0"/>
          </a:p>
        </p:txBody>
      </p:sp>
      <p:pic>
        <p:nvPicPr>
          <p:cNvPr id="13" name="Image 4" descr="preencoded.png"/>
          <p:cNvPicPr>
            <a:picLocks noChangeAspect="1"/>
          </p:cNvPicPr>
          <p:nvPr/>
        </p:nvPicPr>
        <p:blipFill>
          <a:blip r:embed="rId7"/>
          <a:stretch>
            <a:fillRect/>
          </a:stretch>
        </p:blipFill>
        <p:spPr>
          <a:xfrm>
            <a:off x="650438" y="5242560"/>
            <a:ext cx="813078" cy="975717"/>
          </a:xfrm>
          <a:prstGeom prst="rect">
            <a:avLst/>
          </a:prstGeom>
        </p:spPr>
      </p:pic>
      <p:sp>
        <p:nvSpPr>
          <p:cNvPr id="14" name="Text 7"/>
          <p:cNvSpPr/>
          <p:nvPr/>
        </p:nvSpPr>
        <p:spPr>
          <a:xfrm>
            <a:off x="1596747" y="5405080"/>
            <a:ext cx="2337792" cy="303967"/>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Pattern Visualization</a:t>
            </a:r>
            <a:endParaRPr lang="en-US" sz="1800" dirty="0"/>
          </a:p>
        </p:txBody>
      </p:sp>
      <p:sp>
        <p:nvSpPr>
          <p:cNvPr id="15" name="Text 8"/>
          <p:cNvSpPr/>
          <p:nvPr/>
        </p:nvSpPr>
        <p:spPr>
          <a:xfrm>
            <a:off x="1596747" y="5788938"/>
            <a:ext cx="6896814" cy="192286"/>
          </a:xfrm>
          <a:prstGeom prst="rect">
            <a:avLst/>
          </a:prstGeom>
          <a:noFill/>
          <a:ln/>
        </p:spPr>
        <p:txBody>
          <a:bodyPr wrap="none" lIns="0" tIns="0" rIns="0" bIns="0" rtlCol="0" anchor="t"/>
          <a:lstStyle/>
          <a:p>
            <a:pPr marL="0" indent="0" algn="l">
              <a:lnSpc>
                <a:spcPts val="1500"/>
              </a:lnSpc>
              <a:buNone/>
            </a:pPr>
            <a:r>
              <a:rPr lang="en-US" sz="1250" dirty="0">
                <a:solidFill>
                  <a:srgbClr val="67534F"/>
                </a:solidFill>
                <a:latin typeface="Montserrat" pitchFamily="34" charset="0"/>
                <a:ea typeface="Montserrat" pitchFamily="34" charset="-122"/>
                <a:cs typeface="Montserrat" pitchFamily="34" charset="-120"/>
              </a:rPr>
              <a:t>Map behavioral patterns by gender, age group, and medical risk factors</a:t>
            </a:r>
            <a:endParaRPr lang="en-US" sz="1250" dirty="0"/>
          </a:p>
        </p:txBody>
      </p:sp>
      <p:sp>
        <p:nvSpPr>
          <p:cNvPr id="16" name="Text 9"/>
          <p:cNvSpPr/>
          <p:nvPr/>
        </p:nvSpPr>
        <p:spPr>
          <a:xfrm>
            <a:off x="650438" y="6368177"/>
            <a:ext cx="7843123" cy="961430"/>
          </a:xfrm>
          <a:prstGeom prst="rect">
            <a:avLst/>
          </a:prstGeom>
          <a:noFill/>
          <a:ln/>
        </p:spPr>
        <p:txBody>
          <a:bodyPr wrap="square" lIns="0" tIns="0" rIns="0" bIns="0" rtlCol="0" anchor="t"/>
          <a:lstStyle/>
          <a:p>
            <a:pPr marL="0" indent="0" algn="l">
              <a:lnSpc>
                <a:spcPts val="1500"/>
              </a:lnSpc>
              <a:buNone/>
            </a:pPr>
            <a:r>
              <a:rPr lang="en-US" sz="1250" dirty="0">
                <a:solidFill>
                  <a:srgbClr val="67534F"/>
                </a:solidFill>
                <a:latin typeface="Montserrat" pitchFamily="34" charset="0"/>
                <a:ea typeface="Montserrat" pitchFamily="34" charset="-122"/>
                <a:cs typeface="Montserrat" pitchFamily="34" charset="-120"/>
              </a:rPr>
              <a:t>These planned analyses will identify demographic clusters showing distinct behavioral profiles and enable statistical testing of high-risk background effects on ASD presentation. The composite scores serve as dimensional representations, facilitating demographic segmentation, risk stratification, and exploratory foundation for subsequent clustering analysis and visualization.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1218</Words>
  <Application>Microsoft Office PowerPoint</Application>
  <PresentationFormat>Custom</PresentationFormat>
  <Paragraphs>155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Marcellus</vt:lpstr>
      <vt:lpstr>Calibri</vt:lpstr>
      <vt:lpstr>Montserrat</vt:lpstr>
      <vt:lpstr>Arial</vt:lpstr>
      <vt:lpstr>Marcellus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Arnav Jain</cp:lastModifiedBy>
  <cp:revision>3</cp:revision>
  <dcterms:created xsi:type="dcterms:W3CDTF">2026-02-24T18:47:05Z</dcterms:created>
  <dcterms:modified xsi:type="dcterms:W3CDTF">2026-02-25T06:43:30Z</dcterms:modified>
</cp:coreProperties>
</file>